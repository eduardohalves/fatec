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304" r:id="rId4"/>
    <p:sldId id="280" r:id="rId5"/>
    <p:sldId id="279" r:id="rId6"/>
    <p:sldId id="283" r:id="rId7"/>
    <p:sldId id="282" r:id="rId8"/>
    <p:sldId id="284" r:id="rId9"/>
    <p:sldId id="291" r:id="rId10"/>
    <p:sldId id="290" r:id="rId11"/>
    <p:sldId id="292" r:id="rId12"/>
    <p:sldId id="293" r:id="rId13"/>
    <p:sldId id="294" r:id="rId14"/>
    <p:sldId id="285" r:id="rId15"/>
    <p:sldId id="286" r:id="rId16"/>
    <p:sldId id="287" r:id="rId17"/>
    <p:sldId id="288" r:id="rId18"/>
    <p:sldId id="289" r:id="rId19"/>
    <p:sldId id="295" r:id="rId20"/>
    <p:sldId id="296" r:id="rId21"/>
    <p:sldId id="297" r:id="rId22"/>
    <p:sldId id="299" r:id="rId23"/>
    <p:sldId id="298" r:id="rId24"/>
    <p:sldId id="301" r:id="rId25"/>
    <p:sldId id="300" r:id="rId26"/>
    <p:sldId id="302" r:id="rId27"/>
    <p:sldId id="303" r:id="rId28"/>
    <p:sldId id="306" r:id="rId29"/>
    <p:sldId id="281" r:id="rId3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1616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7534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2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5660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6539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260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305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9708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3858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819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1AA80-AA48-4AC1-BF1F-5043E12B8185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5451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matplotlib_intro.asp" TargetMode="External"/><Relationship Id="rId2" Type="http://schemas.openxmlformats.org/officeDocument/2006/relationships/hyperlink" Target="https://www.w3schools.com/python/python_file_handling.asp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lab.research.google.com/" TargetMode="External"/><Relationship Id="rId4" Type="http://schemas.openxmlformats.org/officeDocument/2006/relationships/hyperlink" Target="https://www.w3schools.com/python/python_mongodb_getstarted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Introdução Python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Baseado em https://www.w3schools.com/python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428802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Conteúdo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Ambiente </a:t>
            </a:r>
            <a:r>
              <a:rPr lang="pt-BR" dirty="0" err="1" smtClean="0"/>
              <a:t>Colab</a:t>
            </a:r>
            <a:endParaRPr lang="pt-BR" dirty="0" smtClean="0"/>
          </a:p>
          <a:p>
            <a:pPr marL="0" indent="0">
              <a:buNone/>
            </a:pPr>
            <a:r>
              <a:rPr lang="pt-BR" sz="5400" dirty="0"/>
              <a:t>https://</a:t>
            </a:r>
            <a:r>
              <a:rPr lang="pt-BR" sz="5400" dirty="0" smtClean="0"/>
              <a:t>colab.research.google.com</a:t>
            </a:r>
          </a:p>
          <a:p>
            <a:endParaRPr lang="pt-BR" dirty="0" smtClean="0"/>
          </a:p>
          <a:p>
            <a:r>
              <a:rPr lang="pt-BR" dirty="0" smtClean="0"/>
              <a:t>Python</a:t>
            </a:r>
          </a:p>
          <a:p>
            <a:r>
              <a:rPr lang="pt-BR" dirty="0" smtClean="0"/>
              <a:t>Biblioteca Pandas</a:t>
            </a:r>
          </a:p>
          <a:p>
            <a:r>
              <a:rPr lang="pt-BR" dirty="0" smtClean="0"/>
              <a:t>Biblioteca </a:t>
            </a:r>
            <a:r>
              <a:rPr lang="pt-BR" dirty="0" err="1" smtClean="0"/>
              <a:t>numpy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13641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Colab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https://colab.research.google.com</a:t>
            </a:r>
            <a:r>
              <a:rPr lang="pt-BR" dirty="0" smtClean="0">
                <a:hlinkClick r:id="rId2"/>
              </a:rPr>
              <a:t>/</a:t>
            </a:r>
            <a:r>
              <a:rPr lang="pt-BR" dirty="0" smtClean="0"/>
              <a:t> </a:t>
            </a:r>
            <a:endParaRPr lang="pt-BR" dirty="0"/>
          </a:p>
          <a:p>
            <a:r>
              <a:rPr lang="pt-BR" dirty="0" smtClean="0"/>
              <a:t>Serviço de nuvem gratuito do Google que permite escrever e executar código Python no navegador.</a:t>
            </a:r>
          </a:p>
          <a:p>
            <a:r>
              <a:rPr lang="pt-BR" dirty="0" smtClean="0"/>
              <a:t>Funciona como um </a:t>
            </a:r>
            <a:r>
              <a:rPr lang="pt-BR" dirty="0" err="1" smtClean="0"/>
              <a:t>Jupyter</a:t>
            </a:r>
            <a:r>
              <a:rPr lang="pt-BR" dirty="0" smtClean="0"/>
              <a:t> Notebook</a:t>
            </a:r>
          </a:p>
          <a:p>
            <a:r>
              <a:rPr lang="pt-BR" dirty="0" smtClean="0"/>
              <a:t>Oferece acesso a </a:t>
            </a:r>
            <a:r>
              <a:rPr lang="pt-BR" dirty="0" err="1" smtClean="0"/>
              <a:t>GPUs</a:t>
            </a:r>
            <a:r>
              <a:rPr lang="pt-BR" dirty="0" smtClean="0"/>
              <a:t> e </a:t>
            </a:r>
            <a:r>
              <a:rPr lang="pt-BR" dirty="0" err="1" smtClean="0"/>
              <a:t>TPUs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2790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Sintaxe do Python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Linguagem de script interpretada</a:t>
            </a:r>
          </a:p>
          <a:p>
            <a:r>
              <a:rPr lang="pt-BR" dirty="0" smtClean="0"/>
              <a:t>O final de cada comando é definido pelo final da linha (a menos que se utilize “\”)</a:t>
            </a:r>
          </a:p>
          <a:p>
            <a:r>
              <a:rPr lang="pt-BR" dirty="0" smtClean="0"/>
              <a:t>O escopo dos trechos de código é definido por </a:t>
            </a:r>
            <a:r>
              <a:rPr lang="pt-BR" dirty="0" err="1" smtClean="0"/>
              <a:t>identação</a:t>
            </a:r>
            <a:endParaRPr lang="pt-BR" dirty="0" smtClean="0"/>
          </a:p>
          <a:p>
            <a:r>
              <a:rPr lang="pt-BR" dirty="0" smtClean="0"/>
              <a:t>#: define comentário de linha</a:t>
            </a:r>
          </a:p>
          <a:p>
            <a:r>
              <a:rPr lang="pt-BR" dirty="0" smtClean="0"/>
              <a:t>‘’’ ... ‘’’: define comentário para blocos de código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5362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Sintaxe do Python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Tipos de dados definidos dinamicamente pelo interpretador em tempo de execução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</p:txBody>
      </p:sp>
      <p:sp>
        <p:nvSpPr>
          <p:cNvPr id="6" name="Retângulo 5"/>
          <p:cNvSpPr/>
          <p:nvPr/>
        </p:nvSpPr>
        <p:spPr>
          <a:xfrm>
            <a:off x="1593130" y="3604735"/>
            <a:ext cx="8323868" cy="132343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x 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t-BR" sz="2000" dirty="0">
                <a:solidFill>
                  <a:srgbClr val="6A9955"/>
                </a:solidFill>
                <a:latin typeface="Consolas" panose="020B0609020204030204" pitchFamily="49" charset="0"/>
              </a:rPr>
              <a:t># x é do tipo inteiro</a:t>
            </a:r>
            <a:endParaRPr lang="pt-BR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x 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"Olá"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t-BR" sz="2000" dirty="0">
                <a:solidFill>
                  <a:srgbClr val="6A9955"/>
                </a:solidFill>
                <a:latin typeface="Consolas" panose="020B0609020204030204" pitchFamily="49" charset="0"/>
              </a:rPr>
              <a:t># x agora é do tipo </a:t>
            </a:r>
            <a:r>
              <a:rPr lang="pt-BR" sz="2000" dirty="0" err="1">
                <a:solidFill>
                  <a:srgbClr val="6A9955"/>
                </a:solidFill>
                <a:latin typeface="Consolas" panose="020B0609020204030204" pitchFamily="49" charset="0"/>
              </a:rPr>
              <a:t>string</a:t>
            </a:r>
            <a:endParaRPr lang="pt-BR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6A9955"/>
                </a:solidFill>
                <a:latin typeface="Consolas" panose="020B0609020204030204" pitchFamily="49" charset="0"/>
              </a:rPr>
              <a:t>#x = x + 5  # Isso causaria um erro porque x é uma </a:t>
            </a:r>
            <a:r>
              <a:rPr lang="pt-BR" sz="2000" dirty="0" err="1">
                <a:solidFill>
                  <a:srgbClr val="6A9955"/>
                </a:solidFill>
                <a:latin typeface="Consolas" panose="020B0609020204030204" pitchFamily="49" charset="0"/>
              </a:rPr>
              <a:t>string</a:t>
            </a:r>
            <a:r>
              <a:rPr lang="pt-BR" sz="2000" dirty="0">
                <a:solidFill>
                  <a:srgbClr val="6A9955"/>
                </a:solidFill>
                <a:latin typeface="Consolas" panose="020B0609020204030204" pitchFamily="49" charset="0"/>
              </a:rPr>
              <a:t> e você está tentando somar uma </a:t>
            </a:r>
            <a:r>
              <a:rPr lang="pt-BR" sz="2000" dirty="0" err="1">
                <a:solidFill>
                  <a:srgbClr val="6A9955"/>
                </a:solidFill>
                <a:latin typeface="Consolas" panose="020B0609020204030204" pitchFamily="49" charset="0"/>
              </a:rPr>
              <a:t>string</a:t>
            </a:r>
            <a:r>
              <a:rPr lang="pt-BR" sz="2000" dirty="0">
                <a:solidFill>
                  <a:srgbClr val="6A9955"/>
                </a:solidFill>
                <a:latin typeface="Consolas" panose="020B0609020204030204" pitchFamily="49" charset="0"/>
              </a:rPr>
              <a:t> a um número</a:t>
            </a:r>
            <a:endParaRPr lang="pt-B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250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Casting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923827" y="2937059"/>
            <a:ext cx="4015818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   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x will be '3'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   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y will be 3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z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z will be 3.0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23827" y="4371658"/>
            <a:ext cx="4015818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"John"</a:t>
            </a:r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4EC9B0"/>
                </a:solidFill>
                <a:latin typeface="Consolas" panose="020B0609020204030204" pitchFamily="49" charset="0"/>
              </a:rPr>
              <a:t>type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4EC9B0"/>
                </a:solidFill>
                <a:latin typeface="Consolas" panose="020B0609020204030204" pitchFamily="49" charset="0"/>
              </a:rPr>
              <a:t>type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))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097" y="1162282"/>
            <a:ext cx="5870506" cy="4409705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9304256" y="3860389"/>
            <a:ext cx="1178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 smtClean="0"/>
              <a:t>True</a:t>
            </a:r>
            <a:r>
              <a:rPr lang="pt-BR" dirty="0" smtClean="0"/>
              <a:t>, False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244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</a:t>
            </a:r>
            <a:r>
              <a:rPr lang="pt-BR" dirty="0" err="1" smtClean="0"/>
              <a:t>string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8552"/>
          </a:xfrm>
        </p:spPr>
        <p:txBody>
          <a:bodyPr>
            <a:normAutofit/>
          </a:bodyPr>
          <a:lstStyle/>
          <a:p>
            <a:r>
              <a:rPr lang="pt-BR" dirty="0" smtClean="0"/>
              <a:t>Atribuição de </a:t>
            </a:r>
            <a:r>
              <a:rPr lang="pt-BR" dirty="0" err="1" smtClean="0"/>
              <a:t>string</a:t>
            </a:r>
            <a:r>
              <a:rPr lang="pt-BR" dirty="0" smtClean="0"/>
              <a:t> literais</a:t>
            </a:r>
          </a:p>
          <a:p>
            <a:endParaRPr lang="pt-BR" dirty="0"/>
          </a:p>
          <a:p>
            <a:endParaRPr lang="pt-BR" dirty="0" smtClean="0"/>
          </a:p>
          <a:p>
            <a:r>
              <a:rPr lang="pt-BR" dirty="0" smtClean="0"/>
              <a:t>Tamanho da </a:t>
            </a:r>
            <a:r>
              <a:rPr lang="pt-BR" dirty="0" err="1" smtClean="0"/>
              <a:t>string</a:t>
            </a:r>
            <a:endParaRPr lang="pt-BR" dirty="0" smtClean="0"/>
          </a:p>
          <a:p>
            <a:endParaRPr lang="pt-BR" dirty="0"/>
          </a:p>
          <a:p>
            <a:r>
              <a:rPr lang="pt-BR" dirty="0" err="1" smtClean="0"/>
              <a:t>String</a:t>
            </a:r>
            <a:r>
              <a:rPr lang="pt-BR" dirty="0" smtClean="0"/>
              <a:t> como matrizes</a:t>
            </a:r>
          </a:p>
          <a:p>
            <a:endParaRPr lang="pt-BR" dirty="0"/>
          </a:p>
          <a:p>
            <a:endParaRPr lang="pt-BR" dirty="0" smtClean="0"/>
          </a:p>
          <a:p>
            <a:r>
              <a:rPr lang="pt-BR" dirty="0" smtClean="0"/>
              <a:t>Verificar </a:t>
            </a:r>
            <a:r>
              <a:rPr lang="pt-BR" dirty="0" err="1" smtClean="0"/>
              <a:t>string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5257800" y="1905009"/>
            <a:ext cx="2736130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"John"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is the same as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'John'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452594" y="4429618"/>
            <a:ext cx="2890887" cy="14773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Hello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, World!"</a:t>
            </a:r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t-BR" dirty="0" smtClean="0">
                <a:solidFill>
                  <a:srgbClr val="CCCCCC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pt-BR" dirty="0" err="1" smtClean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t-BR" dirty="0" smtClean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 smtClean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pt-BR" dirty="0" smtClean="0">
                <a:solidFill>
                  <a:srgbClr val="CCCCCC"/>
                </a:solidFill>
                <a:latin typeface="Consolas" panose="020B0609020204030204" pitchFamily="49" charset="0"/>
              </a:rPr>
              <a:t>[2:5])</a:t>
            </a:r>
          </a:p>
          <a:p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pt-BR" dirty="0" smtClean="0">
                <a:solidFill>
                  <a:srgbClr val="CCCCCC"/>
                </a:solidFill>
                <a:latin typeface="Consolas" panose="020B0609020204030204" pitchFamily="49" charset="0"/>
              </a:rPr>
              <a:t>[: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5</a:t>
            </a:r>
            <a:r>
              <a:rPr lang="pt-BR" dirty="0" smtClean="0">
                <a:solidFill>
                  <a:srgbClr val="CCCCCC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pt-BR" dirty="0" err="1" smtClean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t-BR" dirty="0" smtClean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 smtClean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pt-BR" dirty="0" smtClean="0">
                <a:solidFill>
                  <a:srgbClr val="CCCCCC"/>
                </a:solidFill>
                <a:latin typeface="Consolas" panose="020B0609020204030204" pitchFamily="49" charset="0"/>
              </a:rPr>
              <a:t>[5:])</a:t>
            </a:r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4452594" y="3463463"/>
            <a:ext cx="1830950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len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(a))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3577865" y="5949771"/>
            <a:ext cx="6096000" cy="646331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txt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"The best things in life are free!"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"free"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txt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33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Funções auxiliares de </a:t>
            </a:r>
            <a:r>
              <a:rPr lang="pt-BR" dirty="0" err="1" smtClean="0"/>
              <a:t>string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8552"/>
          </a:xfrm>
        </p:spPr>
        <p:txBody>
          <a:bodyPr>
            <a:normAutofit/>
          </a:bodyPr>
          <a:lstStyle/>
          <a:p>
            <a:r>
              <a:rPr lang="pt-BR" dirty="0" err="1" smtClean="0"/>
              <a:t>Upper</a:t>
            </a:r>
            <a:r>
              <a:rPr lang="pt-BR" dirty="0"/>
              <a:t> </a:t>
            </a:r>
            <a:r>
              <a:rPr lang="pt-BR" dirty="0" err="1" smtClean="0"/>
              <a:t>and</a:t>
            </a:r>
            <a:r>
              <a:rPr lang="pt-BR" dirty="0" smtClean="0"/>
              <a:t> </a:t>
            </a:r>
            <a:r>
              <a:rPr lang="pt-BR" dirty="0" err="1" smtClean="0"/>
              <a:t>lower</a:t>
            </a:r>
            <a:r>
              <a:rPr lang="pt-BR" dirty="0" smtClean="0"/>
              <a:t> case</a:t>
            </a:r>
          </a:p>
          <a:p>
            <a:r>
              <a:rPr lang="pt-BR" dirty="0" err="1" smtClean="0"/>
              <a:t>Strip</a:t>
            </a:r>
            <a:endParaRPr lang="pt-BR" dirty="0" smtClean="0"/>
          </a:p>
          <a:p>
            <a:r>
              <a:rPr lang="pt-BR" dirty="0" err="1" smtClean="0"/>
              <a:t>Replace</a:t>
            </a:r>
            <a:endParaRPr lang="pt-BR" dirty="0" smtClean="0"/>
          </a:p>
          <a:p>
            <a:r>
              <a:rPr lang="pt-BR" dirty="0" err="1" smtClean="0"/>
              <a:t>split</a:t>
            </a:r>
            <a:endParaRPr lang="pt-BR" dirty="0"/>
          </a:p>
          <a:p>
            <a:r>
              <a:rPr lang="pt-BR" dirty="0" err="1" smtClean="0"/>
              <a:t>Contatenar</a:t>
            </a:r>
            <a:r>
              <a:rPr lang="pt-BR" dirty="0" smtClean="0"/>
              <a:t> (c = a + b)</a:t>
            </a:r>
          </a:p>
          <a:p>
            <a:r>
              <a:rPr lang="pt-BR" dirty="0" smtClean="0"/>
              <a:t>Formatar</a:t>
            </a:r>
          </a:p>
        </p:txBody>
      </p:sp>
      <p:sp>
        <p:nvSpPr>
          <p:cNvPr id="8" name="Retângulo 7"/>
          <p:cNvSpPr/>
          <p:nvPr/>
        </p:nvSpPr>
        <p:spPr>
          <a:xfrm>
            <a:off x="2746342" y="4456770"/>
            <a:ext cx="6096000" cy="923330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36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txt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f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"My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 name is John, I am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txt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15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Coleções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8552"/>
          </a:xfrm>
        </p:spPr>
        <p:txBody>
          <a:bodyPr>
            <a:normAutofit/>
          </a:bodyPr>
          <a:lstStyle/>
          <a:p>
            <a:endParaRPr lang="pt-BR" dirty="0" smtClean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259756"/>
              </p:ext>
            </p:extLst>
          </p:nvPr>
        </p:nvGraphicFramePr>
        <p:xfrm>
          <a:off x="838198" y="2482478"/>
          <a:ext cx="10515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19984582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1667025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5889077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018806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366460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TIPO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ORDENADO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MUTÁVEL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ITENS DUPLICADOS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SINTAXE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675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Listas e </a:t>
                      </a:r>
                      <a:r>
                        <a:rPr lang="pt-BR" sz="2400" dirty="0" err="1" smtClean="0"/>
                        <a:t>arrays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SIM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SIM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SIM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[ ]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545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err="1" smtClean="0"/>
                        <a:t>Tuples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SIM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NÃO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SIM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( )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20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smtClean="0"/>
                        <a:t>Sets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NÃO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NÃO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NÃO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{ }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468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err="1" smtClean="0"/>
                        <a:t>Dictionaries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SIM (V. &gt;3.7)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SIM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NÃO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{ ‘KEY’: ‘VALUE’}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955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1139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Listas e </a:t>
            </a:r>
            <a:r>
              <a:rPr lang="pt-BR" dirty="0" err="1" smtClean="0"/>
              <a:t>Arrays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8552"/>
          </a:xfrm>
        </p:spPr>
        <p:txBody>
          <a:bodyPr>
            <a:normAutofit/>
          </a:bodyPr>
          <a:lstStyle/>
          <a:p>
            <a:endParaRPr lang="pt-BR" dirty="0" smtClean="0"/>
          </a:p>
        </p:txBody>
      </p:sp>
      <p:sp>
        <p:nvSpPr>
          <p:cNvPr id="5" name="Retângulo 4"/>
          <p:cNvSpPr/>
          <p:nvPr/>
        </p:nvSpPr>
        <p:spPr>
          <a:xfrm>
            <a:off x="640237" y="1542241"/>
            <a:ext cx="6048866" cy="101566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cars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[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"Ford"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"Volvo"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"BMW"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cars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# Ford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392" y="2246002"/>
            <a:ext cx="7468642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43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Tuples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8552"/>
          </a:xfrm>
        </p:spPr>
        <p:txBody>
          <a:bodyPr>
            <a:normAutofit/>
          </a:bodyPr>
          <a:lstStyle/>
          <a:p>
            <a:r>
              <a:rPr lang="pt-BR" dirty="0" smtClean="0"/>
              <a:t>É uma coleção de itens ordenados, imutáveis e indexados (podem conter valores repetidos)</a:t>
            </a:r>
          </a:p>
        </p:txBody>
      </p:sp>
      <p:sp>
        <p:nvSpPr>
          <p:cNvPr id="4" name="Retângulo 3"/>
          <p:cNvSpPr/>
          <p:nvPr/>
        </p:nvSpPr>
        <p:spPr>
          <a:xfrm>
            <a:off x="2604940" y="2675104"/>
            <a:ext cx="6096000" cy="646331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dirty="0" err="1" smtClean="0">
                <a:solidFill>
                  <a:srgbClr val="9CDCFE"/>
                </a:solidFill>
                <a:latin typeface="Consolas" panose="020B0609020204030204" pitchFamily="49" charset="0"/>
              </a:rPr>
              <a:t>thistuple</a:t>
            </a:r>
            <a:r>
              <a:rPr lang="en-US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"apple"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"banana"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"cherry"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thistuple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342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Set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8552"/>
          </a:xfrm>
        </p:spPr>
        <p:txBody>
          <a:bodyPr>
            <a:normAutofit/>
          </a:bodyPr>
          <a:lstStyle/>
          <a:p>
            <a:r>
              <a:rPr lang="pt-BR" dirty="0" smtClean="0"/>
              <a:t>É uma coleção de itens desordenados, imutáveis (mas podem ser adicionados ou excluídos) e não indexados (sem duplicidade)</a:t>
            </a:r>
          </a:p>
        </p:txBody>
      </p:sp>
      <p:sp>
        <p:nvSpPr>
          <p:cNvPr id="5" name="Retângulo 4"/>
          <p:cNvSpPr/>
          <p:nvPr/>
        </p:nvSpPr>
        <p:spPr>
          <a:xfrm>
            <a:off x="2934878" y="3096409"/>
            <a:ext cx="6096000" cy="707886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thisset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"apple"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"banana"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"cherry"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thisset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932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Dictionaries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8552"/>
          </a:xfrm>
        </p:spPr>
        <p:txBody>
          <a:bodyPr>
            <a:normAutofit/>
          </a:bodyPr>
          <a:lstStyle/>
          <a:p>
            <a:r>
              <a:rPr lang="pt-BR" dirty="0" smtClean="0"/>
              <a:t>É uma coleção de itens ordenado, mutável e sem repetição de chave.</a:t>
            </a:r>
          </a:p>
        </p:txBody>
      </p:sp>
      <p:sp>
        <p:nvSpPr>
          <p:cNvPr id="6" name="Retângulo 5"/>
          <p:cNvSpPr/>
          <p:nvPr/>
        </p:nvSpPr>
        <p:spPr>
          <a:xfrm>
            <a:off x="2963159" y="3651152"/>
            <a:ext cx="6096000" cy="2308324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thisdict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 {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brand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"Ford"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model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Mustang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year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1964</a:t>
            </a:r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thisdict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# {'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brand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': 'Ford', '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model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': '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Mustang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', '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year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': 1964}</a:t>
            </a:r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thisdict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brand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]) 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# Ford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793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Operadores aritméticos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1913" y="1980631"/>
            <a:ext cx="8904396" cy="398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058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Operadores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De atribuição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936" y="456307"/>
            <a:ext cx="7573432" cy="640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87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Operadores booleanos e estruturas </a:t>
            </a:r>
            <a:r>
              <a:rPr lang="pt-BR" dirty="0" err="1" smtClean="0"/>
              <a:t>if</a:t>
            </a:r>
            <a:r>
              <a:rPr lang="pt-BR" dirty="0" smtClean="0"/>
              <a:t>...</a:t>
            </a:r>
            <a:r>
              <a:rPr lang="pt-BR" dirty="0" err="1" smtClean="0"/>
              <a:t>else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8552"/>
          </a:xfrm>
        </p:spPr>
        <p:txBody>
          <a:bodyPr>
            <a:normAutofit/>
          </a:bodyPr>
          <a:lstStyle/>
          <a:p>
            <a:r>
              <a:rPr lang="en-US" dirty="0"/>
              <a:t>Equals: a == b</a:t>
            </a:r>
          </a:p>
          <a:p>
            <a:r>
              <a:rPr lang="en-US" dirty="0"/>
              <a:t>Not Equals: a != b</a:t>
            </a:r>
          </a:p>
          <a:p>
            <a:r>
              <a:rPr lang="en-US" dirty="0"/>
              <a:t>Less than: a &lt; b</a:t>
            </a:r>
          </a:p>
          <a:p>
            <a:r>
              <a:rPr lang="en-US" dirty="0"/>
              <a:t>Less than or equal to: a &lt;= b</a:t>
            </a:r>
          </a:p>
          <a:p>
            <a:r>
              <a:rPr lang="en-US" dirty="0"/>
              <a:t>Greater than: a &gt; b</a:t>
            </a:r>
          </a:p>
          <a:p>
            <a:r>
              <a:rPr lang="en-US" dirty="0"/>
              <a:t>Greater than or equal to: a &gt;= </a:t>
            </a:r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4" name="Retângulo 3"/>
          <p:cNvSpPr/>
          <p:nvPr/>
        </p:nvSpPr>
        <p:spPr>
          <a:xfrm>
            <a:off x="6627043" y="1824036"/>
            <a:ext cx="4726757" cy="25545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B5CEA8"/>
                </a:solidFill>
                <a:latin typeface="Consolas" panose="020B0609020204030204" pitchFamily="49" charset="0"/>
              </a:rPr>
              <a:t>200</a:t>
            </a:r>
            <a:endParaRPr lang="en-US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B5CEA8"/>
                </a:solidFill>
                <a:latin typeface="Consolas" panose="020B0609020204030204" pitchFamily="49" charset="0"/>
              </a:rPr>
              <a:t>33</a:t>
            </a:r>
            <a:endParaRPr lang="en-US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&gt;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"b is greater than a"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 err="1">
                <a:solidFill>
                  <a:srgbClr val="C586C0"/>
                </a:solidFill>
                <a:latin typeface="Consolas" panose="020B0609020204030204" pitchFamily="49" charset="0"/>
              </a:rPr>
              <a:t>elif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"a and b are equal"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"a is greater than b"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051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Estruturas </a:t>
            </a:r>
            <a:r>
              <a:rPr lang="pt-BR" dirty="0" err="1" smtClean="0"/>
              <a:t>while</a:t>
            </a:r>
            <a:r>
              <a:rPr lang="pt-BR" dirty="0" smtClean="0"/>
              <a:t> e for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855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Retângulo 5"/>
          <p:cNvSpPr/>
          <p:nvPr/>
        </p:nvSpPr>
        <p:spPr>
          <a:xfrm>
            <a:off x="1087224" y="1927511"/>
            <a:ext cx="2362986" cy="19389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endParaRPr lang="pt-BR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000" dirty="0" err="1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B5CEA8"/>
                </a:solidFill>
                <a:latin typeface="Consolas" panose="020B0609020204030204" pitchFamily="49" charset="0"/>
              </a:rPr>
              <a:t>6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sz="20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sz="2000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sz="20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sz="2000" dirty="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endParaRPr lang="pt-BR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sz="2000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endParaRPr lang="pt-B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5517823" y="1927511"/>
            <a:ext cx="5756635" cy="467820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[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"apple"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"banana"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"cherry"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"banana"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4EC9B0"/>
                </a:solidFill>
                <a:latin typeface="Consolas" panose="020B0609020204030204" pitchFamily="49" charset="0"/>
              </a:rPr>
              <a:t>range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B5CEA8"/>
                </a:solidFill>
                <a:latin typeface="Consolas" panose="020B0609020204030204" pitchFamily="49" charset="0"/>
              </a:rPr>
              <a:t>6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4EC9B0"/>
                </a:solidFill>
                <a:latin typeface="Consolas" panose="020B0609020204030204" pitchFamily="49" charset="0"/>
              </a:rPr>
              <a:t>range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B5CEA8"/>
                </a:solidFill>
                <a:latin typeface="Consolas" panose="020B0609020204030204" pitchFamily="49" charset="0"/>
              </a:rPr>
              <a:t>6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4EC9B0"/>
                </a:solidFill>
                <a:latin typeface="Consolas" panose="020B0609020204030204" pitchFamily="49" charset="0"/>
              </a:rPr>
              <a:t>range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B5CEA8"/>
                </a:solidFill>
                <a:latin typeface="Consolas" panose="020B0609020204030204" pitchFamily="49" charset="0"/>
              </a:rPr>
              <a:t>30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56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Funções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8552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r>
              <a:rPr lang="en-US" dirty="0" err="1" smtClean="0"/>
              <a:t>Argumentos</a:t>
            </a:r>
            <a:endParaRPr lang="en-US" dirty="0"/>
          </a:p>
        </p:txBody>
      </p:sp>
      <p:sp>
        <p:nvSpPr>
          <p:cNvPr id="4" name="Retângulo 3"/>
          <p:cNvSpPr/>
          <p:nvPr/>
        </p:nvSpPr>
        <p:spPr>
          <a:xfrm>
            <a:off x="1046375" y="1653775"/>
            <a:ext cx="5049625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my_function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():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"Hello from a function"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my_function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3330804" y="3326200"/>
            <a:ext cx="6096000" cy="3416320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my_function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fname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lname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fname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 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lname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my_function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"Emil"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Refsnes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my_function2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child3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child2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child1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"Ana"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"The youngest child is 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child3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my_function2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child1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"Emil"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child2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"Tobias"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child3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"Linus"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740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PANDAS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 smtClean="0"/>
              <a:t>import</a:t>
            </a:r>
            <a:r>
              <a:rPr lang="pt-BR" dirty="0" smtClean="0"/>
              <a:t> pandas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337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Dados organizados em </a:t>
            </a:r>
            <a:r>
              <a:rPr lang="pt-BR" dirty="0" err="1" smtClean="0"/>
              <a:t>DataFrame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97104" y="1825625"/>
            <a:ext cx="5056695" cy="4351338"/>
          </a:xfrm>
        </p:spPr>
        <p:txBody>
          <a:bodyPr/>
          <a:lstStyle/>
          <a:p>
            <a:r>
              <a:rPr lang="pt-BR" dirty="0" smtClean="0"/>
              <a:t>Leitura de dados via arquivo: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err="1" smtClean="0"/>
              <a:t>df</a:t>
            </a:r>
            <a:r>
              <a:rPr lang="pt-BR" dirty="0" smtClean="0"/>
              <a:t> </a:t>
            </a:r>
            <a:r>
              <a:rPr lang="pt-BR" dirty="0"/>
              <a:t>= </a:t>
            </a:r>
            <a:r>
              <a:rPr lang="pt-BR" dirty="0" err="1"/>
              <a:t>pd.read_csv</a:t>
            </a:r>
            <a:r>
              <a:rPr lang="pt-BR" dirty="0"/>
              <a:t>('data.csv</a:t>
            </a:r>
            <a:r>
              <a:rPr lang="pt-BR" dirty="0" smtClean="0"/>
              <a:t>')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/>
              <a:t>df</a:t>
            </a:r>
            <a:r>
              <a:rPr lang="pt-BR" dirty="0"/>
              <a:t> = </a:t>
            </a:r>
            <a:r>
              <a:rPr lang="pt-BR" dirty="0" err="1"/>
              <a:t>pd.read_excel</a:t>
            </a:r>
            <a:r>
              <a:rPr lang="pt-BR" dirty="0"/>
              <a:t>(</a:t>
            </a:r>
            <a:r>
              <a:rPr lang="pt-BR" dirty="0" err="1"/>
              <a:t>caminho_arquivo</a:t>
            </a:r>
            <a:r>
              <a:rPr lang="pt-BR" dirty="0"/>
              <a:t>, header=1) # ignora a primeira linha, pois o cabeçalho está na segunda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838200" y="1825625"/>
            <a:ext cx="4804528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4EC9B0"/>
                </a:solidFill>
                <a:latin typeface="Consolas" panose="020B0609020204030204" pitchFamily="49" charset="0"/>
              </a:rPr>
              <a:t>pandas</a:t>
            </a:r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mydataset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cars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: [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"BMW"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"Volvo"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"Ford"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],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passings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: [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7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myvar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4EC9B0"/>
                </a:solidFill>
                <a:latin typeface="Consolas" panose="020B0609020204030204" pitchFamily="49" charset="0"/>
              </a:rPr>
              <a:t>pandas</a:t>
            </a:r>
            <a:r>
              <a:rPr lang="pt-BR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4EC9B0"/>
                </a:solidFill>
                <a:latin typeface="Consolas" panose="020B0609020204030204" pitchFamily="49" charset="0"/>
              </a:rPr>
              <a:t>DataFrame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mydataset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myvar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731262"/>
            <a:ext cx="3449157" cy="190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26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Limpando os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Remover linhas com células vazias: </a:t>
            </a:r>
            <a:r>
              <a:rPr lang="pt-BR" dirty="0" err="1"/>
              <a:t>df.dropna</a:t>
            </a:r>
            <a:r>
              <a:rPr lang="pt-BR" dirty="0" smtClean="0"/>
              <a:t>()</a:t>
            </a:r>
          </a:p>
          <a:p>
            <a:r>
              <a:rPr lang="pt-BR" dirty="0" smtClean="0"/>
              <a:t>Preencher células vazias: </a:t>
            </a:r>
          </a:p>
          <a:p>
            <a:pPr lvl="1"/>
            <a:r>
              <a:rPr lang="pt-BR" dirty="0" err="1" smtClean="0"/>
              <a:t>df.fillna</a:t>
            </a:r>
            <a:r>
              <a:rPr lang="pt-BR" dirty="0" smtClean="0"/>
              <a:t>(130</a:t>
            </a:r>
            <a:r>
              <a:rPr lang="pt-BR" dirty="0"/>
              <a:t>, </a:t>
            </a:r>
            <a:r>
              <a:rPr lang="pt-BR" dirty="0" err="1"/>
              <a:t>inplace</a:t>
            </a:r>
            <a:r>
              <a:rPr lang="pt-BR" dirty="0"/>
              <a:t> = </a:t>
            </a:r>
            <a:r>
              <a:rPr lang="pt-BR" dirty="0" err="1"/>
              <a:t>True</a:t>
            </a:r>
            <a:r>
              <a:rPr lang="pt-BR" dirty="0" smtClean="0"/>
              <a:t>)</a:t>
            </a:r>
          </a:p>
          <a:p>
            <a:pPr lvl="1"/>
            <a:r>
              <a:rPr lang="pt-BR" dirty="0" err="1"/>
              <a:t>df.fillna</a:t>
            </a:r>
            <a:r>
              <a:rPr lang="pt-BR" dirty="0"/>
              <a:t>({"</a:t>
            </a:r>
            <a:r>
              <a:rPr lang="pt-BR" dirty="0" err="1"/>
              <a:t>Calories</a:t>
            </a:r>
            <a:r>
              <a:rPr lang="pt-BR" dirty="0"/>
              <a:t>": 130}, </a:t>
            </a:r>
            <a:r>
              <a:rPr lang="pt-BR" dirty="0" err="1"/>
              <a:t>inplace</a:t>
            </a:r>
            <a:r>
              <a:rPr lang="pt-BR" dirty="0"/>
              <a:t>=</a:t>
            </a:r>
            <a:r>
              <a:rPr lang="pt-BR" dirty="0" err="1"/>
              <a:t>True</a:t>
            </a:r>
            <a:r>
              <a:rPr lang="pt-BR" dirty="0" smtClean="0"/>
              <a:t>)</a:t>
            </a:r>
          </a:p>
          <a:p>
            <a:r>
              <a:rPr lang="pt-BR" dirty="0" smtClean="0"/>
              <a:t>Removendo linhas duplas:</a:t>
            </a:r>
          </a:p>
          <a:p>
            <a:pPr lvl="1"/>
            <a:r>
              <a:rPr lang="pt-BR" dirty="0" err="1"/>
              <a:t>df.drop_duplicates</a:t>
            </a:r>
            <a:r>
              <a:rPr lang="pt-BR" dirty="0"/>
              <a:t>(</a:t>
            </a:r>
            <a:r>
              <a:rPr lang="pt-BR" dirty="0" err="1"/>
              <a:t>inplace</a:t>
            </a:r>
            <a:r>
              <a:rPr lang="pt-BR" dirty="0"/>
              <a:t> = </a:t>
            </a:r>
            <a:r>
              <a:rPr lang="pt-BR" dirty="0" err="1"/>
              <a:t>True</a:t>
            </a:r>
            <a:r>
              <a:rPr lang="pt-BR" dirty="0"/>
              <a:t>)</a:t>
            </a:r>
            <a:endParaRPr lang="pt-BR" dirty="0" smtClean="0"/>
          </a:p>
          <a:p>
            <a:r>
              <a:rPr lang="pt-BR" dirty="0" smtClean="0"/>
              <a:t>Removendo linhas:</a:t>
            </a:r>
          </a:p>
          <a:p>
            <a:pPr lvl="1"/>
            <a:r>
              <a:rPr lang="pt-BR" dirty="0" err="1" smtClean="0"/>
              <a:t>df.drop</a:t>
            </a:r>
            <a:r>
              <a:rPr lang="pt-BR" dirty="0" smtClean="0"/>
              <a:t>(index, </a:t>
            </a:r>
            <a:r>
              <a:rPr lang="pt-BR" dirty="0" err="1"/>
              <a:t>inplace</a:t>
            </a:r>
            <a:r>
              <a:rPr lang="pt-BR" dirty="0"/>
              <a:t> = </a:t>
            </a:r>
            <a:r>
              <a:rPr lang="pt-BR" dirty="0" err="1"/>
              <a:t>True</a:t>
            </a:r>
            <a:r>
              <a:rPr lang="pt-BR" dirty="0" smtClean="0"/>
              <a:t>)</a:t>
            </a:r>
          </a:p>
          <a:p>
            <a:r>
              <a:rPr lang="pt-BR" dirty="0" smtClean="0"/>
              <a:t>Removendo colunas:</a:t>
            </a:r>
          </a:p>
          <a:p>
            <a:pPr lvl="1"/>
            <a:r>
              <a:rPr lang="pt-BR" dirty="0" err="1"/>
              <a:t>df</a:t>
            </a:r>
            <a:r>
              <a:rPr lang="pt-BR" dirty="0"/>
              <a:t> = </a:t>
            </a:r>
            <a:r>
              <a:rPr lang="pt-BR" dirty="0" err="1"/>
              <a:t>df.drop</a:t>
            </a:r>
            <a:r>
              <a:rPr lang="pt-BR" dirty="0"/>
              <a:t>("Produto", </a:t>
            </a:r>
            <a:r>
              <a:rPr lang="pt-BR" dirty="0" err="1"/>
              <a:t>axis</a:t>
            </a:r>
            <a:r>
              <a:rPr lang="pt-BR" dirty="0"/>
              <a:t>='</a:t>
            </a:r>
            <a:r>
              <a:rPr lang="pt-BR" dirty="0" err="1"/>
              <a:t>columns</a:t>
            </a:r>
            <a:r>
              <a:rPr lang="pt-BR" dirty="0" smtClean="0"/>
              <a:t>')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3431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Manipulando e acessando a tabela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Criando colunas:</a:t>
            </a:r>
          </a:p>
          <a:p>
            <a:pPr lvl="1"/>
            <a:r>
              <a:rPr lang="pt-BR" dirty="0" err="1"/>
              <a:t>df.insert</a:t>
            </a:r>
            <a:r>
              <a:rPr lang="pt-BR" dirty="0"/>
              <a:t>(0, "Origem", </a:t>
            </a:r>
            <a:r>
              <a:rPr lang="pt-BR" dirty="0" smtClean="0"/>
              <a:t>[“Base1"] </a:t>
            </a:r>
            <a:r>
              <a:rPr lang="pt-BR" dirty="0"/>
              <a:t>* </a:t>
            </a:r>
            <a:r>
              <a:rPr lang="pt-BR" dirty="0" err="1"/>
              <a:t>len</a:t>
            </a:r>
            <a:r>
              <a:rPr lang="pt-BR" dirty="0"/>
              <a:t>(</a:t>
            </a:r>
            <a:r>
              <a:rPr lang="pt-BR" dirty="0" err="1"/>
              <a:t>df</a:t>
            </a:r>
            <a:r>
              <a:rPr lang="pt-BR" dirty="0" smtClean="0"/>
              <a:t>))</a:t>
            </a:r>
          </a:p>
          <a:p>
            <a:endParaRPr lang="pt-BR" dirty="0"/>
          </a:p>
          <a:p>
            <a:r>
              <a:rPr lang="pt-BR" dirty="0" smtClean="0"/>
              <a:t>Acessando itens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r>
              <a:rPr lang="pt-BR" dirty="0" smtClean="0"/>
              <a:t>Ordenando: </a:t>
            </a:r>
            <a:r>
              <a:rPr lang="pt-BR" dirty="0" err="1"/>
              <a:t>df</a:t>
            </a:r>
            <a:r>
              <a:rPr lang="pt-BR" dirty="0"/>
              <a:t> = </a:t>
            </a:r>
            <a:r>
              <a:rPr lang="pt-BR" dirty="0" err="1"/>
              <a:t>df.sort_values</a:t>
            </a:r>
            <a:r>
              <a:rPr lang="pt-BR" dirty="0"/>
              <a:t>(</a:t>
            </a:r>
            <a:r>
              <a:rPr lang="pt-BR" dirty="0" err="1"/>
              <a:t>by</a:t>
            </a:r>
            <a:r>
              <a:rPr lang="pt-BR" dirty="0" smtClean="0"/>
              <a:t>=[‘</a:t>
            </a:r>
            <a:r>
              <a:rPr lang="pt-BR" dirty="0"/>
              <a:t>Col. </a:t>
            </a:r>
            <a:r>
              <a:rPr lang="pt-BR" dirty="0" smtClean="0"/>
              <a:t>A', ‘</a:t>
            </a:r>
            <a:r>
              <a:rPr lang="pt-BR" dirty="0"/>
              <a:t>Col. </a:t>
            </a:r>
            <a:r>
              <a:rPr lang="pt-BR" dirty="0" smtClean="0"/>
              <a:t>B', ‘Col. C'])</a:t>
            </a:r>
            <a:endParaRPr lang="pt-BR" dirty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3406219" y="3822273"/>
            <a:ext cx="6096000" cy="646331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index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loc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'COLUNA A'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])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11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Estatísticas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Média: </a:t>
            </a:r>
            <a:r>
              <a:rPr lang="pt-BR" dirty="0"/>
              <a:t>x = </a:t>
            </a:r>
            <a:r>
              <a:rPr lang="pt-BR" dirty="0" err="1"/>
              <a:t>df</a:t>
            </a:r>
            <a:r>
              <a:rPr lang="pt-BR" dirty="0"/>
              <a:t>["</a:t>
            </a:r>
            <a:r>
              <a:rPr lang="pt-BR" dirty="0" err="1"/>
              <a:t>Calories</a:t>
            </a:r>
            <a:r>
              <a:rPr lang="pt-BR" dirty="0"/>
              <a:t>"].</a:t>
            </a:r>
            <a:r>
              <a:rPr lang="pt-BR" dirty="0" err="1"/>
              <a:t>mean</a:t>
            </a:r>
            <a:r>
              <a:rPr lang="pt-BR" dirty="0"/>
              <a:t>()</a:t>
            </a:r>
            <a:endParaRPr lang="pt-BR" dirty="0" smtClean="0"/>
          </a:p>
          <a:p>
            <a:r>
              <a:rPr lang="pt-BR" dirty="0" smtClean="0"/>
              <a:t>Moda: </a:t>
            </a:r>
            <a:r>
              <a:rPr lang="fr-FR" dirty="0"/>
              <a:t>x = df["Calories"].mode()[0]</a:t>
            </a:r>
            <a:endParaRPr lang="pt-BR" dirty="0" smtClean="0"/>
          </a:p>
          <a:p>
            <a:r>
              <a:rPr lang="pt-BR" dirty="0" smtClean="0"/>
              <a:t>Mediana: </a:t>
            </a:r>
            <a:r>
              <a:rPr lang="pt-BR" dirty="0"/>
              <a:t>x = </a:t>
            </a:r>
            <a:r>
              <a:rPr lang="pt-BR" dirty="0" err="1"/>
              <a:t>df</a:t>
            </a:r>
            <a:r>
              <a:rPr lang="pt-BR" dirty="0"/>
              <a:t>["</a:t>
            </a:r>
            <a:r>
              <a:rPr lang="pt-BR" dirty="0" err="1"/>
              <a:t>Calories</a:t>
            </a:r>
            <a:r>
              <a:rPr lang="pt-BR" dirty="0"/>
              <a:t>"].</a:t>
            </a:r>
            <a:r>
              <a:rPr lang="pt-BR" dirty="0" err="1"/>
              <a:t>median</a:t>
            </a:r>
            <a:r>
              <a:rPr lang="pt-BR" dirty="0"/>
              <a:t>()</a:t>
            </a:r>
            <a:endParaRPr lang="pt-BR" dirty="0" smtClean="0"/>
          </a:p>
          <a:p>
            <a:r>
              <a:rPr lang="pt-BR" dirty="0" smtClean="0"/>
              <a:t>Correlação: </a:t>
            </a:r>
            <a:r>
              <a:rPr lang="pt-BR" dirty="0" err="1"/>
              <a:t>df.corr</a:t>
            </a:r>
            <a:r>
              <a:rPr lang="pt-BR" dirty="0"/>
              <a:t>()</a:t>
            </a:r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6701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numpy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Manipulação </a:t>
            </a:r>
            <a:r>
              <a:rPr lang="pt-BR" smtClean="0"/>
              <a:t>de </a:t>
            </a:r>
            <a:r>
              <a:rPr lang="pt-BR" smtClean="0"/>
              <a:t>matrizes</a:t>
            </a:r>
            <a:r>
              <a:rPr lang="pt-BR" dirty="0" smtClean="0"/>
              <a:t>, operações de álgebra linear e transformações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6198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Arrays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Vetor</a:t>
            </a:r>
          </a:p>
          <a:p>
            <a:endParaRPr lang="pt-BR" dirty="0"/>
          </a:p>
          <a:p>
            <a:endParaRPr lang="pt-BR" dirty="0" smtClean="0"/>
          </a:p>
          <a:p>
            <a:r>
              <a:rPr lang="pt-BR" dirty="0" err="1" smtClean="0"/>
              <a:t>Array</a:t>
            </a:r>
            <a:r>
              <a:rPr lang="pt-BR" dirty="0" smtClean="0"/>
              <a:t> 3D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642648" y="1907912"/>
            <a:ext cx="4851662" cy="14773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51" y="4144967"/>
            <a:ext cx="1888916" cy="2200680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838199" y="4142140"/>
            <a:ext cx="8456629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([[[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], 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]], [[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], 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]]])</a:t>
            </a: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])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98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Arrays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Conversão</a:t>
            </a:r>
            <a:r>
              <a:rPr lang="en-US" dirty="0" smtClean="0"/>
              <a:t> de </a:t>
            </a:r>
            <a:r>
              <a:rPr lang="en-US" dirty="0" err="1" smtClean="0"/>
              <a:t>tipos</a:t>
            </a:r>
            <a:endParaRPr lang="en-US" dirty="0" smtClean="0"/>
          </a:p>
          <a:p>
            <a:pPr lvl="1"/>
            <a:r>
              <a:rPr lang="en-US" dirty="0" err="1" smtClean="0"/>
              <a:t>arr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np.array</a:t>
            </a:r>
            <a:r>
              <a:rPr lang="en-US" dirty="0"/>
              <a:t>([1, 0, 3</a:t>
            </a:r>
            <a:r>
              <a:rPr lang="en-US" dirty="0" smtClean="0"/>
              <a:t>])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newarr</a:t>
            </a:r>
            <a:r>
              <a:rPr lang="en-US" dirty="0"/>
              <a:t> = </a:t>
            </a:r>
            <a:r>
              <a:rPr lang="en-US" dirty="0" err="1"/>
              <a:t>arr.astype</a:t>
            </a:r>
            <a:r>
              <a:rPr lang="en-US" dirty="0"/>
              <a:t>(bool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Formato</a:t>
            </a:r>
            <a:endParaRPr lang="pt-BR" dirty="0" smtClean="0"/>
          </a:p>
          <a:p>
            <a:pPr lvl="1"/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([[1, 2, 3, 4], [5, 6, 7, 8]])</a:t>
            </a:r>
          </a:p>
          <a:p>
            <a:pPr lvl="1"/>
            <a:r>
              <a:rPr lang="en-US" dirty="0" smtClean="0"/>
              <a:t>print(</a:t>
            </a:r>
            <a:r>
              <a:rPr lang="en-US" dirty="0" err="1" smtClean="0"/>
              <a:t>arr.shape</a:t>
            </a:r>
            <a:r>
              <a:rPr lang="en-US" dirty="0" smtClean="0"/>
              <a:t>)</a:t>
            </a:r>
          </a:p>
          <a:p>
            <a:r>
              <a:rPr lang="en-US" dirty="0" smtClean="0"/>
              <a:t>Reshape: </a:t>
            </a:r>
          </a:p>
          <a:p>
            <a:pPr lvl="1"/>
            <a:r>
              <a:rPr lang="pt-BR" dirty="0" err="1"/>
              <a:t>arr</a:t>
            </a:r>
            <a:r>
              <a:rPr lang="pt-BR" dirty="0"/>
              <a:t> = </a:t>
            </a:r>
            <a:r>
              <a:rPr lang="pt-BR" dirty="0" err="1"/>
              <a:t>np.array</a:t>
            </a:r>
            <a:r>
              <a:rPr lang="pt-BR" dirty="0"/>
              <a:t>([1, 2, 3, 4, 5, 6, 7, 8, 9, 10, 11, 12])</a:t>
            </a:r>
            <a:br>
              <a:rPr lang="pt-BR" dirty="0"/>
            </a:br>
            <a:r>
              <a:rPr lang="pt-BR" dirty="0" err="1" smtClean="0"/>
              <a:t>newarr</a:t>
            </a:r>
            <a:r>
              <a:rPr lang="pt-BR" dirty="0" smtClean="0"/>
              <a:t> </a:t>
            </a:r>
            <a:r>
              <a:rPr lang="pt-BR" dirty="0"/>
              <a:t>= </a:t>
            </a:r>
            <a:r>
              <a:rPr lang="pt-BR" dirty="0" err="1"/>
              <a:t>arr.reshape</a:t>
            </a:r>
            <a:r>
              <a:rPr lang="pt-BR" dirty="0"/>
              <a:t>(4, 3)</a:t>
            </a:r>
          </a:p>
          <a:p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574225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Funções auxiliares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Geração</a:t>
            </a:r>
            <a:r>
              <a:rPr lang="en-US" dirty="0" smtClean="0"/>
              <a:t> de </a:t>
            </a:r>
            <a:r>
              <a:rPr lang="en-US" dirty="0" err="1" smtClean="0"/>
              <a:t>número</a:t>
            </a:r>
            <a:r>
              <a:rPr lang="en-US" dirty="0" smtClean="0"/>
              <a:t> pseudo-</a:t>
            </a:r>
            <a:r>
              <a:rPr lang="en-US" dirty="0" err="1" smtClean="0"/>
              <a:t>aleatórios</a:t>
            </a:r>
            <a:r>
              <a:rPr lang="en-US" dirty="0" smtClean="0"/>
              <a:t>: </a:t>
            </a:r>
            <a:r>
              <a:rPr lang="en-US" dirty="0" err="1" smtClean="0"/>
              <a:t>uniforme</a:t>
            </a:r>
            <a:r>
              <a:rPr lang="en-US" dirty="0" smtClean="0"/>
              <a:t>, normal, binomial, </a:t>
            </a:r>
            <a:r>
              <a:rPr lang="en-US" dirty="0" err="1" smtClean="0"/>
              <a:t>poisson</a:t>
            </a:r>
            <a:r>
              <a:rPr lang="en-US" dirty="0" smtClean="0"/>
              <a:t>, logistic, etc…</a:t>
            </a:r>
          </a:p>
          <a:p>
            <a:r>
              <a:rPr lang="en-US" dirty="0" err="1" smtClean="0"/>
              <a:t>Operadores</a:t>
            </a:r>
            <a:r>
              <a:rPr lang="en-US" dirty="0" smtClean="0"/>
              <a:t> </a:t>
            </a:r>
            <a:r>
              <a:rPr lang="en-US" dirty="0" err="1" smtClean="0"/>
              <a:t>aritméticos</a:t>
            </a:r>
            <a:r>
              <a:rPr lang="en-US" dirty="0" smtClean="0"/>
              <a:t> (</a:t>
            </a:r>
            <a:r>
              <a:rPr lang="en-US" dirty="0" err="1" smtClean="0"/>
              <a:t>elemento</a:t>
            </a:r>
            <a:r>
              <a:rPr lang="en-US" dirty="0" smtClean="0"/>
              <a:t> a </a:t>
            </a:r>
            <a:r>
              <a:rPr lang="en-US" dirty="0" err="1" smtClean="0"/>
              <a:t>elemento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+, -, *, /</a:t>
            </a:r>
          </a:p>
          <a:p>
            <a:pPr lvl="1"/>
            <a:r>
              <a:rPr lang="en-US" dirty="0" smtClean="0"/>
              <a:t>Add() e </a:t>
            </a:r>
            <a:r>
              <a:rPr lang="en-US" dirty="0" err="1" smtClean="0"/>
              <a:t>Substract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/>
              <a:t>Multiply() e Division()</a:t>
            </a:r>
          </a:p>
          <a:p>
            <a:pPr lvl="1"/>
            <a:r>
              <a:rPr lang="en-US" dirty="0" smtClean="0"/>
              <a:t>Power()</a:t>
            </a:r>
          </a:p>
          <a:p>
            <a:pPr lvl="1"/>
            <a:r>
              <a:rPr lang="en-US" dirty="0" smtClean="0"/>
              <a:t>Sum e </a:t>
            </a:r>
            <a:r>
              <a:rPr lang="en-US" dirty="0" err="1" smtClean="0"/>
              <a:t>Cumsum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/>
              <a:t>Prod() e </a:t>
            </a:r>
            <a:r>
              <a:rPr lang="en-US" dirty="0" err="1" smtClean="0"/>
              <a:t>cumprod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Matrizes</a:t>
            </a:r>
            <a:r>
              <a:rPr lang="en-US" dirty="0" smtClean="0"/>
              <a:t>: dot(), cross(), </a:t>
            </a:r>
            <a:r>
              <a:rPr lang="en-US" dirty="0" err="1" smtClean="0"/>
              <a:t>inv</a:t>
            </a:r>
            <a:r>
              <a:rPr lang="en-US" dirty="0" smtClean="0"/>
              <a:t>(), T</a:t>
            </a:r>
          </a:p>
          <a:p>
            <a:r>
              <a:rPr lang="en-US" dirty="0" err="1" smtClean="0"/>
              <a:t>Arrendodamentos</a:t>
            </a:r>
            <a:endParaRPr lang="en-US" dirty="0" smtClean="0"/>
          </a:p>
          <a:p>
            <a:endParaRPr lang="en-US" dirty="0" smtClean="0"/>
          </a:p>
          <a:p>
            <a:endParaRPr lang="pt-BR" dirty="0" smtClean="0"/>
          </a:p>
          <a:p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20809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r>
              <a:rPr lang="pt-BR" dirty="0" smtClean="0"/>
              <a:t>Função para cálculo de raiz quadrada: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713" y="1944972"/>
            <a:ext cx="10066573" cy="2056322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64850" y="5345966"/>
            <a:ext cx="602280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err="1" smtClean="0">
                <a:ln>
                  <a:noFill/>
                </a:ln>
                <a:solidFill>
                  <a:srgbClr val="9334E6"/>
                </a:solidFill>
                <a:effectLst/>
                <a:latin typeface="Arial Unicode MS"/>
              </a:rPr>
              <a:t>import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</a:t>
            </a:r>
            <a:r>
              <a:rPr kumimoji="0" lang="pt-BR" altLang="pt-BR" sz="2400" b="0" i="0" u="none" strike="noStrike" cap="none" normalizeH="0" baseline="0" dirty="0" err="1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math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resultado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= </a:t>
            </a:r>
            <a:r>
              <a:rPr kumimoji="0" lang="pt-BR" altLang="pt-BR" sz="24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math.sqrt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(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16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) 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 Unicode MS"/>
              </a:rPr>
              <a:t># resultado 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 Unicode MS"/>
                <a:sym typeface="Wingdings" panose="05000000000000000000" pitchFamily="2" charset="2"/>
              </a:rPr>
              <a:t> 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 Unicode MS"/>
              </a:rPr>
              <a:t>4</a:t>
            </a:r>
            <a:endParaRPr kumimoji="0" lang="pt-BR" altLang="pt-BR" sz="4800" b="0" i="0" u="none" strike="noStrike" cap="none" normalizeH="0" baseline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913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Referências adicionais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Manipulação de arquivos:</a:t>
            </a:r>
          </a:p>
          <a:p>
            <a:pPr lvl="1"/>
            <a:r>
              <a:rPr lang="pt-BR" dirty="0">
                <a:hlinkClick r:id="rId2"/>
              </a:rPr>
              <a:t>https://</a:t>
            </a:r>
            <a:r>
              <a:rPr lang="pt-BR" dirty="0" smtClean="0">
                <a:hlinkClick r:id="rId2"/>
              </a:rPr>
              <a:t>www.w3schools.com/python/python_file_handling.asp</a:t>
            </a:r>
            <a:r>
              <a:rPr lang="pt-BR" dirty="0" smtClean="0"/>
              <a:t> </a:t>
            </a:r>
            <a:endParaRPr lang="pt-BR" dirty="0"/>
          </a:p>
          <a:p>
            <a:r>
              <a:rPr lang="pt-BR" dirty="0" err="1" smtClean="0"/>
              <a:t>Matplotlib</a:t>
            </a:r>
            <a:r>
              <a:rPr lang="pt-BR" dirty="0" smtClean="0"/>
              <a:t>: </a:t>
            </a:r>
          </a:p>
          <a:p>
            <a:pPr lvl="1"/>
            <a:r>
              <a:rPr lang="pt-BR" dirty="0">
                <a:hlinkClick r:id="rId3"/>
              </a:rPr>
              <a:t>https://</a:t>
            </a:r>
            <a:r>
              <a:rPr lang="pt-BR" dirty="0" smtClean="0">
                <a:hlinkClick r:id="rId3"/>
              </a:rPr>
              <a:t>www.w3schools.com/python/matplotlib_intro.asp</a:t>
            </a:r>
            <a:r>
              <a:rPr lang="pt-BR" dirty="0" smtClean="0"/>
              <a:t> </a:t>
            </a:r>
            <a:endParaRPr lang="pt-BR" dirty="0"/>
          </a:p>
          <a:p>
            <a:r>
              <a:rPr lang="pt-BR" dirty="0" err="1" smtClean="0"/>
              <a:t>MongoDB</a:t>
            </a:r>
            <a:r>
              <a:rPr lang="pt-BR" dirty="0"/>
              <a:t>: </a:t>
            </a:r>
            <a:endParaRPr lang="pt-BR" dirty="0" smtClean="0"/>
          </a:p>
          <a:p>
            <a:pPr lvl="1"/>
            <a:r>
              <a:rPr lang="pt-BR" dirty="0" smtClean="0">
                <a:hlinkClick r:id="rId4"/>
              </a:rPr>
              <a:t>https</a:t>
            </a:r>
            <a:r>
              <a:rPr lang="pt-BR" dirty="0">
                <a:hlinkClick r:id="rId4"/>
              </a:rPr>
              <a:t>://</a:t>
            </a:r>
            <a:r>
              <a:rPr lang="pt-BR" dirty="0" smtClean="0">
                <a:hlinkClick r:id="rId4"/>
              </a:rPr>
              <a:t>www.w3schools.com/python/python_mongodb_getstarted.asp</a:t>
            </a:r>
            <a:r>
              <a:rPr lang="pt-BR" dirty="0" smtClean="0"/>
              <a:t> </a:t>
            </a:r>
          </a:p>
          <a:p>
            <a:r>
              <a:rPr lang="pt-BR" dirty="0" smtClean="0"/>
              <a:t>Google </a:t>
            </a:r>
            <a:r>
              <a:rPr lang="pt-BR" dirty="0" err="1" smtClean="0"/>
              <a:t>Colab</a:t>
            </a:r>
            <a:endParaRPr lang="pt-BR" dirty="0" smtClean="0"/>
          </a:p>
          <a:p>
            <a:pPr lvl="1"/>
            <a:r>
              <a:rPr lang="pt-BR" dirty="0">
                <a:hlinkClick r:id="rId5"/>
              </a:rPr>
              <a:t>https://colab.research.google.com</a:t>
            </a:r>
            <a:r>
              <a:rPr lang="pt-BR" dirty="0" smtClean="0">
                <a:hlinkClick r:id="rId5"/>
              </a:rPr>
              <a:t>/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248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086838258D66E4AB5189C9A3CE00C2C" ma:contentTypeVersion="0" ma:contentTypeDescription="Crie um novo documento." ma:contentTypeScope="" ma:versionID="51efb8b4498e4d9da3883d6679cf1d2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EC1F6E1-A5A6-4564-9467-01171D7FD870}"/>
</file>

<file path=customXml/itemProps2.xml><?xml version="1.0" encoding="utf-8"?>
<ds:datastoreItem xmlns:ds="http://schemas.openxmlformats.org/officeDocument/2006/customXml" ds:itemID="{A9AF4E62-AE46-4A6E-BA77-67419530BB96}"/>
</file>

<file path=customXml/itemProps3.xml><?xml version="1.0" encoding="utf-8"?>
<ds:datastoreItem xmlns:ds="http://schemas.openxmlformats.org/officeDocument/2006/customXml" ds:itemID="{C11C3C4F-C090-4976-AE80-410665CF6145}"/>
</file>

<file path=docProps/app.xml><?xml version="1.0" encoding="utf-8"?>
<Properties xmlns="http://schemas.openxmlformats.org/officeDocument/2006/extended-properties" xmlns:vt="http://schemas.openxmlformats.org/officeDocument/2006/docPropsVTypes">
  <TotalTime>4210</TotalTime>
  <Words>770</Words>
  <Application>Microsoft Office PowerPoint</Application>
  <PresentationFormat>Widescreen</PresentationFormat>
  <Paragraphs>261</Paragraphs>
  <Slides>29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6" baseType="lpstr">
      <vt:lpstr>Arial</vt:lpstr>
      <vt:lpstr>Arial Unicode MS</vt:lpstr>
      <vt:lpstr>Calibri</vt:lpstr>
      <vt:lpstr>Calibri Light</vt:lpstr>
      <vt:lpstr>Consolas</vt:lpstr>
      <vt:lpstr>Wingdings</vt:lpstr>
      <vt:lpstr>Tema do Office</vt:lpstr>
      <vt:lpstr>Introdução Python</vt:lpstr>
      <vt:lpstr>Conteúdo</vt:lpstr>
      <vt:lpstr>Colab</vt:lpstr>
      <vt:lpstr>Sintaxe do Python</vt:lpstr>
      <vt:lpstr>Sintaxe do Python</vt:lpstr>
      <vt:lpstr>Tipos de dados</vt:lpstr>
      <vt:lpstr>Tipos string</vt:lpstr>
      <vt:lpstr>Funções auxiliares de string</vt:lpstr>
      <vt:lpstr>Coleções</vt:lpstr>
      <vt:lpstr>Listas e Arrays</vt:lpstr>
      <vt:lpstr>Tuples</vt:lpstr>
      <vt:lpstr>Set</vt:lpstr>
      <vt:lpstr>Dictionaries</vt:lpstr>
      <vt:lpstr>Operadores aritméticos</vt:lpstr>
      <vt:lpstr>Operadores</vt:lpstr>
      <vt:lpstr>Operadores booleanos e estruturas if...else</vt:lpstr>
      <vt:lpstr>Estruturas while e for</vt:lpstr>
      <vt:lpstr>Funções</vt:lpstr>
      <vt:lpstr>PANDAS</vt:lpstr>
      <vt:lpstr>Dados organizados em DataFrame</vt:lpstr>
      <vt:lpstr>Limpando os dados</vt:lpstr>
      <vt:lpstr>Manipulando e acessando a tabela</vt:lpstr>
      <vt:lpstr>Estatísticas</vt:lpstr>
      <vt:lpstr>numpy</vt:lpstr>
      <vt:lpstr>Arrays</vt:lpstr>
      <vt:lpstr>Arrays</vt:lpstr>
      <vt:lpstr>Funções auxiliares</vt:lpstr>
      <vt:lpstr>Exercício</vt:lpstr>
      <vt:lpstr>Referências adicionais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Usuario</cp:lastModifiedBy>
  <cp:revision>83</cp:revision>
  <dcterms:created xsi:type="dcterms:W3CDTF">2025-05-19T21:00:10Z</dcterms:created>
  <dcterms:modified xsi:type="dcterms:W3CDTF">2026-08-04T19:17:04Z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0x0101000086838258D66E4AB5189C9A3CE00C2C</vt:lpwstr>
  </property>
</Properties>
</file>