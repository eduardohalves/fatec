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slides/slide29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28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90" r:id="rId5"/>
    <p:sldId id="308" r:id="rId6"/>
    <p:sldId id="310" r:id="rId7"/>
    <p:sldId id="313" r:id="rId8"/>
    <p:sldId id="309" r:id="rId9"/>
    <p:sldId id="261" r:id="rId10"/>
    <p:sldId id="262" r:id="rId11"/>
    <p:sldId id="263" r:id="rId12"/>
    <p:sldId id="264" r:id="rId13"/>
    <p:sldId id="267" r:id="rId14"/>
    <p:sldId id="268" r:id="rId15"/>
    <p:sldId id="269" r:id="rId16"/>
    <p:sldId id="270" r:id="rId17"/>
    <p:sldId id="271" r:id="rId18"/>
    <p:sldId id="265" r:id="rId19"/>
    <p:sldId id="266" r:id="rId20"/>
    <p:sldId id="275" r:id="rId21"/>
    <p:sldId id="311" r:id="rId22"/>
    <p:sldId id="272" r:id="rId23"/>
    <p:sldId id="273" r:id="rId24"/>
    <p:sldId id="292" r:id="rId25"/>
    <p:sldId id="293" r:id="rId26"/>
    <p:sldId id="312" r:id="rId27"/>
    <p:sldId id="299" r:id="rId28"/>
    <p:sldId id="314" r:id="rId29"/>
    <p:sldId id="298" r:id="rId30"/>
    <p:sldId id="315" r:id="rId31"/>
    <p:sldId id="297" r:id="rId32"/>
    <p:sldId id="295" r:id="rId33"/>
    <p:sldId id="296" r:id="rId34"/>
    <p:sldId id="300" r:id="rId35"/>
    <p:sldId id="301" r:id="rId36"/>
    <p:sldId id="302" r:id="rId37"/>
    <p:sldId id="294" r:id="rId38"/>
    <p:sldId id="303" r:id="rId39"/>
    <p:sldId id="304" r:id="rId40"/>
    <p:sldId id="305" r:id="rId41"/>
    <p:sldId id="306" r:id="rId42"/>
    <p:sldId id="307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13D4DC-3777-43F4-9E18-03893E63AD93}" type="doc">
      <dgm:prSet loTypeId="urn:microsoft.com/office/officeart/2005/8/layout/venn2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pt-BR"/>
        </a:p>
      </dgm:t>
    </dgm:pt>
    <dgm:pt modelId="{DF8CE99E-32CB-4EB7-9317-738D898B8278}">
      <dgm:prSet phldrT="[Texto]"/>
      <dgm:spPr/>
      <dgm:t>
        <a:bodyPr/>
        <a:lstStyle/>
        <a:p>
          <a:r>
            <a:rPr lang="pt-BR" dirty="0" smtClean="0"/>
            <a:t>Inteligência Artificial</a:t>
          </a:r>
          <a:endParaRPr lang="pt-BR" dirty="0"/>
        </a:p>
      </dgm:t>
    </dgm:pt>
    <dgm:pt modelId="{E105B53D-E35F-4D52-914C-CFA3B7749AB8}" type="parTrans" cxnId="{31C7914E-BE91-48FB-919F-E4B6D49A4D2E}">
      <dgm:prSet/>
      <dgm:spPr/>
      <dgm:t>
        <a:bodyPr/>
        <a:lstStyle/>
        <a:p>
          <a:endParaRPr lang="pt-BR"/>
        </a:p>
      </dgm:t>
    </dgm:pt>
    <dgm:pt modelId="{409DAA3D-98E7-45F7-9351-7C44EA2615A3}" type="sibTrans" cxnId="{31C7914E-BE91-48FB-919F-E4B6D49A4D2E}">
      <dgm:prSet/>
      <dgm:spPr/>
      <dgm:t>
        <a:bodyPr/>
        <a:lstStyle/>
        <a:p>
          <a:endParaRPr lang="pt-BR"/>
        </a:p>
      </dgm:t>
    </dgm:pt>
    <dgm:pt modelId="{87CE15A8-80B4-4FDF-95A1-3134EB82C06F}">
      <dgm:prSet phldrT="[Texto]"/>
      <dgm:spPr/>
      <dgm:t>
        <a:bodyPr/>
        <a:lstStyle/>
        <a:p>
          <a:r>
            <a:rPr lang="pt-BR" dirty="0" smtClean="0"/>
            <a:t>Aprendizado de Máquina</a:t>
          </a:r>
          <a:endParaRPr lang="pt-BR" dirty="0"/>
        </a:p>
      </dgm:t>
    </dgm:pt>
    <dgm:pt modelId="{6CA09BF3-BB94-44B2-A5CD-48A4700BF6DC}" type="parTrans" cxnId="{7F9D2988-5BFD-43BA-884C-06722FD550DC}">
      <dgm:prSet/>
      <dgm:spPr/>
      <dgm:t>
        <a:bodyPr/>
        <a:lstStyle/>
        <a:p>
          <a:endParaRPr lang="pt-BR"/>
        </a:p>
      </dgm:t>
    </dgm:pt>
    <dgm:pt modelId="{8181A9B8-3D16-4D3D-A888-A496CBFC520E}" type="sibTrans" cxnId="{7F9D2988-5BFD-43BA-884C-06722FD550DC}">
      <dgm:prSet/>
      <dgm:spPr/>
      <dgm:t>
        <a:bodyPr/>
        <a:lstStyle/>
        <a:p>
          <a:endParaRPr lang="pt-BR"/>
        </a:p>
      </dgm:t>
    </dgm:pt>
    <dgm:pt modelId="{5087CDA9-DDA1-497B-947C-C0B634E940C9}" type="pres">
      <dgm:prSet presAssocID="{F913D4DC-3777-43F4-9E18-03893E63AD93}" presName="Name0" presStyleCnt="0">
        <dgm:presLayoutVars>
          <dgm:chMax val="7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72164B85-D45B-40D7-ACD5-B81F9A798854}" type="pres">
      <dgm:prSet presAssocID="{F913D4DC-3777-43F4-9E18-03893E63AD93}" presName="comp1" presStyleCnt="0"/>
      <dgm:spPr/>
    </dgm:pt>
    <dgm:pt modelId="{DDF55BC6-08DA-4D07-8636-8AACADB11A19}" type="pres">
      <dgm:prSet presAssocID="{F913D4DC-3777-43F4-9E18-03893E63AD93}" presName="circle1" presStyleLbl="node1" presStyleIdx="0" presStyleCnt="2"/>
      <dgm:spPr/>
      <dgm:t>
        <a:bodyPr/>
        <a:lstStyle/>
        <a:p>
          <a:endParaRPr lang="pt-BR"/>
        </a:p>
      </dgm:t>
    </dgm:pt>
    <dgm:pt modelId="{F66C570B-E462-4752-A62D-B2E37A796898}" type="pres">
      <dgm:prSet presAssocID="{F913D4DC-3777-43F4-9E18-03893E63AD93}" presName="c1text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D5ABDC8-C84C-4D35-B42D-F41DAC9CAA33}" type="pres">
      <dgm:prSet presAssocID="{F913D4DC-3777-43F4-9E18-03893E63AD93}" presName="comp2" presStyleCnt="0"/>
      <dgm:spPr/>
    </dgm:pt>
    <dgm:pt modelId="{403C3903-2A2A-415C-B698-C859B6814F82}" type="pres">
      <dgm:prSet presAssocID="{F913D4DC-3777-43F4-9E18-03893E63AD93}" presName="circle2" presStyleLbl="node1" presStyleIdx="1" presStyleCnt="2"/>
      <dgm:spPr/>
      <dgm:t>
        <a:bodyPr/>
        <a:lstStyle/>
        <a:p>
          <a:endParaRPr lang="pt-BR"/>
        </a:p>
      </dgm:t>
    </dgm:pt>
    <dgm:pt modelId="{09C88A8E-ED79-4197-8297-F26E44CC3A9E}" type="pres">
      <dgm:prSet presAssocID="{F913D4DC-3777-43F4-9E18-03893E63AD93}" presName="c2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31C7914E-BE91-48FB-919F-E4B6D49A4D2E}" srcId="{F913D4DC-3777-43F4-9E18-03893E63AD93}" destId="{DF8CE99E-32CB-4EB7-9317-738D898B8278}" srcOrd="0" destOrd="0" parTransId="{E105B53D-E35F-4D52-914C-CFA3B7749AB8}" sibTransId="{409DAA3D-98E7-45F7-9351-7C44EA2615A3}"/>
    <dgm:cxn modelId="{4E0CF59C-723F-4928-9040-8FFC41FA9B88}" type="presOf" srcId="{DF8CE99E-32CB-4EB7-9317-738D898B8278}" destId="{F66C570B-E462-4752-A62D-B2E37A796898}" srcOrd="1" destOrd="0" presId="urn:microsoft.com/office/officeart/2005/8/layout/venn2"/>
    <dgm:cxn modelId="{7F9D2988-5BFD-43BA-884C-06722FD550DC}" srcId="{F913D4DC-3777-43F4-9E18-03893E63AD93}" destId="{87CE15A8-80B4-4FDF-95A1-3134EB82C06F}" srcOrd="1" destOrd="0" parTransId="{6CA09BF3-BB94-44B2-A5CD-48A4700BF6DC}" sibTransId="{8181A9B8-3D16-4D3D-A888-A496CBFC520E}"/>
    <dgm:cxn modelId="{7EC77B61-BDF6-4778-9B30-798D26EB256E}" type="presOf" srcId="{F913D4DC-3777-43F4-9E18-03893E63AD93}" destId="{5087CDA9-DDA1-497B-947C-C0B634E940C9}" srcOrd="0" destOrd="0" presId="urn:microsoft.com/office/officeart/2005/8/layout/venn2"/>
    <dgm:cxn modelId="{47E74859-6A77-4D44-B0FB-E90ADD3794E6}" type="presOf" srcId="{DF8CE99E-32CB-4EB7-9317-738D898B8278}" destId="{DDF55BC6-08DA-4D07-8636-8AACADB11A19}" srcOrd="0" destOrd="0" presId="urn:microsoft.com/office/officeart/2005/8/layout/venn2"/>
    <dgm:cxn modelId="{56EC429F-CB0B-4B05-B554-810E469182AD}" type="presOf" srcId="{87CE15A8-80B4-4FDF-95A1-3134EB82C06F}" destId="{403C3903-2A2A-415C-B698-C859B6814F82}" srcOrd="0" destOrd="0" presId="urn:microsoft.com/office/officeart/2005/8/layout/venn2"/>
    <dgm:cxn modelId="{FF23E02D-FF8C-4F59-A456-E94E5E4A81DF}" type="presOf" srcId="{87CE15A8-80B4-4FDF-95A1-3134EB82C06F}" destId="{09C88A8E-ED79-4197-8297-F26E44CC3A9E}" srcOrd="1" destOrd="0" presId="urn:microsoft.com/office/officeart/2005/8/layout/venn2"/>
    <dgm:cxn modelId="{40DD8492-CCB8-4BB8-BB1B-100B10D846FE}" type="presParOf" srcId="{5087CDA9-DDA1-497B-947C-C0B634E940C9}" destId="{72164B85-D45B-40D7-ACD5-B81F9A798854}" srcOrd="0" destOrd="0" presId="urn:microsoft.com/office/officeart/2005/8/layout/venn2"/>
    <dgm:cxn modelId="{2D01DD56-9079-4FD3-967E-72499054EDC6}" type="presParOf" srcId="{72164B85-D45B-40D7-ACD5-B81F9A798854}" destId="{DDF55BC6-08DA-4D07-8636-8AACADB11A19}" srcOrd="0" destOrd="0" presId="urn:microsoft.com/office/officeart/2005/8/layout/venn2"/>
    <dgm:cxn modelId="{F14A30EF-3365-49EC-B8E7-C4ABCF09A40B}" type="presParOf" srcId="{72164B85-D45B-40D7-ACD5-B81F9A798854}" destId="{F66C570B-E462-4752-A62D-B2E37A796898}" srcOrd="1" destOrd="0" presId="urn:microsoft.com/office/officeart/2005/8/layout/venn2"/>
    <dgm:cxn modelId="{948A6A9A-02C8-4809-AEB5-04EC4C808A44}" type="presParOf" srcId="{5087CDA9-DDA1-497B-947C-C0B634E940C9}" destId="{BD5ABDC8-C84C-4D35-B42D-F41DAC9CAA33}" srcOrd="1" destOrd="0" presId="urn:microsoft.com/office/officeart/2005/8/layout/venn2"/>
    <dgm:cxn modelId="{E5AFF72A-CD80-4EEB-A591-E357967DCC43}" type="presParOf" srcId="{BD5ABDC8-C84C-4D35-B42D-F41DAC9CAA33}" destId="{403C3903-2A2A-415C-B698-C859B6814F82}" srcOrd="0" destOrd="0" presId="urn:microsoft.com/office/officeart/2005/8/layout/venn2"/>
    <dgm:cxn modelId="{B02192F4-4AFF-4ED5-AE32-1AF5D1CF10ED}" type="presParOf" srcId="{BD5ABDC8-C84C-4D35-B42D-F41DAC9CAA33}" destId="{09C88A8E-ED79-4197-8297-F26E44CC3A9E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F55BC6-08DA-4D07-8636-8AACADB11A19}">
      <dsp:nvSpPr>
        <dsp:cNvPr id="0" name=""/>
        <dsp:cNvSpPr/>
      </dsp:nvSpPr>
      <dsp:spPr>
        <a:xfrm>
          <a:off x="21168" y="0"/>
          <a:ext cx="4351338" cy="435133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/>
            <a:t>Inteligência Artificial</a:t>
          </a:r>
          <a:endParaRPr lang="pt-BR" sz="1900" kern="1200" dirty="0"/>
        </a:p>
      </dsp:txBody>
      <dsp:txXfrm>
        <a:off x="1054611" y="326350"/>
        <a:ext cx="2284452" cy="739727"/>
      </dsp:txXfrm>
    </dsp:sp>
    <dsp:sp modelId="{403C3903-2A2A-415C-B698-C859B6814F82}">
      <dsp:nvSpPr>
        <dsp:cNvPr id="0" name=""/>
        <dsp:cNvSpPr/>
      </dsp:nvSpPr>
      <dsp:spPr>
        <a:xfrm>
          <a:off x="565086" y="1087834"/>
          <a:ext cx="3263503" cy="3263503"/>
        </a:xfrm>
        <a:prstGeom prst="ellipse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/>
            <a:t>Aprendizado de Máquina</a:t>
          </a:r>
          <a:endParaRPr lang="pt-BR" sz="1900" kern="1200" dirty="0"/>
        </a:p>
      </dsp:txBody>
      <dsp:txXfrm>
        <a:off x="1043015" y="1903710"/>
        <a:ext cx="2307645" cy="16317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1616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534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2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66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539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260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30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70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385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19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451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www.youtube.com/watch?v=WXuK6gekU1Y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google.com/machine-learning/crash-course/linear-regression/parameters-exercise?hl=pt-br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APRENDIZAGEM DE MÁQUINA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MAQ-04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802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MAQ-024 – APRENDIZAGEM DE MÁQUINA - PRESENCIAL - 80 Aulas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Ementa: </a:t>
            </a:r>
            <a:endParaRPr lang="pt-BR" dirty="0" smtClean="0"/>
          </a:p>
          <a:p>
            <a:pPr lvl="1"/>
            <a:r>
              <a:rPr lang="pt-BR" dirty="0" smtClean="0"/>
              <a:t>O </a:t>
            </a:r>
            <a:r>
              <a:rPr lang="pt-BR" dirty="0"/>
              <a:t>que é aprendizagem de máquina. </a:t>
            </a:r>
            <a:endParaRPr lang="pt-BR" dirty="0" smtClean="0"/>
          </a:p>
          <a:p>
            <a:pPr lvl="1"/>
            <a:r>
              <a:rPr lang="pt-BR" dirty="0" smtClean="0"/>
              <a:t>Redes </a:t>
            </a:r>
            <a:r>
              <a:rPr lang="pt-BR" dirty="0"/>
              <a:t>Neurais. </a:t>
            </a:r>
            <a:endParaRPr lang="pt-BR" dirty="0" smtClean="0"/>
          </a:p>
          <a:p>
            <a:pPr lvl="1"/>
            <a:r>
              <a:rPr lang="pt-BR" dirty="0" smtClean="0"/>
              <a:t>Métodos </a:t>
            </a:r>
            <a:r>
              <a:rPr lang="pt-BR" dirty="0"/>
              <a:t>probabilísticos. </a:t>
            </a:r>
            <a:endParaRPr lang="pt-BR" dirty="0" smtClean="0"/>
          </a:p>
          <a:p>
            <a:pPr lvl="1"/>
            <a:r>
              <a:rPr lang="pt-BR" dirty="0" smtClean="0"/>
              <a:t>Tarefas </a:t>
            </a:r>
            <a:r>
              <a:rPr lang="pt-BR" dirty="0"/>
              <a:t>de aprendizagem. </a:t>
            </a:r>
            <a:endParaRPr lang="pt-BR" dirty="0" smtClean="0"/>
          </a:p>
          <a:p>
            <a:pPr lvl="1"/>
            <a:r>
              <a:rPr lang="pt-BR" dirty="0" smtClean="0"/>
              <a:t>Aplicações </a:t>
            </a:r>
            <a:r>
              <a:rPr lang="pt-BR" dirty="0"/>
              <a:t>de aprendizagem de máquina. </a:t>
            </a:r>
            <a:endParaRPr lang="pt-BR" dirty="0" smtClean="0"/>
          </a:p>
          <a:p>
            <a:pPr lvl="1"/>
            <a:r>
              <a:rPr lang="pt-BR" dirty="0" smtClean="0"/>
              <a:t>Viés </a:t>
            </a:r>
            <a:r>
              <a:rPr lang="pt-BR" dirty="0"/>
              <a:t>indutivo. </a:t>
            </a:r>
            <a:endParaRPr lang="pt-BR" dirty="0" smtClean="0"/>
          </a:p>
          <a:p>
            <a:pPr lvl="1"/>
            <a:r>
              <a:rPr lang="pt-BR" dirty="0" smtClean="0"/>
              <a:t>Aprendizagem </a:t>
            </a:r>
            <a:r>
              <a:rPr lang="pt-BR" dirty="0"/>
              <a:t>descritiva e preditiva. </a:t>
            </a:r>
            <a:endParaRPr lang="pt-BR" dirty="0" smtClean="0"/>
          </a:p>
          <a:p>
            <a:pPr lvl="1"/>
            <a:r>
              <a:rPr lang="pt-BR" dirty="0" smtClean="0"/>
              <a:t>Preparação </a:t>
            </a:r>
            <a:r>
              <a:rPr lang="pt-BR" dirty="0"/>
              <a:t>de dados. </a:t>
            </a:r>
            <a:endParaRPr lang="pt-BR" dirty="0" smtClean="0"/>
          </a:p>
          <a:p>
            <a:pPr lvl="1"/>
            <a:r>
              <a:rPr lang="pt-BR" dirty="0" smtClean="0"/>
              <a:t>Algoritmos </a:t>
            </a:r>
            <a:r>
              <a:rPr lang="pt-BR" dirty="0"/>
              <a:t>de aprendizagem de máquina. </a:t>
            </a:r>
            <a:endParaRPr lang="pt-BR" dirty="0" smtClean="0"/>
          </a:p>
          <a:p>
            <a:pPr lvl="1"/>
            <a:r>
              <a:rPr lang="pt-BR" dirty="0" smtClean="0"/>
              <a:t>Linguagem </a:t>
            </a:r>
            <a:r>
              <a:rPr lang="pt-BR" dirty="0"/>
              <a:t>de programação para Aprendizagem de Máquina</a:t>
            </a:r>
            <a:r>
              <a:rPr lang="pt-BR" dirty="0" smtClean="0"/>
              <a:t>.</a:t>
            </a:r>
          </a:p>
          <a:p>
            <a:pPr lvl="1"/>
            <a:r>
              <a:rPr lang="pt-BR" dirty="0" smtClean="0"/>
              <a:t>Medidas </a:t>
            </a:r>
            <a:r>
              <a:rPr lang="pt-BR" dirty="0"/>
              <a:t>de avaliação de resultados. </a:t>
            </a:r>
          </a:p>
        </p:txBody>
      </p:sp>
    </p:spTree>
    <p:extLst>
      <p:ext uri="{BB962C8B-B14F-4D97-AF65-F5344CB8AC3E}">
        <p14:creationId xmlns:p14="http://schemas.microsoft.com/office/powerpoint/2010/main" val="272322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Principais 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AutoShape 2" descr="E-book Inteligência Artificial - Uma Abordagem de Aprendizado de Máquina |  Grupo GE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E-book Inteligência Artificial - Uma Abordagem de Aprendizado de Máquina |  Grupo GEN"/>
          <p:cNvSpPr>
            <a:spLocks noChangeAspect="1" noChangeArrowheads="1"/>
          </p:cNvSpPr>
          <p:nvPr/>
        </p:nvSpPr>
        <p:spPr bwMode="auto">
          <a:xfrm>
            <a:off x="1146960" y="3143250"/>
            <a:ext cx="517022" cy="51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0" name="Picture 6" descr="Inteligência Artificial - Uma Abordagem De Aprendizado De Máqui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560" y="1825625"/>
            <a:ext cx="3473744" cy="4637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ãos A Obra: Aprendizado De Máquina Com Scikit-Learn, Keras &amp; TensorFlow:  Conceitos, Ferramentas e Técnicas Para a Construção de Sistemas  Inteligentes – World Neurotechnologies For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272" y="1825625"/>
            <a:ext cx="2945713" cy="455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117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Calendário Acadêmico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573470" y="1758157"/>
            <a:ext cx="2780330" cy="44188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Portaria FATEC Jacareí nº 82/2025.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Atenção ao novo Regimento, em especial as hipóteses de cancelamento de matrícula.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02" y="538787"/>
            <a:ext cx="7344800" cy="121937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58157"/>
            <a:ext cx="6820251" cy="454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408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7851502"/>
              </p:ext>
            </p:extLst>
          </p:nvPr>
        </p:nvGraphicFramePr>
        <p:xfrm>
          <a:off x="1080940" y="257816"/>
          <a:ext cx="10030119" cy="62714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7419">
                  <a:extLst>
                    <a:ext uri="{9D8B030D-6E8A-4147-A177-3AD203B41FA5}">
                      <a16:colId xmlns:a16="http://schemas.microsoft.com/office/drawing/2014/main" val="2759281489"/>
                    </a:ext>
                  </a:extLst>
                </a:gridCol>
                <a:gridCol w="8452700">
                  <a:extLst>
                    <a:ext uri="{9D8B030D-6E8A-4147-A177-3AD203B41FA5}">
                      <a16:colId xmlns:a16="http://schemas.microsoft.com/office/drawing/2014/main" val="1246639065"/>
                    </a:ext>
                  </a:extLst>
                </a:gridCol>
              </a:tblGrid>
              <a:tr h="2305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DATA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CONTEÚDO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7709842"/>
                  </a:ext>
                </a:extLst>
              </a:tr>
              <a:tr h="2305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</a:rPr>
                        <a:t>04/08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Introdução a Aprendizagem de Máquina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393468"/>
                  </a:ext>
                </a:extLst>
              </a:tr>
              <a:tr h="2305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</a:rPr>
                        <a:t>05/08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Linguagem de programação Python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446528"/>
                  </a:ext>
                </a:extLst>
              </a:tr>
              <a:tr h="7128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</a:rPr>
                        <a:t>11/08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Introdução a Aprendizagem de Máquina (continuação)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Análise de dados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263018"/>
                  </a:ext>
                </a:extLst>
              </a:tr>
              <a:tr h="2305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</a:rPr>
                        <a:t>12/08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Projetos de aprendizado de máquina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34727"/>
                  </a:ext>
                </a:extLst>
              </a:tr>
              <a:tr h="31123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</a:rPr>
                        <a:t>18/08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Treinamento de modelos simples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286891"/>
                  </a:ext>
                </a:extLst>
              </a:tr>
              <a:tr h="2305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</a:rPr>
                        <a:t>19/08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Exercícios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66245"/>
                  </a:ext>
                </a:extLst>
              </a:tr>
              <a:tr h="2305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</a:rPr>
                        <a:t>25/08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</a:rPr>
                        <a:t>Métodos de maximização de margens (SVM)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133152"/>
                  </a:ext>
                </a:extLst>
              </a:tr>
              <a:tr h="3403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26/08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Exercícios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2283"/>
                  </a:ext>
                </a:extLst>
              </a:tr>
              <a:tr h="2305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01/09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Métodos simbólicos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481702"/>
                  </a:ext>
                </a:extLst>
              </a:tr>
              <a:tr h="2305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02/09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Exercícios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298431"/>
                  </a:ext>
                </a:extLst>
              </a:tr>
              <a:tr h="2305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08/09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Métodos baseados em distância e agrupamento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461437"/>
                  </a:ext>
                </a:extLst>
              </a:tr>
              <a:tr h="2305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09/09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Exercícios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118978"/>
                  </a:ext>
                </a:extLst>
              </a:tr>
              <a:tr h="2305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15/09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Métodos conexionistas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179882"/>
                  </a:ext>
                </a:extLst>
              </a:tr>
              <a:tr h="2305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16/09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Exercícios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712156"/>
                  </a:ext>
                </a:extLst>
              </a:tr>
              <a:tr h="2305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19/09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Métodos conexionistas (continuação</a:t>
                      </a:r>
                      <a:r>
                        <a:rPr lang="pt-BR" sz="2000" dirty="0" smtClean="0">
                          <a:effectLst/>
                        </a:rPr>
                        <a:t>) + Revisão</a:t>
                      </a:r>
                      <a:r>
                        <a:rPr lang="pt-BR" sz="2000" baseline="0" dirty="0" smtClean="0">
                          <a:effectLst/>
                        </a:rPr>
                        <a:t> para Prova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68062"/>
                  </a:ext>
                </a:extLst>
              </a:tr>
              <a:tr h="2305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22/09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effectLst/>
                        </a:rPr>
                        <a:t>Atividade Avaliativa 1 (P1)</a:t>
                      </a:r>
                      <a:endParaRPr lang="pt-BR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8943"/>
                  </a:ext>
                </a:extLst>
              </a:tr>
              <a:tr h="2305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23/09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Correção Prova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08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174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286275"/>
              </p:ext>
            </p:extLst>
          </p:nvPr>
        </p:nvGraphicFramePr>
        <p:xfrm>
          <a:off x="1800520" y="-127332"/>
          <a:ext cx="7956222" cy="69791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7908">
                  <a:extLst>
                    <a:ext uri="{9D8B030D-6E8A-4147-A177-3AD203B41FA5}">
                      <a16:colId xmlns:a16="http://schemas.microsoft.com/office/drawing/2014/main" val="39734265"/>
                    </a:ext>
                  </a:extLst>
                </a:gridCol>
                <a:gridCol w="6198314">
                  <a:extLst>
                    <a:ext uri="{9D8B030D-6E8A-4147-A177-3AD203B41FA5}">
                      <a16:colId xmlns:a16="http://schemas.microsoft.com/office/drawing/2014/main" val="4126293039"/>
                    </a:ext>
                  </a:extLst>
                </a:gridCol>
              </a:tblGrid>
              <a:tr h="2483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</a:rPr>
                        <a:t>DATA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CONTEÚDO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4787150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29/09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Redes Neurais </a:t>
                      </a:r>
                      <a:r>
                        <a:rPr lang="pt-BR" sz="2000" dirty="0" err="1" smtClean="0">
                          <a:effectLst/>
                        </a:rPr>
                        <a:t>Convolucionais</a:t>
                      </a:r>
                      <a:r>
                        <a:rPr lang="pt-BR" sz="20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 Demanda projeto final</a:t>
                      </a:r>
                      <a:endParaRPr lang="pt-BR" sz="2000" dirty="0" smtClean="0">
                        <a:effectLst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808032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30/09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Exercícios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063383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06/10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</a:rPr>
                        <a:t>Projeto Final + Redes Neurais Generativas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048737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07/10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</a:rPr>
                        <a:t>FEITEC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353242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13/10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Projeto Final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3198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14/10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Projeto Final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80381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20/10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Projeto Final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070422"/>
                  </a:ext>
                </a:extLst>
              </a:tr>
              <a:tr h="3159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21/10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Projeto Final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490426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24/10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</a:rPr>
                        <a:t>Projeto</a:t>
                      </a:r>
                      <a:r>
                        <a:rPr lang="pt-BR" sz="2000" baseline="0" dirty="0" smtClean="0">
                          <a:effectLst/>
                        </a:rPr>
                        <a:t> Final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876438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27/10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</a:rPr>
                        <a:t>ABP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641524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03/11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 smtClean="0">
                          <a:effectLst/>
                        </a:rPr>
                        <a:t>Apresentações</a:t>
                      </a:r>
                      <a:r>
                        <a:rPr lang="pt-BR" sz="2000" b="1" baseline="0" dirty="0" smtClean="0">
                          <a:effectLst/>
                        </a:rPr>
                        <a:t> Projetos Finais</a:t>
                      </a:r>
                      <a:endParaRPr lang="pt-BR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349698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04/11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</a:rPr>
                        <a:t>Aprendizagem por reforço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390329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10/11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ABP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826458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11/11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ABP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321621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17/11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ABP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132086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18/11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ABP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45912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24/11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ABP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304341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25/11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smtClean="0">
                          <a:effectLst/>
                        </a:rPr>
                        <a:t>Revisão para prova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882386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01/12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effectLst/>
                        </a:rPr>
                        <a:t>Atividade avaliativa 2 (P2)</a:t>
                      </a:r>
                      <a:endParaRPr lang="pt-BR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453967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02/12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Correção da prova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573362"/>
                  </a:ext>
                </a:extLst>
              </a:tr>
              <a:tr h="2483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05</a:t>
                      </a:r>
                      <a:r>
                        <a:rPr lang="pt-BR" sz="2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 09/12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0" dirty="0" smtClean="0">
                          <a:effectLst/>
                        </a:rPr>
                        <a:t>Plantão de dúvidas e revisão de</a:t>
                      </a:r>
                      <a:r>
                        <a:rPr lang="pt-BR" sz="2000" b="0" baseline="0" dirty="0" smtClean="0">
                          <a:effectLst/>
                        </a:rPr>
                        <a:t> conteúdo</a:t>
                      </a:r>
                      <a:endParaRPr lang="pt-BR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083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162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Avaliações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2922829"/>
              </p:ext>
            </p:extLst>
          </p:nvPr>
        </p:nvGraphicFramePr>
        <p:xfrm>
          <a:off x="838200" y="1470025"/>
          <a:ext cx="10515600" cy="4937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75080">
                  <a:extLst>
                    <a:ext uri="{9D8B030D-6E8A-4147-A177-3AD203B41FA5}">
                      <a16:colId xmlns:a16="http://schemas.microsoft.com/office/drawing/2014/main" val="1367995644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304938518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983813180"/>
                    </a:ext>
                  </a:extLst>
                </a:gridCol>
                <a:gridCol w="6009640">
                  <a:extLst>
                    <a:ext uri="{9D8B030D-6E8A-4147-A177-3AD203B41FA5}">
                      <a16:colId xmlns:a16="http://schemas.microsoft.com/office/drawing/2014/main" val="155092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DATA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TIPO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PESO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DESCRIÇÃO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616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22/09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Prova 1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25%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Questões objetivas e discursivas sobre o conteúdo teórico e prático</a:t>
                      </a:r>
                      <a:r>
                        <a:rPr lang="pt-BR" sz="2400" baseline="0" dirty="0" smtClean="0"/>
                        <a:t> ministrado em aula</a:t>
                      </a:r>
                      <a:r>
                        <a:rPr lang="pt-BR" sz="2400" dirty="0" smtClean="0"/>
                        <a:t>.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54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03/11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 smtClean="0"/>
                        <a:t>Projeto Prático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20%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Trabalho prático individual</a:t>
                      </a:r>
                      <a:r>
                        <a:rPr lang="pt-BR" sz="2400" baseline="0" dirty="0" smtClean="0"/>
                        <a:t>.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647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01/12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 smtClean="0"/>
                        <a:t>Prova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25%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Prova oral com base no conteúdo entregue do projeto prático.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63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-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Exercícios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15%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Aproximadamente</a:t>
                      </a:r>
                      <a:r>
                        <a:rPr lang="pt-BR" sz="2400" baseline="0" dirty="0" smtClean="0"/>
                        <a:t> 5 exercícios práticos a serem entregues individualmente ao longo da primeira metade do curso.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01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-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ABP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15%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Peso com base na carga horária prevista no Projeto Pedagógico do Curso.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072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5144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Observações importantes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b="1" dirty="0" smtClean="0"/>
              <a:t>Exames</a:t>
            </a:r>
            <a:r>
              <a:rPr lang="pt-BR" sz="3200" dirty="0" smtClean="0"/>
              <a:t> ocorrerão após o encerramento do semestre.</a:t>
            </a:r>
          </a:p>
          <a:p>
            <a:r>
              <a:rPr lang="pt-BR" sz="3200" b="1" dirty="0" smtClean="0"/>
              <a:t>Atenção às faltas</a:t>
            </a:r>
            <a:r>
              <a:rPr lang="pt-BR" sz="3200" dirty="0" smtClean="0"/>
              <a:t>: solicitações de abono deverão ser protocoladas na secretaria acadêmica, em observância ao regimento interno.</a:t>
            </a:r>
          </a:p>
          <a:p>
            <a:r>
              <a:rPr lang="pt-BR" sz="3200" dirty="0" smtClean="0"/>
              <a:t>As </a:t>
            </a:r>
            <a:r>
              <a:rPr lang="pt-BR" sz="3200" b="1" dirty="0" smtClean="0"/>
              <a:t>datas de ABP </a:t>
            </a:r>
            <a:r>
              <a:rPr lang="pt-BR" sz="3200" dirty="0" smtClean="0"/>
              <a:t>ainda dependerão de confirmação, após alinhamento com as demais disciplinas.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98875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Inteligência </a:t>
            </a:r>
            <a:r>
              <a:rPr lang="pt-BR" dirty="0"/>
              <a:t>A</a:t>
            </a:r>
            <a:r>
              <a:rPr lang="pt-BR" dirty="0" smtClean="0"/>
              <a:t>rtificial?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71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inteligência?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err="1" smtClean="0"/>
              <a:t>Merriam-Webster</a:t>
            </a:r>
            <a:r>
              <a:rPr lang="pt-BR" dirty="0" smtClean="0"/>
              <a:t> Thesaurus: “a habilidade de aprender e entender ou de tratar problemas.”</a:t>
            </a:r>
          </a:p>
          <a:p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Wiki: “A inteligência tem sido definida popularmente e ao longo da história de muitas formas diferentes, tais como em termos da capacidade de alguém/algo para lógica, abstração, memorização, compreensão, autoconhecimento, comunicação, aprendizado, controle emocional, planejamento e resolução de problemas.”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4706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IA: Utilizado pela primeira vez em 1956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000" dirty="0" smtClean="0"/>
              <a:t>Assim como ocorreu em outras áreas, a Ciência de Computação evoluiu de forma acelerada logo após a Segunda Guerra Mundial.</a:t>
            </a:r>
          </a:p>
          <a:p>
            <a:pPr>
              <a:lnSpc>
                <a:spcPct val="170000"/>
              </a:lnSpc>
            </a:pPr>
            <a:r>
              <a:rPr lang="pt-BR" sz="2000" dirty="0" smtClean="0"/>
              <a:t>No começo da década de 1950, haviam vários nomes para o campo de “máquina pensantes”: cibernética, autômatos e processamento de informação complexa.</a:t>
            </a:r>
          </a:p>
          <a:p>
            <a:r>
              <a:rPr lang="pt-BR" sz="2000" dirty="0" smtClean="0"/>
              <a:t>Em 1956 ocorreu um Workshop no </a:t>
            </a:r>
            <a:r>
              <a:rPr lang="pt-BR" sz="2000" dirty="0" err="1" smtClean="0"/>
              <a:t>Dartmouth</a:t>
            </a:r>
            <a:r>
              <a:rPr lang="pt-BR" sz="2000" dirty="0" smtClean="0"/>
              <a:t> </a:t>
            </a:r>
            <a:r>
              <a:rPr lang="pt-BR" sz="2000" dirty="0" err="1" smtClean="0"/>
              <a:t>College</a:t>
            </a:r>
            <a:r>
              <a:rPr lang="pt-BR" sz="2000" dirty="0" smtClean="0"/>
              <a:t> (E.U.A.) no qual o termo </a:t>
            </a:r>
            <a:r>
              <a:rPr lang="pt-BR" sz="2000" b="1" dirty="0" smtClean="0"/>
              <a:t>Inteligência Artificial</a:t>
            </a:r>
            <a:r>
              <a:rPr lang="pt-BR" sz="2000" dirty="0" smtClean="0"/>
              <a:t> foi cunhado por John McCarthy de maneira a distinguir uma área de estudos diferente do que estava sendo tratado pela </a:t>
            </a:r>
            <a:r>
              <a:rPr lang="pt-BR" sz="2000" b="1" dirty="0" smtClean="0"/>
              <a:t>cibernética </a:t>
            </a:r>
            <a:r>
              <a:rPr lang="pt-BR" sz="2000" dirty="0" smtClean="0"/>
              <a:t>e escapar da influência de Norbert </a:t>
            </a:r>
            <a:r>
              <a:rPr lang="pt-BR" sz="2000" dirty="0" err="1" smtClean="0"/>
              <a:t>Wiener</a:t>
            </a:r>
            <a:r>
              <a:rPr lang="pt-BR" sz="2000" dirty="0" smtClean="0"/>
              <a:t>.</a:t>
            </a:r>
          </a:p>
          <a:p>
            <a:r>
              <a:rPr lang="pt-BR" sz="2000" dirty="0" smtClean="0"/>
              <a:t>Os participantes do workshop acabaram se tornando os fundadores e líderes desta área de pesquisa: Allen </a:t>
            </a:r>
            <a:r>
              <a:rPr lang="pt-BR" sz="2000" dirty="0" err="1" smtClean="0"/>
              <a:t>Newell</a:t>
            </a:r>
            <a:r>
              <a:rPr lang="pt-BR" sz="2000" dirty="0" smtClean="0"/>
              <a:t> (CMU), Herbert Simon (CMU), John McCarthy (MIT), Marvin </a:t>
            </a:r>
            <a:r>
              <a:rPr lang="pt-BR" sz="2000" dirty="0" err="1" smtClean="0"/>
              <a:t>Minsky</a:t>
            </a:r>
            <a:r>
              <a:rPr lang="pt-BR" sz="2000" dirty="0" smtClean="0"/>
              <a:t> (MIT) </a:t>
            </a:r>
            <a:r>
              <a:rPr lang="pt-BR" sz="2000" dirty="0" err="1" smtClean="0"/>
              <a:t>and</a:t>
            </a:r>
            <a:r>
              <a:rPr lang="pt-BR" sz="2000" dirty="0" smtClean="0"/>
              <a:t> Arthur Samuel (IBM)</a:t>
            </a:r>
            <a:endParaRPr lang="pt-BR" sz="2000" dirty="0"/>
          </a:p>
          <a:p>
            <a:endParaRPr lang="pt-BR" sz="2000" dirty="0" smtClean="0"/>
          </a:p>
          <a:p>
            <a:r>
              <a:rPr lang="pt-BR" sz="1600" b="1" dirty="0" smtClean="0"/>
              <a:t>Cibernética</a:t>
            </a:r>
            <a:r>
              <a:rPr lang="pt-BR" sz="2000" dirty="0" smtClean="0"/>
              <a:t>: “</a:t>
            </a:r>
            <a:r>
              <a:rPr lang="pt-BR" sz="2000" dirty="0"/>
              <a:t>é o estudo científico de como humanos, animais e máquinas controlam e se </a:t>
            </a:r>
            <a:r>
              <a:rPr lang="pt-BR" sz="2000" dirty="0" smtClean="0"/>
              <a:t>comunicam.”</a:t>
            </a:r>
            <a:endParaRPr lang="pt-BR" sz="2000" dirty="0"/>
          </a:p>
        </p:txBody>
      </p:sp>
      <p:pic>
        <p:nvPicPr>
          <p:cNvPr id="3076" name="Picture 4" descr="John McCarthy | Stanford University School of Engineer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0474" y="81757"/>
            <a:ext cx="13335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879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IA: Definições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Pensando como humano</a:t>
            </a:r>
          </a:p>
          <a:p>
            <a:pPr lvl="1"/>
            <a:r>
              <a:rPr lang="pt-BR" dirty="0" smtClean="0"/>
              <a:t>“Os novos excitantes esforços para fazer computadores pensarem...máquina com mentes, de forma literal e completa” (</a:t>
            </a:r>
            <a:r>
              <a:rPr lang="pt-BR" dirty="0" err="1" smtClean="0"/>
              <a:t>Haugeland</a:t>
            </a:r>
            <a:r>
              <a:rPr lang="pt-BR" dirty="0" smtClean="0"/>
              <a:t>, 1983)</a:t>
            </a:r>
          </a:p>
          <a:p>
            <a:r>
              <a:rPr lang="pt-BR" dirty="0" smtClean="0"/>
              <a:t>Agindo como humano</a:t>
            </a:r>
          </a:p>
          <a:p>
            <a:pPr lvl="1"/>
            <a:r>
              <a:rPr lang="pt-BR" dirty="0" smtClean="0"/>
              <a:t>“O estudo de como fazer computadores fazerem coisas as quais, no momento, pessoas são melhores.” (</a:t>
            </a:r>
            <a:r>
              <a:rPr lang="pt-BR" dirty="0" err="1" smtClean="0"/>
              <a:t>Rich</a:t>
            </a:r>
            <a:r>
              <a:rPr lang="pt-BR" dirty="0" smtClean="0"/>
              <a:t> e Knight, 1991)</a:t>
            </a:r>
          </a:p>
          <a:p>
            <a:r>
              <a:rPr lang="pt-BR" dirty="0" smtClean="0"/>
              <a:t>Pensando racionalmente:</a:t>
            </a:r>
          </a:p>
          <a:p>
            <a:pPr lvl="1"/>
            <a:r>
              <a:rPr lang="pt-BR" dirty="0" smtClean="0"/>
              <a:t>“O estudo das faculdades mentais através do uso de modelos computacionais” (</a:t>
            </a:r>
            <a:r>
              <a:rPr lang="pt-BR" dirty="0" err="1" smtClean="0"/>
              <a:t>Charniak</a:t>
            </a:r>
            <a:r>
              <a:rPr lang="pt-BR" dirty="0" smtClean="0"/>
              <a:t> e </a:t>
            </a:r>
            <a:r>
              <a:rPr lang="pt-BR" dirty="0" err="1" smtClean="0"/>
              <a:t>McDermott</a:t>
            </a:r>
            <a:r>
              <a:rPr lang="pt-BR" dirty="0" smtClean="0"/>
              <a:t>, 1985)</a:t>
            </a:r>
          </a:p>
          <a:p>
            <a:r>
              <a:rPr lang="pt-BR" dirty="0" smtClean="0"/>
              <a:t>Agindo racionalmente</a:t>
            </a:r>
          </a:p>
          <a:p>
            <a:pPr lvl="1"/>
            <a:r>
              <a:rPr lang="pt-BR" dirty="0" smtClean="0"/>
              <a:t>“IA está preocupada com o comportamento inteligente em artefatos.” (</a:t>
            </a:r>
            <a:r>
              <a:rPr lang="pt-BR" dirty="0" err="1" smtClean="0"/>
              <a:t>Nilsson</a:t>
            </a:r>
            <a:r>
              <a:rPr lang="pt-BR" dirty="0" smtClean="0"/>
              <a:t>, 1998)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3970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Pensando como humano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Introspeção:</a:t>
            </a:r>
          </a:p>
          <a:p>
            <a:pPr lvl="1"/>
            <a:r>
              <a:rPr lang="pt-BR" dirty="0" smtClean="0"/>
              <a:t>“A introspecção é o processo de examinar e refletir sobre os próprios pensamentos, sentimentos, experiências e comportamentos. É uma forma de autoanálise que visa entender melhor a si mesmo.” (crenças, imagens mentais, memórias, intenções, emoções, etc...)</a:t>
            </a:r>
          </a:p>
          <a:p>
            <a:r>
              <a:rPr lang="pt-BR" dirty="0" smtClean="0"/>
              <a:t>Intuição</a:t>
            </a:r>
          </a:p>
          <a:p>
            <a:pPr lvl="1"/>
            <a:r>
              <a:rPr lang="pt-BR" dirty="0" smtClean="0"/>
              <a:t>“Em psicologia, intuição é um processo pelo qual os humanos passam, mesmo que involuntariamente e inconscientemente, para chegar a uma conclusão sobre algo.”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522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Agindo como humano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Processamento da linguagem natural</a:t>
            </a:r>
          </a:p>
          <a:p>
            <a:r>
              <a:rPr lang="pt-BR" dirty="0" smtClean="0"/>
              <a:t>Representação do conhecimento</a:t>
            </a:r>
          </a:p>
          <a:p>
            <a:r>
              <a:rPr lang="pt-BR" dirty="0" smtClean="0"/>
              <a:t>Raciocínio</a:t>
            </a:r>
          </a:p>
          <a:p>
            <a:r>
              <a:rPr lang="pt-BR" dirty="0" smtClean="0"/>
              <a:t>Aprendizagem</a:t>
            </a:r>
          </a:p>
        </p:txBody>
      </p:sp>
    </p:spTree>
    <p:extLst>
      <p:ext uri="{BB962C8B-B14F-4D97-AF65-F5344CB8AC3E}">
        <p14:creationId xmlns:p14="http://schemas.microsoft.com/office/powerpoint/2010/main" val="2364638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 de Turing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098" name="Picture 2" descr="Teste de Turing: A Jornada da IA para a Autonomia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642" y="1522510"/>
            <a:ext cx="7706379" cy="513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399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Pensando racionalmente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Silogismo: um tipo de argumento lógico, criado por Aristóteles, que utilizada duas premissas para chegar a uma conclusão.</a:t>
            </a:r>
          </a:p>
          <a:p>
            <a:r>
              <a:rPr lang="pt-BR" dirty="0" smtClean="0"/>
              <a:t>É um raciocínio dedutivo</a:t>
            </a:r>
            <a:endParaRPr lang="pt-BR" dirty="0"/>
          </a:p>
        </p:txBody>
      </p:sp>
      <p:pic>
        <p:nvPicPr>
          <p:cNvPr id="5124" name="Picture 4" descr="Base da Filosofia: Aristóteles - silogism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445084"/>
            <a:ext cx="6030242" cy="3286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76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Agindo racionalmente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Utilizar lógica, razão, objetivos claros e análise crítica para tomar decisões.</a:t>
            </a:r>
          </a:p>
          <a:p>
            <a:r>
              <a:rPr lang="pt-BR" dirty="0" smtClean="0"/>
              <a:t>Envolve: pensamento crítico, avaliação de riscos, tomada de decisão informada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219" y="3577843"/>
            <a:ext cx="6430272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4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IA Limitada x Geral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 smtClean="0"/>
              <a:t>IA Limitada:</a:t>
            </a:r>
          </a:p>
          <a:p>
            <a:pPr lvl="1"/>
            <a:r>
              <a:rPr lang="pt-BR" sz="2800" dirty="0" smtClean="0"/>
              <a:t>Também chamada de “Inteligência Artificial Aplicada”, refere-se a IA usada para resolver problemas específicos em domínios bem definidos.</a:t>
            </a:r>
          </a:p>
          <a:p>
            <a:pPr lvl="1"/>
            <a:endParaRPr lang="pt-BR" sz="2800" dirty="0" smtClean="0"/>
          </a:p>
          <a:p>
            <a:r>
              <a:rPr lang="pt-BR" sz="3200" dirty="0" smtClean="0"/>
              <a:t>IA Geral:</a:t>
            </a:r>
          </a:p>
          <a:p>
            <a:pPr lvl="1"/>
            <a:r>
              <a:rPr lang="pt-BR" sz="2800" dirty="0" smtClean="0"/>
              <a:t>Refere-se a IA “equivalente” à humana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61069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Histórico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 smtClean="0"/>
              <a:t>1943</a:t>
            </a:r>
            <a:r>
              <a:rPr lang="pt-BR" dirty="0" smtClean="0"/>
              <a:t>: O início da IA: Warren </a:t>
            </a:r>
            <a:r>
              <a:rPr lang="pt-BR" dirty="0" err="1" smtClean="0"/>
              <a:t>McCulloch</a:t>
            </a:r>
            <a:r>
              <a:rPr lang="pt-BR" dirty="0" smtClean="0"/>
              <a:t> e Walter </a:t>
            </a:r>
            <a:r>
              <a:rPr lang="pt-BR" dirty="0" err="1" smtClean="0"/>
              <a:t>Pitts</a:t>
            </a:r>
            <a:r>
              <a:rPr lang="pt-BR" dirty="0" smtClean="0"/>
              <a:t> criaram o primeiro modelo computacional para redes neurais, baseado em matemática e algoritmos. Isso é considerado o nascimento da IA.</a:t>
            </a:r>
          </a:p>
          <a:p>
            <a:r>
              <a:rPr lang="pt-BR" b="1" dirty="0" smtClean="0"/>
              <a:t>1950</a:t>
            </a:r>
            <a:r>
              <a:rPr lang="pt-BR" dirty="0" smtClean="0"/>
              <a:t>: O Teste de Turing: Alan Turing propôs um teste para determinar se uma máquina poderia demonstrar inteligência equivalente à humana.</a:t>
            </a:r>
          </a:p>
          <a:p>
            <a:r>
              <a:rPr lang="pt-BR" dirty="0" smtClean="0"/>
              <a:t> </a:t>
            </a:r>
            <a:r>
              <a:rPr lang="pt-BR" b="1" dirty="0" smtClean="0"/>
              <a:t>1956</a:t>
            </a:r>
            <a:r>
              <a:rPr lang="pt-BR" dirty="0" smtClean="0"/>
              <a:t>: O termo "Inteligência Artificial": John McCarthy apresentou o termo "Inteligência Artificial" em uma conferência no </a:t>
            </a:r>
            <a:r>
              <a:rPr lang="pt-BR" dirty="0" err="1" smtClean="0"/>
              <a:t>Dartmouth</a:t>
            </a:r>
            <a:r>
              <a:rPr lang="pt-BR" dirty="0" smtClean="0"/>
              <a:t> </a:t>
            </a:r>
            <a:r>
              <a:rPr lang="pt-BR" dirty="0" err="1" smtClean="0"/>
              <a:t>College</a:t>
            </a:r>
            <a:endParaRPr lang="pt-BR" dirty="0" smtClean="0"/>
          </a:p>
          <a:p>
            <a:r>
              <a:rPr lang="pt-BR" b="1" dirty="0" smtClean="0"/>
              <a:t>1966</a:t>
            </a:r>
            <a:r>
              <a:rPr lang="pt-BR" dirty="0" smtClean="0"/>
              <a:t>: Processamento de linguagem natural: O programa ELIZA foi desenvolvido, permitindo que computadores processassem linguagem natural.</a:t>
            </a:r>
          </a:p>
          <a:p>
            <a:r>
              <a:rPr lang="pt-BR" b="1" dirty="0" smtClean="0"/>
              <a:t>1982</a:t>
            </a:r>
            <a:r>
              <a:rPr lang="pt-BR" dirty="0" smtClean="0"/>
              <a:t>: aplicação do algoritmo</a:t>
            </a:r>
            <a:r>
              <a:rPr lang="pt-BR" i="1" dirty="0" smtClean="0"/>
              <a:t> </a:t>
            </a:r>
            <a:r>
              <a:rPr lang="pt-BR" i="1" dirty="0" err="1" smtClean="0"/>
              <a:t>backpropagation</a:t>
            </a:r>
            <a:r>
              <a:rPr lang="pt-BR" i="1" dirty="0" smtClean="0"/>
              <a:t> </a:t>
            </a:r>
            <a:r>
              <a:rPr lang="pt-BR" dirty="0" smtClean="0"/>
              <a:t>para redes MLP</a:t>
            </a:r>
          </a:p>
          <a:p>
            <a:r>
              <a:rPr lang="pt-BR" b="1" dirty="0" smtClean="0"/>
              <a:t>1989</a:t>
            </a:r>
            <a:r>
              <a:rPr lang="pt-BR" dirty="0" smtClean="0"/>
              <a:t>: Criados veículos autônomos que utilizam redes neurais</a:t>
            </a:r>
          </a:p>
        </p:txBody>
      </p:sp>
    </p:spTree>
    <p:extLst>
      <p:ext uri="{BB962C8B-B14F-4D97-AF65-F5344CB8AC3E}">
        <p14:creationId xmlns:p14="http://schemas.microsoft.com/office/powerpoint/2010/main" val="589925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Histórico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 smtClean="0"/>
              <a:t>1997</a:t>
            </a:r>
            <a:r>
              <a:rPr lang="pt-BR" dirty="0" smtClean="0"/>
              <a:t>: IA vence humano no xadrez: O supercomputador </a:t>
            </a:r>
            <a:r>
              <a:rPr lang="pt-BR" dirty="0" err="1" smtClean="0"/>
              <a:t>Deep</a:t>
            </a:r>
            <a:r>
              <a:rPr lang="pt-BR" dirty="0" smtClean="0"/>
              <a:t> Blue, da IBM, derrotou o campeão mundial de xadrez </a:t>
            </a:r>
            <a:r>
              <a:rPr lang="pt-BR" dirty="0" err="1" smtClean="0"/>
              <a:t>Garry</a:t>
            </a:r>
            <a:r>
              <a:rPr lang="pt-BR" dirty="0" smtClean="0"/>
              <a:t> </a:t>
            </a:r>
            <a:r>
              <a:rPr lang="pt-BR" dirty="0" err="1" smtClean="0"/>
              <a:t>Kasparov</a:t>
            </a:r>
            <a:r>
              <a:rPr lang="pt-BR" dirty="0" smtClean="0"/>
              <a:t>.</a:t>
            </a:r>
          </a:p>
          <a:p>
            <a:r>
              <a:rPr lang="pt-BR" b="1" dirty="0" smtClean="0"/>
              <a:t>2002</a:t>
            </a:r>
            <a:r>
              <a:rPr lang="pt-BR" dirty="0" smtClean="0"/>
              <a:t>: criado o </a:t>
            </a:r>
            <a:r>
              <a:rPr lang="pt-BR" dirty="0" err="1" smtClean="0"/>
              <a:t>Roomba</a:t>
            </a:r>
            <a:r>
              <a:rPr lang="pt-BR" dirty="0" smtClean="0"/>
              <a:t>, um robô aspirador autônomo.</a:t>
            </a:r>
          </a:p>
          <a:p>
            <a:r>
              <a:rPr lang="pt-BR" b="1" dirty="0" smtClean="0"/>
              <a:t>2011</a:t>
            </a:r>
            <a:r>
              <a:rPr lang="pt-BR" dirty="0" smtClean="0"/>
              <a:t>: IA em linguagem natural: O IBM Watson venceu o jogo "</a:t>
            </a:r>
            <a:r>
              <a:rPr lang="pt-BR" dirty="0" err="1" smtClean="0"/>
              <a:t>Jeopardy</a:t>
            </a:r>
            <a:r>
              <a:rPr lang="pt-BR" dirty="0" smtClean="0"/>
              <a:t>!", demonstrando avanços em linguagem natural.</a:t>
            </a:r>
          </a:p>
          <a:p>
            <a:r>
              <a:rPr lang="pt-BR" b="1" dirty="0" smtClean="0"/>
              <a:t>2011</a:t>
            </a:r>
            <a:r>
              <a:rPr lang="pt-BR" dirty="0" smtClean="0"/>
              <a:t>: Apple Siri</a:t>
            </a:r>
          </a:p>
          <a:p>
            <a:r>
              <a:rPr lang="pt-BR" b="1" dirty="0" smtClean="0"/>
              <a:t>2016</a:t>
            </a:r>
            <a:r>
              <a:rPr lang="pt-BR" dirty="0" smtClean="0"/>
              <a:t>: IA vence campeão de Go: O </a:t>
            </a:r>
            <a:r>
              <a:rPr lang="pt-BR" dirty="0" err="1" smtClean="0"/>
              <a:t>AlphaGo</a:t>
            </a:r>
            <a:r>
              <a:rPr lang="pt-BR" dirty="0" smtClean="0"/>
              <a:t>, desenvolvido pela </a:t>
            </a:r>
            <a:r>
              <a:rPr lang="pt-BR" dirty="0" err="1" smtClean="0"/>
              <a:t>DeepMind</a:t>
            </a:r>
            <a:r>
              <a:rPr lang="pt-BR" dirty="0" smtClean="0"/>
              <a:t>, venceu o campeão mundial de Go.</a:t>
            </a:r>
          </a:p>
          <a:p>
            <a:r>
              <a:rPr lang="pt-BR" b="1" dirty="0" smtClean="0"/>
              <a:t>2020</a:t>
            </a:r>
            <a:r>
              <a:rPr lang="pt-BR" dirty="0" smtClean="0"/>
              <a:t> - GPT-3: Lançado com 175 bilhões de parâmetros, revolucionando o processamento de linguagem natural.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75035" y="6176963"/>
            <a:ext cx="11406433" cy="707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dirty="0" smtClean="0"/>
              <a:t>Principais fatores tecnológicos de evolução: infraestrutura de coleta, armazenamento, processamento e distribuição de grande volumes de dados.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10675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Documentário </a:t>
            </a:r>
            <a:r>
              <a:rPr lang="pt-BR" dirty="0" err="1" smtClean="0"/>
              <a:t>Aplha</a:t>
            </a:r>
            <a:r>
              <a:rPr lang="pt-BR" dirty="0" smtClean="0"/>
              <a:t> Go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78173" y="6204534"/>
            <a:ext cx="8351800" cy="2543116"/>
          </a:xfrm>
        </p:spPr>
        <p:txBody>
          <a:bodyPr/>
          <a:lstStyle/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www.youtube.com/watch?v=WXuK6gekU1Y</a:t>
            </a:r>
            <a:r>
              <a:rPr lang="pt-BR" dirty="0" smtClean="0"/>
              <a:t> </a:t>
            </a:r>
            <a:endParaRPr lang="pt-BR" dirty="0"/>
          </a:p>
        </p:txBody>
      </p:sp>
      <p:sp>
        <p:nvSpPr>
          <p:cNvPr id="4" name="AutoShape 2" descr="Image of AlphaGo - The Movie | Full award-winning documentary - YouTube"/>
          <p:cNvSpPr>
            <a:spLocks noChangeAspect="1" noChangeArrowheads="1"/>
          </p:cNvSpPr>
          <p:nvPr/>
        </p:nvSpPr>
        <p:spPr bwMode="auto">
          <a:xfrm>
            <a:off x="-686680" y="2828308"/>
            <a:ext cx="242081" cy="242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28" name="Picture 4" descr="AlphaGo | Reflections and Quotes | vialog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558" y="1273510"/>
            <a:ext cx="9078044" cy="474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872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IA na cultura popular</a:t>
            </a:r>
            <a:endParaRPr lang="pt-BR" dirty="0"/>
          </a:p>
        </p:txBody>
      </p:sp>
      <p:pic>
        <p:nvPicPr>
          <p:cNvPr id="6146" name="Picture 2" descr="Eu robô, livro de Isaac Asimov. Muito bom, faz refletir sobre as IA's  atuais e o futuro da robótica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03" y="1364131"/>
            <a:ext cx="1501775" cy="233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upload.wikimedia.org/wikipedia/pt/5/53/Two_thousand_and_one_a_space_odyssey_ver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451" y="1690688"/>
            <a:ext cx="1627943" cy="246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rime Video: Ex_Machina: Instinto Artificia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3089" y="4732798"/>
            <a:ext cx="1492634" cy="1990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A.I. - Inteligência Artificial – Wikipédia, a enciclopédia livr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9123" y="3611412"/>
            <a:ext cx="1371568" cy="205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Ela - Filme 2013 - AdoroCinem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913" y="4251381"/>
            <a:ext cx="1444411" cy="2121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Blade Runner, o Caçador de Andróides - Filme 1982 - AdoroCinem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876" y="2444739"/>
            <a:ext cx="1517016" cy="2121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O Homem Bicentenário – Wikipédia, a enciclopédia livr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331" y="3025665"/>
            <a:ext cx="1427353" cy="1995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1773378" y="1275151"/>
            <a:ext cx="2335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Eu robô - Asimov, 1950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61711" y="1835667"/>
            <a:ext cx="4139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Odisseia no espaço, Kubrick &amp; Clarke 1968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5299374" y="2511354"/>
            <a:ext cx="3385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 smtClean="0"/>
              <a:t>Blade</a:t>
            </a:r>
            <a:r>
              <a:rPr lang="pt-BR" dirty="0" smtClean="0"/>
              <a:t> </a:t>
            </a:r>
            <a:r>
              <a:rPr lang="pt-BR" dirty="0" err="1" smtClean="0"/>
              <a:t>runner</a:t>
            </a:r>
            <a:r>
              <a:rPr lang="pt-BR" dirty="0" smtClean="0"/>
              <a:t> – Ridley Scott (1982)</a:t>
            </a:r>
          </a:p>
        </p:txBody>
      </p:sp>
      <p:sp>
        <p:nvSpPr>
          <p:cNvPr id="7" name="Retângulo 6"/>
          <p:cNvSpPr/>
          <p:nvPr/>
        </p:nvSpPr>
        <p:spPr>
          <a:xfrm>
            <a:off x="6849123" y="3061383"/>
            <a:ext cx="44199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O homem cinquentenário – Columbus (1999)</a:t>
            </a:r>
          </a:p>
        </p:txBody>
      </p:sp>
      <p:sp>
        <p:nvSpPr>
          <p:cNvPr id="8" name="Retângulo 7"/>
          <p:cNvSpPr/>
          <p:nvPr/>
        </p:nvSpPr>
        <p:spPr>
          <a:xfrm rot="16200000">
            <a:off x="10399489" y="5038917"/>
            <a:ext cx="3215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 smtClean="0"/>
              <a:t>Ex-machina</a:t>
            </a:r>
            <a:r>
              <a:rPr lang="pt-BR" dirty="0" smtClean="0"/>
              <a:t> - Alex Garland, 2015</a:t>
            </a:r>
          </a:p>
        </p:txBody>
      </p:sp>
      <p:sp>
        <p:nvSpPr>
          <p:cNvPr id="9" name="Retângulo 8"/>
          <p:cNvSpPr/>
          <p:nvPr/>
        </p:nvSpPr>
        <p:spPr>
          <a:xfrm>
            <a:off x="8332130" y="3701352"/>
            <a:ext cx="2457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I.A. - Spielberg (D), 2001</a:t>
            </a:r>
          </a:p>
        </p:txBody>
      </p:sp>
      <p:sp>
        <p:nvSpPr>
          <p:cNvPr id="10" name="Retângulo 9"/>
          <p:cNvSpPr/>
          <p:nvPr/>
        </p:nvSpPr>
        <p:spPr>
          <a:xfrm>
            <a:off x="9783777" y="4196421"/>
            <a:ext cx="17461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Ela – Spike </a:t>
            </a:r>
            <a:r>
              <a:rPr lang="pt-BR" dirty="0" err="1" smtClean="0"/>
              <a:t>Jonze</a:t>
            </a:r>
            <a:endParaRPr lang="pt-BR" dirty="0" smtClean="0"/>
          </a:p>
          <a:p>
            <a:r>
              <a:rPr lang="pt-BR" dirty="0" smtClean="0"/>
              <a:t> (2014)</a:t>
            </a:r>
          </a:p>
        </p:txBody>
      </p:sp>
    </p:spTree>
    <p:extLst>
      <p:ext uri="{BB962C8B-B14F-4D97-AF65-F5344CB8AC3E}">
        <p14:creationId xmlns:p14="http://schemas.microsoft.com/office/powerpoint/2010/main" val="4179995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Aplicações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178" y="1610185"/>
            <a:ext cx="9211961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7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Aprendizagem de Máquina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333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IA x Aprendizagem de Máquina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825625"/>
          <a:ext cx="439367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5297864" y="1825625"/>
            <a:ext cx="60559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/>
              <a:t>Sistemas especialistas</a:t>
            </a:r>
          </a:p>
          <a:p>
            <a:r>
              <a:rPr lang="pt-BR" dirty="0" smtClean="0"/>
              <a:t>Agentes</a:t>
            </a:r>
          </a:p>
          <a:p>
            <a:r>
              <a:rPr lang="pt-BR" dirty="0" smtClean="0"/>
              <a:t>Lógica </a:t>
            </a:r>
            <a:r>
              <a:rPr lang="pt-BR" dirty="0" err="1" smtClean="0"/>
              <a:t>Fuzzy</a:t>
            </a:r>
            <a:endParaRPr lang="pt-BR" dirty="0" smtClean="0"/>
          </a:p>
          <a:p>
            <a:r>
              <a:rPr lang="pt-BR" dirty="0" smtClean="0"/>
              <a:t>Algoritmo Genéticos (evolutivos)</a:t>
            </a:r>
          </a:p>
          <a:p>
            <a:r>
              <a:rPr lang="pt-BR" dirty="0" smtClean="0"/>
              <a:t>Redes Neurais</a:t>
            </a:r>
          </a:p>
          <a:p>
            <a:r>
              <a:rPr lang="pt-BR" dirty="0" smtClean="0"/>
              <a:t>Árvore de Decisão</a:t>
            </a:r>
          </a:p>
          <a:p>
            <a:pPr marL="0" indent="0">
              <a:buNone/>
            </a:pPr>
            <a:endParaRPr lang="pt-BR" b="1" dirty="0" smtClean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06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Programação tradicional x Aprendizagem </a:t>
            </a:r>
            <a:r>
              <a:rPr lang="pt-BR" smtClean="0"/>
              <a:t>de Máquina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621" y="1959570"/>
            <a:ext cx="8677867" cy="380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048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Tarefas de Aprendizado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Regressão</a:t>
            </a:r>
            <a:endParaRPr lang="pt-BR" dirty="0"/>
          </a:p>
        </p:txBody>
      </p:sp>
      <p:pic>
        <p:nvPicPr>
          <p:cNvPr id="10242" name="Picture 2" descr="https://lh6.googleusercontent.com/4ABqfiZFkZlilsmX0BleeopWQZi8dAQURnSxQCREl74SRQgOD3shDLAIq4PbxqvwD_G7BxiGOpLxSRCHWXavILflvKJW7DvvcY3O_rDgvhZ6qJSagbRGN01mb9bqkPifoVru3vVNm0ZP-r1Es6FjDU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493" y="1187777"/>
            <a:ext cx="8806507" cy="584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48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Simulação interativa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developers.google.com/machine-learning/crash-course/linear-regression/parameters-exercise?hl=pt-br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33010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Tarefas de Aprendizado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Regressão</a:t>
            </a:r>
            <a:endParaRPr lang="pt-BR" dirty="0"/>
          </a:p>
        </p:txBody>
      </p:sp>
      <p:pic>
        <p:nvPicPr>
          <p:cNvPr id="9218" name="Picture 2" descr="Regressão Linear Simples | Rafael Sakur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383" y="1442300"/>
            <a:ext cx="7019041" cy="5264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46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identificar cogumelos venenosos?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6" name="Picture 2" descr="7 cogumelos venenosos que podem ser fatais | Sup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117" y="2007910"/>
            <a:ext cx="4483294" cy="3353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l a diferença entre cogumelo comestível, venenoso e alucinógeno? | Sup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798" y="1825625"/>
            <a:ext cx="3281312" cy="3993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1984312" y="6240544"/>
            <a:ext cx="2252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NÃO VENENOSO</a:t>
            </a:r>
            <a:endParaRPr lang="pt-BR" sz="24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7712696" y="6240544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VENENOSO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47817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Tarefas de Aprendizado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Classificação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920" y="1832957"/>
            <a:ext cx="7173326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23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Tarefas de Aprendizado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Preditivas: são aplicado a conjunto de dados de treinamento rotulados para induzir um modelo preditivo capaz de predizer o valor de seu atributo alvo.</a:t>
            </a:r>
          </a:p>
          <a:p>
            <a:endParaRPr lang="pt-BR" dirty="0" smtClean="0"/>
          </a:p>
          <a:p>
            <a:r>
              <a:rPr lang="pt-BR" dirty="0" smtClean="0"/>
              <a:t>Descritivas: extraem padrões dos valores preditivos de um conjunto de dados.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330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Tarefas de Aprendizado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752" y="1825625"/>
            <a:ext cx="8602275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89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Tarefas de Aprendizado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Agrupamento</a:t>
            </a:r>
            <a:endParaRPr lang="pt-BR" dirty="0"/>
          </a:p>
        </p:txBody>
      </p:sp>
      <p:pic>
        <p:nvPicPr>
          <p:cNvPr id="11266" name="Picture 2" descr="4 Agrupamento | Introdução ao Machine Lear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075" y="1825625"/>
            <a:ext cx="6900431" cy="4769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732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Tarefas de Aprendizado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Associações: procura padrões frequentes de associações entre os atributos de um conjunto de dados. (algoritmo </a:t>
            </a:r>
            <a:r>
              <a:rPr lang="pt-BR" dirty="0" err="1" smtClean="0"/>
              <a:t>apriori</a:t>
            </a:r>
            <a:r>
              <a:rPr lang="pt-BR" dirty="0" smtClean="0"/>
              <a:t> e </a:t>
            </a:r>
            <a:r>
              <a:rPr lang="pt-BR" dirty="0" err="1" smtClean="0"/>
              <a:t>eclat</a:t>
            </a:r>
            <a:r>
              <a:rPr lang="pt-BR" dirty="0" smtClean="0"/>
              <a:t>)</a:t>
            </a:r>
          </a:p>
          <a:p>
            <a:endParaRPr lang="pt-BR" dirty="0" smtClean="0"/>
          </a:p>
          <a:p>
            <a:r>
              <a:rPr lang="pt-BR" dirty="0" smtClean="0"/>
              <a:t>Sumarização: busca uma descrição simples e compacta para um conjunto de dados.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061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Hierarquia de aprendizado estendida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8" y="2411744"/>
            <a:ext cx="11774543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6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IA x Aprendizagem de Máquina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172" name="Picture 4" descr="https://eailab.labmax.org/wp-content/uploads/2024/07/image-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91" y="1333106"/>
            <a:ext cx="9951618" cy="533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5358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Indução de modelos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“Indução é um princípio de inferência que permite extrair conclusões genéricas a partir de um conjunto particular de exemplos”.</a:t>
            </a:r>
          </a:p>
          <a:p>
            <a:endParaRPr lang="pt-BR" dirty="0" smtClean="0"/>
          </a:p>
          <a:p>
            <a:r>
              <a:rPr lang="pt-BR" dirty="0" smtClean="0"/>
              <a:t>Os algoritmos devem ter capacidade de:</a:t>
            </a:r>
          </a:p>
          <a:p>
            <a:pPr lvl="1"/>
            <a:r>
              <a:rPr lang="pt-BR" dirty="0" smtClean="0"/>
              <a:t>lidar com dados imperfeitos</a:t>
            </a:r>
          </a:p>
          <a:p>
            <a:pPr lvl="1"/>
            <a:r>
              <a:rPr lang="pt-BR" dirty="0" smtClean="0"/>
              <a:t>Boa capacidade de generalização</a:t>
            </a:r>
          </a:p>
          <a:p>
            <a:pPr lvl="1"/>
            <a:endParaRPr lang="pt-BR" dirty="0"/>
          </a:p>
          <a:p>
            <a:r>
              <a:rPr lang="pt-BR" dirty="0" smtClean="0"/>
              <a:t>A generalização pode está associada ao conjunto de dados de treinamento:</a:t>
            </a:r>
          </a:p>
          <a:p>
            <a:pPr lvl="1"/>
            <a:r>
              <a:rPr lang="pt-BR" dirty="0" err="1" smtClean="0"/>
              <a:t>Underfitting</a:t>
            </a:r>
            <a:r>
              <a:rPr lang="pt-BR" dirty="0" smtClean="0"/>
              <a:t> (</a:t>
            </a:r>
            <a:r>
              <a:rPr lang="pt-BR" dirty="0" err="1" smtClean="0"/>
              <a:t>subajuste</a:t>
            </a:r>
            <a:r>
              <a:rPr lang="pt-BR" dirty="0" smtClean="0"/>
              <a:t>)</a:t>
            </a:r>
          </a:p>
          <a:p>
            <a:pPr lvl="1"/>
            <a:r>
              <a:rPr lang="pt-BR" dirty="0" err="1" smtClean="0"/>
              <a:t>Overfitting</a:t>
            </a:r>
            <a:r>
              <a:rPr lang="pt-BR" dirty="0" smtClean="0"/>
              <a:t> (</a:t>
            </a:r>
            <a:r>
              <a:rPr lang="pt-BR" dirty="0" err="1" smtClean="0"/>
              <a:t>superajustamento</a:t>
            </a:r>
            <a:r>
              <a:rPr lang="pt-BR" dirty="0" smtClean="0"/>
              <a:t>)</a:t>
            </a:r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544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Indução de modelos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 smtClean="0"/>
              <a:t>Underfitting</a:t>
            </a:r>
            <a:r>
              <a:rPr lang="pt-BR" dirty="0" smtClean="0"/>
              <a:t>  e </a:t>
            </a:r>
            <a:r>
              <a:rPr lang="pt-BR" dirty="0" err="1" smtClean="0"/>
              <a:t>Overfitting</a:t>
            </a: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12290" name="Picture 2" descr="Degree 1 MSE = 4.08e-01(+/- 4.25e-01), Degree 4 MSE = 4.32e-02(+/- 7.08e-02), Degree 15 MSE = 1.82e+08(+/- 5.46e+08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4400" y="2427402"/>
            <a:ext cx="13335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37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Viés indutivo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Dados x Algoritmo/representação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31" y="2954147"/>
            <a:ext cx="11775315" cy="250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922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Viés indutivo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O </a:t>
            </a:r>
            <a:r>
              <a:rPr lang="pt-BR" dirty="0"/>
              <a:t>viés indutivo é uma ferramenta poderosa que ajuda os algoritmos de aprendizado de máquina a aprenderem e generalizarem, mas também pode levar a resultados enviesados se não for cuidadosamente considerado e ajustado aos dados e ao problema </a:t>
            </a:r>
            <a:r>
              <a:rPr lang="pt-BR" dirty="0" smtClean="0"/>
              <a:t>específico.</a:t>
            </a:r>
          </a:p>
          <a:p>
            <a:r>
              <a:rPr lang="pt-BR" b="1" dirty="0"/>
              <a:t>Redes neurais</a:t>
            </a:r>
            <a:r>
              <a:rPr lang="pt-BR" dirty="0" smtClean="0"/>
              <a:t>: A </a:t>
            </a:r>
            <a:r>
              <a:rPr lang="pt-BR" dirty="0"/>
              <a:t>arquitetura de uma rede neural, com suas camadas e funções de ativação, já implica um viés indutivo, sugerindo que a relação entre entrada e saída pode ser capturada por transformações não lineares. </a:t>
            </a:r>
            <a:endParaRPr lang="pt-BR" dirty="0" smtClean="0"/>
          </a:p>
          <a:p>
            <a:r>
              <a:rPr lang="pt-BR" b="1" dirty="0" smtClean="0"/>
              <a:t>Regressão </a:t>
            </a:r>
            <a:r>
              <a:rPr lang="pt-BR" b="1" dirty="0"/>
              <a:t>linear</a:t>
            </a:r>
            <a:r>
              <a:rPr lang="pt-BR" dirty="0" smtClean="0"/>
              <a:t>: A </a:t>
            </a:r>
            <a:r>
              <a:rPr lang="pt-BR" dirty="0"/>
              <a:t>suposição de que a relação entre variáveis é linear é um viés indutivo, pois o modelo tenta encontrar uma linha reta que melhor se ajuste aos dados. </a:t>
            </a:r>
            <a:endParaRPr lang="pt-BR" dirty="0" smtClean="0"/>
          </a:p>
          <a:p>
            <a:r>
              <a:rPr lang="pt-BR" b="1" dirty="0" smtClean="0"/>
              <a:t>Máquinas </a:t>
            </a:r>
            <a:r>
              <a:rPr lang="pt-BR" b="1" dirty="0"/>
              <a:t>de Vetor de Suporte (SVM</a:t>
            </a:r>
            <a:r>
              <a:rPr lang="pt-BR" b="1" dirty="0" smtClean="0"/>
              <a:t>)</a:t>
            </a:r>
            <a:r>
              <a:rPr lang="pt-BR" dirty="0" smtClean="0"/>
              <a:t>: A </a:t>
            </a:r>
            <a:r>
              <a:rPr lang="pt-BR" dirty="0"/>
              <a:t>busca por um hiperplano que maximize a margem entre classes é um viés indutivo, indicando a preferência por classificações com separações claras.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65910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Linguagens (ambientes) de programação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4252274" cy="4351338"/>
          </a:xfrm>
        </p:spPr>
        <p:txBody>
          <a:bodyPr>
            <a:normAutofit fontScale="85000" lnSpcReduction="20000"/>
          </a:bodyPr>
          <a:lstStyle/>
          <a:p>
            <a:r>
              <a:rPr lang="pt-BR" dirty="0" smtClean="0"/>
              <a:t>LISP, Prolog, ...</a:t>
            </a:r>
          </a:p>
          <a:p>
            <a:r>
              <a:rPr lang="pt-BR" dirty="0" smtClean="0"/>
              <a:t>Fortran, C, C++</a:t>
            </a:r>
          </a:p>
          <a:p>
            <a:r>
              <a:rPr lang="pt-BR" dirty="0" err="1" smtClean="0"/>
              <a:t>Matlab</a:t>
            </a:r>
            <a:r>
              <a:rPr lang="pt-BR" dirty="0" smtClean="0"/>
              <a:t>, </a:t>
            </a:r>
            <a:r>
              <a:rPr lang="pt-BR" dirty="0" err="1" smtClean="0"/>
              <a:t>Octave</a:t>
            </a:r>
            <a:r>
              <a:rPr lang="pt-BR" dirty="0" smtClean="0"/>
              <a:t>, ...</a:t>
            </a:r>
          </a:p>
          <a:p>
            <a:r>
              <a:rPr lang="pt-BR" dirty="0" smtClean="0"/>
              <a:t>....</a:t>
            </a:r>
          </a:p>
          <a:p>
            <a:r>
              <a:rPr lang="pt-BR" dirty="0" smtClean="0"/>
              <a:t>Linguagem R</a:t>
            </a:r>
          </a:p>
          <a:p>
            <a:r>
              <a:rPr lang="pt-BR" dirty="0" smtClean="0"/>
              <a:t>Linguagem Julia</a:t>
            </a:r>
          </a:p>
          <a:p>
            <a:r>
              <a:rPr lang="pt-BR" dirty="0" err="1" smtClean="0"/>
              <a:t>PyTorchd</a:t>
            </a:r>
            <a:endParaRPr lang="pt-BR" dirty="0" smtClean="0"/>
          </a:p>
          <a:p>
            <a:r>
              <a:rPr lang="pt-BR" dirty="0" err="1" smtClean="0"/>
              <a:t>TensorFlow</a:t>
            </a:r>
            <a:endParaRPr lang="pt-BR" dirty="0" smtClean="0"/>
          </a:p>
          <a:p>
            <a:r>
              <a:rPr lang="pt-BR" dirty="0" err="1" smtClean="0"/>
              <a:t>Keras</a:t>
            </a:r>
            <a:endParaRPr lang="pt-BR" dirty="0"/>
          </a:p>
          <a:p>
            <a:r>
              <a:rPr lang="pt-BR" dirty="0" err="1" smtClean="0"/>
              <a:t>Scikit-Learn</a:t>
            </a:r>
            <a:endParaRPr lang="pt-BR" dirty="0" smtClean="0"/>
          </a:p>
          <a:p>
            <a:r>
              <a:rPr lang="pt-BR" dirty="0" err="1" smtClean="0"/>
              <a:t>Amazon</a:t>
            </a:r>
            <a:r>
              <a:rPr lang="pt-BR" dirty="0" smtClean="0"/>
              <a:t> Web Services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6347382" y="3708430"/>
            <a:ext cx="429548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smtClean="0"/>
              <a:t>Bibliotecas auxiliares em Python:</a:t>
            </a:r>
          </a:p>
          <a:p>
            <a:pPr marL="342900" indent="-342900">
              <a:buAutoNum type="arabicPeriod"/>
            </a:pPr>
            <a:r>
              <a:rPr lang="pt-BR" b="1" dirty="0" err="1" smtClean="0"/>
              <a:t>NumPy</a:t>
            </a:r>
            <a:r>
              <a:rPr lang="pt-BR" b="1" dirty="0" smtClean="0"/>
              <a:t>: biblioteca para computação numérica.</a:t>
            </a:r>
          </a:p>
          <a:p>
            <a:pPr marL="342900" indent="-342900">
              <a:buAutoNum type="arabicPeriod"/>
            </a:pPr>
            <a:r>
              <a:rPr lang="pt-BR" b="1" dirty="0" smtClean="0"/>
              <a:t>Pandas</a:t>
            </a:r>
            <a:r>
              <a:rPr lang="pt-BR" dirty="0" smtClean="0"/>
              <a:t>: biblioteca para manipulação de dados em Python.3</a:t>
            </a:r>
          </a:p>
          <a:p>
            <a:pPr marL="342900" indent="-342900">
              <a:buAutoNum type="arabicPeriod"/>
            </a:pPr>
            <a:r>
              <a:rPr lang="pt-BR" b="1" dirty="0" err="1" smtClean="0"/>
              <a:t>Matplotlib</a:t>
            </a:r>
            <a:r>
              <a:rPr lang="pt-BR" dirty="0" smtClean="0"/>
              <a:t>: biblioteca para visualização de dados</a:t>
            </a:r>
          </a:p>
          <a:p>
            <a:pPr marL="342900" indent="-342900">
              <a:buAutoNum type="arabicPeriod"/>
            </a:pPr>
            <a:r>
              <a:rPr lang="pt-BR" dirty="0" smtClean="0"/>
              <a:t> </a:t>
            </a:r>
            <a:r>
              <a:rPr lang="pt-BR" b="1" dirty="0" err="1" smtClean="0"/>
              <a:t>Seaborn</a:t>
            </a:r>
            <a:r>
              <a:rPr lang="pt-BR" dirty="0" smtClean="0"/>
              <a:t>: biblioteca para visualização de dados estatísticos.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675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086838258D66E4AB5189C9A3CE00C2C" ma:contentTypeVersion="0" ma:contentTypeDescription="Crie um novo documento." ma:contentTypeScope="" ma:versionID="51efb8b4498e4d9da3883d6679cf1d2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3BEA1C3-21F7-4ED2-A4C9-88619B3D8450}"/>
</file>

<file path=customXml/itemProps2.xml><?xml version="1.0" encoding="utf-8"?>
<ds:datastoreItem xmlns:ds="http://schemas.openxmlformats.org/officeDocument/2006/customXml" ds:itemID="{F7821451-80A4-4A68-888B-EB2DB4016FA9}"/>
</file>

<file path=customXml/itemProps3.xml><?xml version="1.0" encoding="utf-8"?>
<ds:datastoreItem xmlns:ds="http://schemas.openxmlformats.org/officeDocument/2006/customXml" ds:itemID="{B704C186-5D9B-4A10-B32C-047221517CFC}"/>
</file>

<file path=docProps/app.xml><?xml version="1.0" encoding="utf-8"?>
<Properties xmlns="http://schemas.openxmlformats.org/officeDocument/2006/extended-properties" xmlns:vt="http://schemas.openxmlformats.org/officeDocument/2006/docPropsVTypes">
  <TotalTime>1526</TotalTime>
  <Words>1536</Words>
  <Application>Microsoft Office PowerPoint</Application>
  <PresentationFormat>Widescreen</PresentationFormat>
  <Paragraphs>272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Calibri Light</vt:lpstr>
      <vt:lpstr>Times New Roman</vt:lpstr>
      <vt:lpstr>Tema do Office</vt:lpstr>
      <vt:lpstr>APRENDIZAGEM DE MÁQUINA</vt:lpstr>
      <vt:lpstr>MAQ-024 – APRENDIZAGEM DE MÁQUINA - PRESENCIAL - 80 Aulas </vt:lpstr>
      <vt:lpstr>Principais referências</vt:lpstr>
      <vt:lpstr>Calendário Acadêmico</vt:lpstr>
      <vt:lpstr>Apresentação do PowerPoint</vt:lpstr>
      <vt:lpstr>Apresentação do PowerPoint</vt:lpstr>
      <vt:lpstr>Avaliações</vt:lpstr>
      <vt:lpstr>Observações importantes</vt:lpstr>
      <vt:lpstr>O que é Inteligência Artificial?</vt:lpstr>
      <vt:lpstr>O que é inteligência?</vt:lpstr>
      <vt:lpstr>IA: Utilizado pela primeira vez em 1956</vt:lpstr>
      <vt:lpstr>IA: Definições</vt:lpstr>
      <vt:lpstr>Pensando como humano</vt:lpstr>
      <vt:lpstr>Agindo como humano</vt:lpstr>
      <vt:lpstr>Teste de Turing</vt:lpstr>
      <vt:lpstr>Pensando racionalmente</vt:lpstr>
      <vt:lpstr>Agindo racionalmente</vt:lpstr>
      <vt:lpstr>IA Limitada x Geral</vt:lpstr>
      <vt:lpstr>Histórico</vt:lpstr>
      <vt:lpstr>Histórico</vt:lpstr>
      <vt:lpstr>Documentário Aplha Go</vt:lpstr>
      <vt:lpstr>IA na cultura popular</vt:lpstr>
      <vt:lpstr>Aplicações</vt:lpstr>
      <vt:lpstr>Aprendizagem de Máquina</vt:lpstr>
      <vt:lpstr>IA x Aprendizagem de Máquina</vt:lpstr>
      <vt:lpstr>Programação tradicional x Aprendizagem de Máquina</vt:lpstr>
      <vt:lpstr>Tarefas de Aprendizado</vt:lpstr>
      <vt:lpstr>Simulação interativa</vt:lpstr>
      <vt:lpstr>Tarefas de Aprendizado</vt:lpstr>
      <vt:lpstr>Como identificar cogumelos venenosos?</vt:lpstr>
      <vt:lpstr>Tarefas de Aprendizado</vt:lpstr>
      <vt:lpstr>Tarefas de Aprendizado</vt:lpstr>
      <vt:lpstr>Tarefas de Aprendizado</vt:lpstr>
      <vt:lpstr>Tarefas de Aprendizado</vt:lpstr>
      <vt:lpstr>Tarefas de Aprendizado</vt:lpstr>
      <vt:lpstr>Hierarquia de aprendizado estendida</vt:lpstr>
      <vt:lpstr>IA x Aprendizagem de Máquina</vt:lpstr>
      <vt:lpstr>Indução de modelos</vt:lpstr>
      <vt:lpstr>Indução de modelos</vt:lpstr>
      <vt:lpstr>Viés indutivo</vt:lpstr>
      <vt:lpstr>Viés indutivo</vt:lpstr>
      <vt:lpstr>Linguagens (ambientes) de programação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Usuario</cp:lastModifiedBy>
  <cp:revision>40</cp:revision>
  <dcterms:created xsi:type="dcterms:W3CDTF">2025-05-19T21:00:10Z</dcterms:created>
  <dcterms:modified xsi:type="dcterms:W3CDTF">2026-08-04T21:55:43Z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0x0101000086838258D66E4AB5189C9A3CE00C2C</vt:lpwstr>
  </property>
</Properties>
</file>