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7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slides/slide46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82" r:id="rId18"/>
    <p:sldId id="273" r:id="rId19"/>
    <p:sldId id="272" r:id="rId20"/>
    <p:sldId id="276" r:id="rId21"/>
    <p:sldId id="274" r:id="rId22"/>
    <p:sldId id="275" r:id="rId23"/>
    <p:sldId id="278" r:id="rId24"/>
    <p:sldId id="283" r:id="rId25"/>
    <p:sldId id="281" r:id="rId26"/>
    <p:sldId id="284" r:id="rId27"/>
    <p:sldId id="285" r:id="rId28"/>
    <p:sldId id="279" r:id="rId29"/>
    <p:sldId id="280" r:id="rId30"/>
    <p:sldId id="287" r:id="rId31"/>
    <p:sldId id="291" r:id="rId32"/>
    <p:sldId id="292" r:id="rId33"/>
    <p:sldId id="290" r:id="rId34"/>
    <p:sldId id="288" r:id="rId35"/>
    <p:sldId id="289" r:id="rId36"/>
    <p:sldId id="293" r:id="rId37"/>
    <p:sldId id="294" r:id="rId38"/>
    <p:sldId id="296" r:id="rId39"/>
    <p:sldId id="297" r:id="rId40"/>
    <p:sldId id="310" r:id="rId41"/>
    <p:sldId id="309" r:id="rId42"/>
    <p:sldId id="311" r:id="rId43"/>
    <p:sldId id="300" r:id="rId44"/>
    <p:sldId id="301" r:id="rId45"/>
    <p:sldId id="302" r:id="rId46"/>
    <p:sldId id="303" r:id="rId47"/>
    <p:sldId id="304" r:id="rId48"/>
    <p:sldId id="305" r:id="rId49"/>
    <p:sldId id="308" r:id="rId50"/>
    <p:sldId id="313" r:id="rId51"/>
    <p:sldId id="306" r:id="rId52"/>
    <p:sldId id="315" r:id="rId53"/>
    <p:sldId id="314" r:id="rId54"/>
    <p:sldId id="316" r:id="rId55"/>
    <p:sldId id="317" r:id="rId56"/>
    <p:sldId id="318" r:id="rId57"/>
    <p:sldId id="319" r:id="rId58"/>
    <p:sldId id="320" r:id="rId59"/>
    <p:sldId id="307" r:id="rId60"/>
    <p:sldId id="312" r:id="rId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512FCF-90E3-BC10-AA0D-90472780A4A6}" v="2" dt="2025-07-02T17:30:25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037" autoAdjust="0"/>
  </p:normalViewPr>
  <p:slideViewPr>
    <p:cSldViewPr snapToGrid="0">
      <p:cViewPr varScale="1">
        <p:scale>
          <a:sx n="58" d="100"/>
          <a:sy n="58" d="100"/>
        </p:scale>
        <p:origin x="9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presProps" Target="presProps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69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TOSS HOFFMANN" userId="S::leandro.hoffmann@fatec.sp.gov.br::44b209fa-a019-4648-bc7a-d5844cd98508" providerId="AD" clId="Web-{51512FCF-90E3-BC10-AA0D-90472780A4A6}"/>
    <pc:docChg chg="modSld">
      <pc:chgData name="LEANDRO TOSS HOFFMANN" userId="S::leandro.hoffmann@fatec.sp.gov.br::44b209fa-a019-4648-bc7a-d5844cd98508" providerId="AD" clId="Web-{51512FCF-90E3-BC10-AA0D-90472780A4A6}" dt="2025-07-02T17:30:23.832" v="0" actId="20577"/>
      <pc:docMkLst>
        <pc:docMk/>
      </pc:docMkLst>
      <pc:sldChg chg="modSp">
        <pc:chgData name="LEANDRO TOSS HOFFMANN" userId="S::leandro.hoffmann@fatec.sp.gov.br::44b209fa-a019-4648-bc7a-d5844cd98508" providerId="AD" clId="Web-{51512FCF-90E3-BC10-AA0D-90472780A4A6}" dt="2025-07-02T17:30:23.832" v="0" actId="20577"/>
        <pc:sldMkLst>
          <pc:docMk/>
          <pc:sldMk cId="2816842216" sldId="292"/>
        </pc:sldMkLst>
        <pc:spChg chg="mod">
          <ac:chgData name="LEANDRO TOSS HOFFMANN" userId="S::leandro.hoffmann@fatec.sp.gov.br::44b209fa-a019-4648-bc7a-d5844cd98508" providerId="AD" clId="Web-{51512FCF-90E3-BC10-AA0D-90472780A4A6}" dt="2025-07-02T17:30:23.832" v="0" actId="20577"/>
          <ac:spMkLst>
            <pc:docMk/>
            <pc:sldMk cId="2816842216" sldId="29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34DE0-CDDB-45C7-8D2F-1AAA1E8DB259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21041-D763-445B-B590-81E59FFC22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6386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https://www.youtube.com/watch?v=dToBP2UL9FI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C21041-D763-445B-B590-81E59FFC2243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127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https://www.youtube.com/watch?v=dToBP2UL9FI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C21041-D763-445B-B590-81E59FFC2243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852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747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567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58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7745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41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59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12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08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34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78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340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127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archive.ics.uci.edu/dataset/53/iris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53/iris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-graph-gallery.com/404-dendrogram-with-heat-ma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stable/user_guide/visualization.html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Análise de Dados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APRENDIZAGEM DE MÁQUINA (MAQ-024)</a:t>
            </a:r>
          </a:p>
        </p:txBody>
      </p:sp>
    </p:spTree>
    <p:extLst>
      <p:ext uri="{BB962C8B-B14F-4D97-AF65-F5344CB8AC3E}">
        <p14:creationId xmlns:p14="http://schemas.microsoft.com/office/powerpoint/2010/main" val="315883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Análise de características de um conjunto de dados que permite encontrar padrões e tendências</a:t>
            </a:r>
          </a:p>
          <a:p>
            <a:r>
              <a:rPr lang="pt-BR" dirty="0"/>
              <a:t>Aplicação de fórmulas estatísticas (estatística descritiva)</a:t>
            </a:r>
          </a:p>
          <a:p>
            <a:r>
              <a:rPr lang="pt-BR" dirty="0"/>
              <a:t>Uso de gráficos para visualização dessas informações</a:t>
            </a:r>
          </a:p>
        </p:txBody>
      </p:sp>
    </p:spTree>
    <p:extLst>
      <p:ext uri="{BB962C8B-B14F-4D97-AF65-F5344CB8AC3E}">
        <p14:creationId xmlns:p14="http://schemas.microsoft.com/office/powerpoint/2010/main" val="313940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40106"/>
            <a:ext cx="10515600" cy="1325563"/>
          </a:xfrm>
        </p:spPr>
        <p:txBody>
          <a:bodyPr/>
          <a:lstStyle/>
          <a:p>
            <a:r>
              <a:rPr lang="pt-BR" dirty="0"/>
              <a:t>Conjunto de dados representados por uma matriz de objetos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 </a:t>
            </a:r>
            <a:r>
              <a:rPr lang="pt-BR" b="1" dirty="0"/>
              <a:t>atributo</a:t>
            </a:r>
            <a:r>
              <a:rPr lang="pt-BR" dirty="0"/>
              <a:t> é um conjunto de eixos ortogonais</a:t>
            </a:r>
          </a:p>
          <a:p>
            <a:r>
              <a:rPr lang="pt-BR" dirty="0"/>
              <a:t>Cada objeto um ponto no espaço de objetos de dimensão </a:t>
            </a:r>
            <a:r>
              <a:rPr lang="pt-BR" i="1" dirty="0"/>
              <a:t>d.</a:t>
            </a:r>
          </a:p>
        </p:txBody>
      </p:sp>
      <p:pic>
        <p:nvPicPr>
          <p:cNvPr id="3074" name="Picture 2" descr="Capítulo 6 Visualização de dados | Análises Ecológicas no 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9"/>
          <a:stretch/>
        </p:blipFill>
        <p:spPr bwMode="auto">
          <a:xfrm>
            <a:off x="325257" y="2865748"/>
            <a:ext cx="5406240" cy="360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2196446" y="6488668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dimensões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542257" y="6488668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dimensões</a:t>
            </a:r>
          </a:p>
        </p:txBody>
      </p:sp>
      <p:pic>
        <p:nvPicPr>
          <p:cNvPr id="3076" name="Picture 4" descr="O kit de ferramentas mplot3d_Matplotlib - Visualização com Pytho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8" t="14996" r="12224" b="7066"/>
          <a:stretch/>
        </p:blipFill>
        <p:spPr bwMode="auto">
          <a:xfrm>
            <a:off x="7317170" y="2673586"/>
            <a:ext cx="3817855" cy="356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41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dados </a:t>
            </a:r>
            <a:r>
              <a:rPr lang="pt-BR" i="1" dirty="0"/>
              <a:t>hospital</a:t>
            </a:r>
            <a:r>
              <a:rPr lang="pt-BR" dirty="0"/>
              <a:t> e seus atributos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328422"/>
            <a:ext cx="12192000" cy="33038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79109" y="6441534"/>
            <a:ext cx="8364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/>
              <a:t>Fonte: Inteligência Artificial – uma abordagem de aprendizado de máquina, </a:t>
            </a:r>
            <a:r>
              <a:rPr lang="pt-BR" sz="1600" i="1" dirty="0" err="1"/>
              <a:t>Faceli</a:t>
            </a:r>
            <a:r>
              <a:rPr lang="pt-BR" sz="1600" i="1" dirty="0"/>
              <a:t> et at., LTC, 2024.</a:t>
            </a:r>
          </a:p>
        </p:txBody>
      </p:sp>
    </p:spTree>
    <p:extLst>
      <p:ext uri="{BB962C8B-B14F-4D97-AF65-F5344CB8AC3E}">
        <p14:creationId xmlns:p14="http://schemas.microsoft.com/office/powerpoint/2010/main" val="329401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dados </a:t>
            </a:r>
            <a:r>
              <a:rPr lang="pt-BR" i="1" dirty="0"/>
              <a:t>hospital</a:t>
            </a:r>
            <a:r>
              <a:rPr lang="pt-BR" dirty="0"/>
              <a:t> e seus atributos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328422"/>
            <a:ext cx="12192000" cy="33038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79109" y="6441534"/>
            <a:ext cx="8364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/>
              <a:t>Fonte: Inteligência Artificial – uma abordagem de aprendizado de máquina, </a:t>
            </a:r>
            <a:r>
              <a:rPr lang="pt-BR" sz="1600" i="1" dirty="0" err="1"/>
              <a:t>Faceli</a:t>
            </a:r>
            <a:r>
              <a:rPr lang="pt-BR" sz="1600" i="1" dirty="0"/>
              <a:t> et at., LTC, 2024.</a:t>
            </a:r>
          </a:p>
        </p:txBody>
      </p:sp>
      <p:sp>
        <p:nvSpPr>
          <p:cNvPr id="3" name="Retângulo 2"/>
          <p:cNvSpPr/>
          <p:nvPr/>
        </p:nvSpPr>
        <p:spPr>
          <a:xfrm>
            <a:off x="0" y="1875934"/>
            <a:ext cx="10133814" cy="3968685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3019105" y="1931395"/>
            <a:ext cx="255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ATRIBUTOS DE ENTRADA</a:t>
            </a:r>
          </a:p>
        </p:txBody>
      </p:sp>
    </p:spTree>
    <p:extLst>
      <p:ext uri="{BB962C8B-B14F-4D97-AF65-F5344CB8AC3E}">
        <p14:creationId xmlns:p14="http://schemas.microsoft.com/office/powerpoint/2010/main" val="182956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dados </a:t>
            </a:r>
            <a:r>
              <a:rPr lang="pt-BR" i="1" dirty="0"/>
              <a:t>hospital</a:t>
            </a:r>
            <a:r>
              <a:rPr lang="pt-BR" dirty="0"/>
              <a:t> e seus atributos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328422"/>
            <a:ext cx="12192000" cy="33038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79109" y="6441534"/>
            <a:ext cx="8364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/>
              <a:t>Fonte: Inteligência Artificial – uma abordagem de aprendizado de máquina, </a:t>
            </a:r>
            <a:r>
              <a:rPr lang="pt-BR" sz="1600" i="1" dirty="0" err="1"/>
              <a:t>Faceli</a:t>
            </a:r>
            <a:r>
              <a:rPr lang="pt-BR" sz="1600" i="1" dirty="0"/>
              <a:t> et at., LTC, 2024.</a:t>
            </a:r>
          </a:p>
        </p:txBody>
      </p:sp>
      <p:sp>
        <p:nvSpPr>
          <p:cNvPr id="3" name="Retângulo 2"/>
          <p:cNvSpPr/>
          <p:nvPr/>
        </p:nvSpPr>
        <p:spPr>
          <a:xfrm>
            <a:off x="0" y="1875934"/>
            <a:ext cx="10133814" cy="3968685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3019105" y="1931395"/>
            <a:ext cx="4007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ATRIBUTOS DE ENTRADA (ou preditivos)</a:t>
            </a:r>
          </a:p>
        </p:txBody>
      </p:sp>
      <p:sp>
        <p:nvSpPr>
          <p:cNvPr id="9" name="Retângulo 8"/>
          <p:cNvSpPr/>
          <p:nvPr/>
        </p:nvSpPr>
        <p:spPr>
          <a:xfrm>
            <a:off x="10190374" y="1875934"/>
            <a:ext cx="1963917" cy="3968685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10331613" y="1917512"/>
            <a:ext cx="1713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ATRIBUTO ALVO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0466024" y="5935458"/>
            <a:ext cx="122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(RÓTULOS)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73615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Quantitativos (numéricos)</a:t>
            </a:r>
          </a:p>
          <a:p>
            <a:pPr lvl="1"/>
            <a:r>
              <a:rPr lang="pt-BR" dirty="0"/>
              <a:t>Exemplo: {23, 45, 12}</a:t>
            </a:r>
          </a:p>
          <a:p>
            <a:pPr lvl="1"/>
            <a:r>
              <a:rPr lang="pt-BR" dirty="0"/>
              <a:t>Contínuos ou discretos</a:t>
            </a:r>
          </a:p>
          <a:p>
            <a:pPr lvl="1"/>
            <a:r>
              <a:rPr lang="pt-BR" dirty="0"/>
              <a:t>Possuem unidade associada</a:t>
            </a:r>
          </a:p>
          <a:p>
            <a:endParaRPr lang="pt-BR" dirty="0"/>
          </a:p>
          <a:p>
            <a:r>
              <a:rPr lang="pt-BR" dirty="0"/>
              <a:t>Qualitativos (ou categóricos, simbólicos)</a:t>
            </a:r>
          </a:p>
          <a:p>
            <a:pPr lvl="1"/>
            <a:r>
              <a:rPr lang="pt-BR" dirty="0"/>
              <a:t>Exemplo: {pequeno, médio, grande}</a:t>
            </a:r>
          </a:p>
          <a:p>
            <a:pPr lvl="1"/>
            <a:r>
              <a:rPr lang="pt-BR" dirty="0"/>
              <a:t>Pode ser ordenados, mas não são aplicadas operações numéricas</a:t>
            </a:r>
          </a:p>
        </p:txBody>
      </p:sp>
    </p:spTree>
    <p:extLst>
      <p:ext uri="{BB962C8B-B14F-4D97-AF65-F5344CB8AC3E}">
        <p14:creationId xmlns:p14="http://schemas.microsoft.com/office/powerpoint/2010/main" val="150812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328422"/>
            <a:ext cx="12192000" cy="33038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79109" y="6441534"/>
            <a:ext cx="8364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/>
              <a:t>Fonte: Inteligência Artificial – uma abordagem de aprendizado de máquina, </a:t>
            </a:r>
            <a:r>
              <a:rPr lang="pt-BR" sz="1600" i="1" dirty="0" err="1"/>
              <a:t>Faceli</a:t>
            </a:r>
            <a:r>
              <a:rPr lang="pt-BR" sz="1600" i="1" dirty="0"/>
              <a:t> et at., LTC, 2024.</a:t>
            </a:r>
          </a:p>
        </p:txBody>
      </p:sp>
      <p:sp>
        <p:nvSpPr>
          <p:cNvPr id="9" name="Retângulo 8"/>
          <p:cNvSpPr/>
          <p:nvPr/>
        </p:nvSpPr>
        <p:spPr>
          <a:xfrm>
            <a:off x="7145517" y="2026763"/>
            <a:ext cx="1150072" cy="364203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6346843" y="1541328"/>
            <a:ext cx="2747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QUANTITATIVO CONTÍNUO</a:t>
            </a:r>
          </a:p>
        </p:txBody>
      </p:sp>
    </p:spTree>
    <p:extLst>
      <p:ext uri="{BB962C8B-B14F-4D97-AF65-F5344CB8AC3E}">
        <p14:creationId xmlns:p14="http://schemas.microsoft.com/office/powerpoint/2010/main" val="183538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328422"/>
            <a:ext cx="12192000" cy="33038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79109" y="6441534"/>
            <a:ext cx="8364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/>
              <a:t>Fonte: Inteligência Artificial – uma abordagem de aprendizado de máquina, </a:t>
            </a:r>
            <a:r>
              <a:rPr lang="pt-BR" sz="1600" i="1" dirty="0" err="1"/>
              <a:t>Faceli</a:t>
            </a:r>
            <a:r>
              <a:rPr lang="pt-BR" sz="1600" i="1" dirty="0"/>
              <a:t> et at., LTC, 2024.</a:t>
            </a:r>
          </a:p>
        </p:txBody>
      </p:sp>
      <p:sp>
        <p:nvSpPr>
          <p:cNvPr id="9" name="Retângulo 8"/>
          <p:cNvSpPr/>
          <p:nvPr/>
        </p:nvSpPr>
        <p:spPr>
          <a:xfrm>
            <a:off x="3440783" y="2083324"/>
            <a:ext cx="1008669" cy="364203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3283278" y="1725994"/>
            <a:ext cx="1465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QUALITATIVO</a:t>
            </a:r>
          </a:p>
        </p:txBody>
      </p:sp>
    </p:spTree>
    <p:extLst>
      <p:ext uri="{BB962C8B-B14F-4D97-AF65-F5344CB8AC3E}">
        <p14:creationId xmlns:p14="http://schemas.microsoft.com/office/powerpoint/2010/main" val="366261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328422"/>
            <a:ext cx="12192000" cy="33038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79109" y="6441534"/>
            <a:ext cx="8364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/>
              <a:t>Fonte: Inteligência Artificial – uma abordagem de aprendizado de máquina, </a:t>
            </a:r>
            <a:r>
              <a:rPr lang="pt-BR" sz="1600" i="1" dirty="0" err="1"/>
              <a:t>Faceli</a:t>
            </a:r>
            <a:r>
              <a:rPr lang="pt-BR" sz="1600" i="1" dirty="0"/>
              <a:t> et at., LTC, 2024.</a:t>
            </a:r>
          </a:p>
        </p:txBody>
      </p:sp>
      <p:sp>
        <p:nvSpPr>
          <p:cNvPr id="9" name="Retângulo 8"/>
          <p:cNvSpPr/>
          <p:nvPr/>
        </p:nvSpPr>
        <p:spPr>
          <a:xfrm>
            <a:off x="1206631" y="2029340"/>
            <a:ext cx="1140643" cy="364203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1044411" y="1675348"/>
            <a:ext cx="1465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QUALITATIVO</a:t>
            </a:r>
          </a:p>
        </p:txBody>
      </p:sp>
    </p:spTree>
    <p:extLst>
      <p:ext uri="{BB962C8B-B14F-4D97-AF65-F5344CB8AC3E}">
        <p14:creationId xmlns:p14="http://schemas.microsoft.com/office/powerpoint/2010/main" val="17242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328422"/>
            <a:ext cx="12192000" cy="33038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79109" y="6441534"/>
            <a:ext cx="8364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/>
              <a:t>Fonte: Inteligência Artificial – uma abordagem de aprendizado de máquina, </a:t>
            </a:r>
            <a:r>
              <a:rPr lang="pt-BR" sz="1600" i="1" dirty="0" err="1"/>
              <a:t>Faceli</a:t>
            </a:r>
            <a:r>
              <a:rPr lang="pt-BR" sz="1600" i="1" dirty="0"/>
              <a:t> et at., LTC, 2024.</a:t>
            </a:r>
          </a:p>
        </p:txBody>
      </p:sp>
      <p:sp>
        <p:nvSpPr>
          <p:cNvPr id="9" name="Retângulo 8"/>
          <p:cNvSpPr/>
          <p:nvPr/>
        </p:nvSpPr>
        <p:spPr>
          <a:xfrm>
            <a:off x="4487159" y="2029340"/>
            <a:ext cx="980387" cy="364203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4126976" y="1572186"/>
            <a:ext cx="2747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QUANTITATIVO CONTÍNUO</a:t>
            </a:r>
          </a:p>
        </p:txBody>
      </p:sp>
    </p:spTree>
    <p:extLst>
      <p:ext uri="{BB962C8B-B14F-4D97-AF65-F5344CB8AC3E}">
        <p14:creationId xmlns:p14="http://schemas.microsoft.com/office/powerpoint/2010/main" val="281064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328422"/>
            <a:ext cx="12192000" cy="33038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79109" y="6441534"/>
            <a:ext cx="8364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/>
              <a:t>Fonte: Inteligência Artificial – uma abordagem de aprendizado de máquina, </a:t>
            </a:r>
            <a:r>
              <a:rPr lang="pt-BR" sz="1600" i="1" dirty="0" err="1"/>
              <a:t>Faceli</a:t>
            </a:r>
            <a:r>
              <a:rPr lang="pt-BR" sz="1600" i="1" dirty="0"/>
              <a:t> et at., LTC, 2024.</a:t>
            </a:r>
          </a:p>
        </p:txBody>
      </p:sp>
      <p:sp>
        <p:nvSpPr>
          <p:cNvPr id="9" name="Retângulo 8"/>
          <p:cNvSpPr/>
          <p:nvPr/>
        </p:nvSpPr>
        <p:spPr>
          <a:xfrm>
            <a:off x="8314442" y="2037356"/>
            <a:ext cx="980387" cy="364203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7430925" y="1617908"/>
            <a:ext cx="2629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QUANTITATIVO DISCRETO</a:t>
            </a:r>
          </a:p>
        </p:txBody>
      </p:sp>
    </p:spTree>
    <p:extLst>
      <p:ext uri="{BB962C8B-B14F-4D97-AF65-F5344CB8AC3E}">
        <p14:creationId xmlns:p14="http://schemas.microsoft.com/office/powerpoint/2010/main" val="384050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328422"/>
            <a:ext cx="12192000" cy="33038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79109" y="6441534"/>
            <a:ext cx="8364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/>
              <a:t>Fonte: Inteligência Artificial – uma abordagem de aprendizado de máquina, </a:t>
            </a:r>
            <a:r>
              <a:rPr lang="pt-BR" sz="1600" i="1" dirty="0" err="1"/>
              <a:t>Faceli</a:t>
            </a:r>
            <a:r>
              <a:rPr lang="pt-BR" sz="1600" i="1" dirty="0"/>
              <a:t> et at., LTC, 2024.</a:t>
            </a:r>
          </a:p>
        </p:txBody>
      </p:sp>
      <p:sp>
        <p:nvSpPr>
          <p:cNvPr id="9" name="Retângulo 8"/>
          <p:cNvSpPr/>
          <p:nvPr/>
        </p:nvSpPr>
        <p:spPr>
          <a:xfrm>
            <a:off x="1" y="1987240"/>
            <a:ext cx="1159495" cy="364203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-32480" y="1550755"/>
            <a:ext cx="1465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QUALITATIVO</a:t>
            </a:r>
          </a:p>
        </p:txBody>
      </p:sp>
    </p:spTree>
    <p:extLst>
      <p:ext uri="{BB962C8B-B14F-4D97-AF65-F5344CB8AC3E}">
        <p14:creationId xmlns:p14="http://schemas.microsoft.com/office/powerpoint/2010/main" val="35754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Escala dos atributos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7979"/>
          </a:xfrm>
        </p:spPr>
        <p:txBody>
          <a:bodyPr>
            <a:normAutofit lnSpcReduction="10000"/>
          </a:bodyPr>
          <a:lstStyle/>
          <a:p>
            <a:r>
              <a:rPr lang="pt-BR" dirty="0"/>
              <a:t>Nominais</a:t>
            </a:r>
          </a:p>
          <a:p>
            <a:pPr lvl="1"/>
            <a:r>
              <a:rPr lang="pt-BR" dirty="0"/>
              <a:t>Apenas nomes diferentes (operadores “==“, “!=“)</a:t>
            </a:r>
          </a:p>
          <a:p>
            <a:pPr lvl="1"/>
            <a:r>
              <a:rPr lang="pt-BR" dirty="0"/>
              <a:t>Exemplo, RG, CPF, número da conta no banco, CEP, cores</a:t>
            </a:r>
          </a:p>
          <a:p>
            <a:r>
              <a:rPr lang="pt-BR" dirty="0"/>
              <a:t>Ordinais</a:t>
            </a:r>
          </a:p>
          <a:p>
            <a:pPr lvl="1"/>
            <a:r>
              <a:rPr lang="pt-BR" dirty="0"/>
              <a:t>Valores podem ser ordenados (operadores “&lt;“, “&gt;”, “&lt;=“, “&gt;=“)</a:t>
            </a:r>
          </a:p>
          <a:p>
            <a:pPr lvl="1"/>
            <a:r>
              <a:rPr lang="pt-BR" dirty="0"/>
              <a:t>Hierarquia militar, avaliações </a:t>
            </a:r>
            <a:r>
              <a:rPr lang="pt-BR" dirty="0" err="1"/>
              <a:t>qualitat</a:t>
            </a:r>
            <a:r>
              <a:rPr lang="pt-BR" dirty="0"/>
              <a:t>. de temperaturas (frio, morno e quente)</a:t>
            </a:r>
          </a:p>
          <a:p>
            <a:r>
              <a:rPr lang="pt-BR" dirty="0"/>
              <a:t>Intervalares</a:t>
            </a:r>
          </a:p>
          <a:p>
            <a:pPr lvl="1"/>
            <a:r>
              <a:rPr lang="pt-BR" dirty="0"/>
              <a:t>Número que variam dentro de um intervalo</a:t>
            </a:r>
          </a:p>
          <a:p>
            <a:pPr lvl="1"/>
            <a:r>
              <a:rPr lang="pt-BR" dirty="0"/>
              <a:t>Exemplo: variação da temperatura em um dia entre 13 e 21 graus Celsius.</a:t>
            </a:r>
          </a:p>
          <a:p>
            <a:r>
              <a:rPr lang="pt-BR" dirty="0"/>
              <a:t>Racionais</a:t>
            </a:r>
          </a:p>
          <a:p>
            <a:pPr lvl="1"/>
            <a:r>
              <a:rPr lang="pt-BR" dirty="0"/>
              <a:t>Tem um significado absoluto (um zero de referência)</a:t>
            </a:r>
          </a:p>
          <a:p>
            <a:pPr lvl="1"/>
            <a:r>
              <a:rPr lang="pt-BR" dirty="0"/>
              <a:t>Exemplo, peso, idade</a:t>
            </a:r>
          </a:p>
        </p:txBody>
      </p:sp>
    </p:spTree>
    <p:extLst>
      <p:ext uri="{BB962C8B-B14F-4D97-AF65-F5344CB8AC3E}">
        <p14:creationId xmlns:p14="http://schemas.microsoft.com/office/powerpoint/2010/main" val="407465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Escala dos Atributos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856323"/>
            <a:ext cx="12192000" cy="330383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79109" y="6441534"/>
            <a:ext cx="8364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/>
              <a:t>Fonte: Inteligência Artificial – uma abordagem de aprendizado de máquina, </a:t>
            </a:r>
            <a:r>
              <a:rPr lang="pt-BR" sz="1600" i="1" dirty="0" err="1"/>
              <a:t>Faceli</a:t>
            </a:r>
            <a:r>
              <a:rPr lang="pt-BR" sz="1600" i="1" dirty="0"/>
              <a:t> et at., LTC, 2024.</a:t>
            </a:r>
          </a:p>
        </p:txBody>
      </p:sp>
      <p:sp>
        <p:nvSpPr>
          <p:cNvPr id="8" name="CaixaDeTexto 7"/>
          <p:cNvSpPr txBox="1"/>
          <p:nvPr/>
        </p:nvSpPr>
        <p:spPr>
          <a:xfrm rot="18178773">
            <a:off x="73184" y="2090943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NOMINAL</a:t>
            </a:r>
          </a:p>
        </p:txBody>
      </p:sp>
      <p:sp>
        <p:nvSpPr>
          <p:cNvPr id="10" name="CaixaDeTexto 9"/>
          <p:cNvSpPr txBox="1"/>
          <p:nvPr/>
        </p:nvSpPr>
        <p:spPr>
          <a:xfrm rot="18178773">
            <a:off x="1413361" y="2052780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NOMINAL</a:t>
            </a:r>
          </a:p>
        </p:txBody>
      </p:sp>
      <p:sp>
        <p:nvSpPr>
          <p:cNvPr id="12" name="CaixaDeTexto 11"/>
          <p:cNvSpPr txBox="1"/>
          <p:nvPr/>
        </p:nvSpPr>
        <p:spPr>
          <a:xfrm rot="18178773">
            <a:off x="2651609" y="2052780"/>
            <a:ext cx="1179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RACIONAL</a:t>
            </a:r>
          </a:p>
        </p:txBody>
      </p:sp>
      <p:sp>
        <p:nvSpPr>
          <p:cNvPr id="13" name="CaixaDeTexto 12"/>
          <p:cNvSpPr txBox="1"/>
          <p:nvPr/>
        </p:nvSpPr>
        <p:spPr>
          <a:xfrm rot="18178773">
            <a:off x="3533064" y="2067116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NOMINAL</a:t>
            </a:r>
          </a:p>
        </p:txBody>
      </p:sp>
      <p:sp>
        <p:nvSpPr>
          <p:cNvPr id="14" name="CaixaDeTexto 13"/>
          <p:cNvSpPr txBox="1"/>
          <p:nvPr/>
        </p:nvSpPr>
        <p:spPr>
          <a:xfrm rot="18178773">
            <a:off x="4578729" y="2090943"/>
            <a:ext cx="1179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RACIONAL</a:t>
            </a:r>
          </a:p>
        </p:txBody>
      </p:sp>
      <p:sp>
        <p:nvSpPr>
          <p:cNvPr id="15" name="CaixaDeTexto 14"/>
          <p:cNvSpPr txBox="1"/>
          <p:nvPr/>
        </p:nvSpPr>
        <p:spPr>
          <a:xfrm rot="18178773">
            <a:off x="5730718" y="2067116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NOMINAL</a:t>
            </a:r>
          </a:p>
        </p:txBody>
      </p:sp>
      <p:sp>
        <p:nvSpPr>
          <p:cNvPr id="16" name="CaixaDeTexto 15"/>
          <p:cNvSpPr txBox="1"/>
          <p:nvPr/>
        </p:nvSpPr>
        <p:spPr>
          <a:xfrm rot="18178773">
            <a:off x="7165555" y="1933617"/>
            <a:ext cx="1381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INTERVALAR</a:t>
            </a:r>
          </a:p>
        </p:txBody>
      </p:sp>
      <p:sp>
        <p:nvSpPr>
          <p:cNvPr id="17" name="CaixaDeTexto 16"/>
          <p:cNvSpPr txBox="1"/>
          <p:nvPr/>
        </p:nvSpPr>
        <p:spPr>
          <a:xfrm rot="18178773">
            <a:off x="8297302" y="2018495"/>
            <a:ext cx="1179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RACIONAL</a:t>
            </a:r>
          </a:p>
        </p:txBody>
      </p:sp>
      <p:sp>
        <p:nvSpPr>
          <p:cNvPr id="18" name="CaixaDeTexto 17"/>
          <p:cNvSpPr txBox="1"/>
          <p:nvPr/>
        </p:nvSpPr>
        <p:spPr>
          <a:xfrm rot="18178773">
            <a:off x="9185120" y="2079027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NOMINAL</a:t>
            </a:r>
          </a:p>
        </p:txBody>
      </p:sp>
      <p:sp>
        <p:nvSpPr>
          <p:cNvPr id="19" name="CaixaDeTexto 18"/>
          <p:cNvSpPr txBox="1"/>
          <p:nvPr/>
        </p:nvSpPr>
        <p:spPr>
          <a:xfrm rot="18178773">
            <a:off x="10698487" y="2144849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NOMINAL</a:t>
            </a:r>
          </a:p>
        </p:txBody>
      </p:sp>
    </p:spTree>
    <p:extLst>
      <p:ext uri="{BB962C8B-B14F-4D97-AF65-F5344CB8AC3E}">
        <p14:creationId xmlns:p14="http://schemas.microsoft.com/office/powerpoint/2010/main" val="53322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Exploração de Dados: medidas de estatística descritiva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2857107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Frequência</a:t>
            </a:r>
          </a:p>
          <a:p>
            <a:r>
              <a:rPr lang="pt-BR" dirty="0"/>
              <a:t>Tendência Central</a:t>
            </a:r>
          </a:p>
          <a:p>
            <a:r>
              <a:rPr lang="pt-BR" dirty="0"/>
              <a:t>Dispersão</a:t>
            </a:r>
          </a:p>
          <a:p>
            <a:r>
              <a:rPr lang="pt-BR" dirty="0"/>
              <a:t>Distribuição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sz="2600" dirty="0"/>
              <a:t>Ajudam na seleção de técnicas de pré-processamento e aprendizado.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098" name="Picture 2" descr="Distribuição Normal: O que é e como calcular? | Lab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456" y="1496611"/>
            <a:ext cx="8168294" cy="519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84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</a:t>
            </a:r>
            <a:r>
              <a:rPr lang="pt-BR" dirty="0" err="1"/>
              <a:t>Univariados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Medidas de Localidade</a:t>
            </a:r>
          </a:p>
          <a:p>
            <a:r>
              <a:rPr lang="pt-BR" dirty="0"/>
              <a:t>Medidas de Espalhamento</a:t>
            </a:r>
          </a:p>
          <a:p>
            <a:r>
              <a:rPr lang="pt-BR" dirty="0"/>
              <a:t>Medidas de Distribuição</a:t>
            </a:r>
          </a:p>
        </p:txBody>
      </p:sp>
    </p:spTree>
    <p:extLst>
      <p:ext uri="{BB962C8B-B14F-4D97-AF65-F5344CB8AC3E}">
        <p14:creationId xmlns:p14="http://schemas.microsoft.com/office/powerpoint/2010/main" val="63782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Localidade (ou tendência central)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Moda (dados simbólicos)</a:t>
            </a:r>
          </a:p>
          <a:p>
            <a:r>
              <a:rPr lang="pt-BR" dirty="0"/>
              <a:t>Mediana</a:t>
            </a:r>
          </a:p>
          <a:p>
            <a:r>
              <a:rPr lang="pt-BR" dirty="0"/>
              <a:t>Valor médio</a:t>
            </a:r>
          </a:p>
          <a:p>
            <a:r>
              <a:rPr lang="pt-BR" dirty="0"/>
              <a:t>Quartis e Percentis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12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Localidade (ou tendência central)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Valor médio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Sensível a </a:t>
            </a:r>
            <a:r>
              <a:rPr lang="pt-BR" i="1" dirty="0" err="1"/>
              <a:t>outliers</a:t>
            </a:r>
            <a:r>
              <a:rPr lang="pt-BR" dirty="0"/>
              <a:t>. Alternativa é usar médica truncada ou mediana.</a:t>
            </a:r>
          </a:p>
          <a:p>
            <a:pPr marL="0" indent="0">
              <a:buNone/>
            </a:pPr>
            <a:r>
              <a:rPr lang="pt-BR" dirty="0"/>
              <a:t>Bom apenas se valores são distribuídos simetricamente.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14340" name="Picture 4" descr="Grátis: Como funciona a média e o desvio padrão? – Questões Respondid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89" y="1872907"/>
            <a:ext cx="13716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87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Localidade (ou tendência central)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Valor médio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r>
              <a:rPr lang="pt-BR" dirty="0"/>
              <a:t>Suscetível a ruídos de </a:t>
            </a:r>
            <a:r>
              <a:rPr lang="pt-BR" i="1" dirty="0" err="1"/>
              <a:t>outliers</a:t>
            </a:r>
            <a:endParaRPr lang="pt-BR" i="1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14340" name="Picture 4" descr="Grátis: Como funciona a média e o desvio padrão? – Questões Respondid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89" y="1872907"/>
            <a:ext cx="13716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4350" name="Picture 14" descr="5 Ways to Find Outliers in Your Data - Statistics By Ji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741" y="2925599"/>
            <a:ext cx="5486400" cy="364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06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Localidade (ou tendência central)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4348" name="Picture 12" descr="Estatística descritiva usando o Python | by Thiago Dejesus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48672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 descr="mediana ilustr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569" y="3144339"/>
            <a:ext cx="5557068" cy="360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64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Localidade (ou tendência central)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Quartis e Percentis</a:t>
            </a:r>
          </a:p>
          <a:p>
            <a:pPr lvl="1"/>
            <a:r>
              <a:rPr lang="pt-BR" dirty="0"/>
              <a:t>Q1 (25%), Q2 (50%), etc..</a:t>
            </a:r>
          </a:p>
          <a:p>
            <a:pPr lvl="1"/>
            <a:r>
              <a:rPr lang="pt-BR" dirty="0"/>
              <a:t>P50 = </a:t>
            </a:r>
            <a:r>
              <a:rPr lang="pt-BR" dirty="0" smtClean="0"/>
              <a:t>Q2</a:t>
            </a:r>
          </a:p>
          <a:p>
            <a:pPr lvl="1"/>
            <a:endParaRPr lang="pt-BR" dirty="0"/>
          </a:p>
          <a:p>
            <a:r>
              <a:rPr lang="pt-BR" dirty="0" smtClean="0"/>
              <a:t>Dividem um conjunto de dados ordenados em quatro partes iguais, cada uma representando 25% da amostra.</a:t>
            </a:r>
          </a:p>
          <a:p>
            <a:r>
              <a:rPr lang="pt-BR" dirty="0" smtClean="0"/>
              <a:t>Ajudam a entender a dispersão e a tendência central dos dados.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5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Visualização </a:t>
            </a:r>
            <a:r>
              <a:rPr lang="pt-BR" i="1" dirty="0" err="1"/>
              <a:t>boxplot</a:t>
            </a:r>
            <a:r>
              <a:rPr lang="pt-BR" dirty="0"/>
              <a:t> e </a:t>
            </a:r>
            <a:r>
              <a:rPr lang="pt-BR" i="1" dirty="0" err="1"/>
              <a:t>whisker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9458" name="Picture 2" descr="Python Boxplot - How to create and interpret boxplots (also find outliers  and summarize distributions) - Machine Learning Pl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037" y="1399683"/>
            <a:ext cx="6763699" cy="605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45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Espalhamento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Intervalo</a:t>
            </a:r>
          </a:p>
          <a:p>
            <a:pPr lvl="1"/>
            <a:r>
              <a:rPr lang="pt-BR" dirty="0"/>
              <a:t>Intervalor(X) = </a:t>
            </a:r>
            <a:r>
              <a:rPr lang="pt-BR" dirty="0" err="1"/>
              <a:t>max</a:t>
            </a:r>
            <a:r>
              <a:rPr lang="pt-BR" dirty="0"/>
              <a:t>(X) – min(X)</a:t>
            </a:r>
          </a:p>
          <a:p>
            <a:endParaRPr lang="pt-BR" dirty="0"/>
          </a:p>
          <a:p>
            <a:r>
              <a:rPr lang="pt-BR" dirty="0"/>
              <a:t>Variância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Desvio padrão</a:t>
            </a:r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2532" name="Picture 4" descr="Variância e sua importância na estatística — para além da análise  descritiva | by Renata Torezani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909" y="3137897"/>
            <a:ext cx="42291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Você sabe o que é desvio padrão? Aprenda como calculá-lo!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2536" name="Picture 8" descr="Você sabe o que é desvio padrão? Aprenda como calculá-lo!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009" y="5077544"/>
            <a:ext cx="3045218" cy="143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21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Distribuição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Gráfico de pizza</a:t>
            </a:r>
          </a:p>
          <a:p>
            <a:r>
              <a:rPr lang="pt-BR" dirty="0"/>
              <a:t>Histograma</a:t>
            </a:r>
          </a:p>
          <a:p>
            <a:r>
              <a:rPr lang="pt-BR" dirty="0"/>
              <a:t>Obliquidade</a:t>
            </a:r>
          </a:p>
          <a:p>
            <a:r>
              <a:rPr lang="pt-BR" dirty="0"/>
              <a:t>Curtose</a:t>
            </a:r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36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Distribuição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Gráfico de pizza</a:t>
            </a:r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5604" name="Picture 4" descr="Gráfico de Pizza no Excel - Passo a Pass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457" y="2608131"/>
            <a:ext cx="6316143" cy="370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6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Distribuição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Histograma</a:t>
            </a:r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6626" name="Picture 2" descr="O que é Histograma? Quando usar? Como fazer um histograma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62" y="2093216"/>
            <a:ext cx="6414907" cy="462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48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- Conjunto de Dados </a:t>
            </a:r>
            <a:r>
              <a:rPr lang="pt-BR" dirty="0" err="1"/>
              <a:t>iris</a:t>
            </a:r>
            <a:r>
              <a:rPr lang="pt-BR" dirty="0"/>
              <a:t> (Fisher, 1936)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Disponível: </a:t>
            </a:r>
            <a:r>
              <a:rPr lang="pt-BR" dirty="0">
                <a:hlinkClick r:id="rId2"/>
              </a:rPr>
              <a:t>https://archive.ics.uci.edu/dataset/53/iris</a:t>
            </a:r>
            <a:r>
              <a:rPr lang="pt-BR" dirty="0"/>
              <a:t> </a:t>
            </a:r>
          </a:p>
          <a:p>
            <a:r>
              <a:rPr lang="pt-BR" dirty="0"/>
              <a:t>150 </a:t>
            </a:r>
            <a:r>
              <a:rPr lang="pt-BR" dirty="0" smtClean="0"/>
              <a:t>objetos (amostras)</a:t>
            </a:r>
            <a:endParaRPr lang="pt-BR" dirty="0"/>
          </a:p>
          <a:p>
            <a:r>
              <a:rPr lang="pt-BR" dirty="0"/>
              <a:t>4 atributos: tamanho da sépala e largura da sépala, tamanho e largura da pétala</a:t>
            </a:r>
          </a:p>
          <a:p>
            <a:endParaRPr lang="pt-BR" dirty="0"/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1506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009" y="3462980"/>
            <a:ext cx="6682489" cy="335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67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- Conjunto de Dados </a:t>
            </a:r>
            <a:r>
              <a:rPr lang="pt-BR" dirty="0" err="1"/>
              <a:t>iris</a:t>
            </a:r>
            <a:r>
              <a:rPr lang="pt-BR" dirty="0"/>
              <a:t> (Fisher, 1936)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o atributo </a:t>
            </a:r>
            <a:r>
              <a:rPr lang="pt-BR" b="1" dirty="0"/>
              <a:t>largura da sépala</a:t>
            </a:r>
          </a:p>
          <a:p>
            <a:pPr lvl="1"/>
            <a:r>
              <a:rPr lang="pt-BR" dirty="0"/>
              <a:t>Computar:</a:t>
            </a:r>
          </a:p>
          <a:p>
            <a:pPr lvl="2"/>
            <a:r>
              <a:rPr lang="pt-BR" dirty="0"/>
              <a:t>A média</a:t>
            </a:r>
          </a:p>
          <a:p>
            <a:pPr lvl="2"/>
            <a:r>
              <a:rPr lang="pt-BR" dirty="0"/>
              <a:t>A mediana</a:t>
            </a:r>
          </a:p>
          <a:p>
            <a:pPr lvl="1"/>
            <a:r>
              <a:rPr lang="pt-BR" dirty="0"/>
              <a:t>Plotar</a:t>
            </a:r>
          </a:p>
          <a:p>
            <a:pPr lvl="2"/>
            <a:r>
              <a:rPr lang="pt-BR" dirty="0"/>
              <a:t>o gráfico </a:t>
            </a:r>
            <a:r>
              <a:rPr lang="pt-BR" i="1" dirty="0" err="1"/>
              <a:t>boxplots</a:t>
            </a:r>
            <a:endParaRPr lang="pt-BR" i="1" dirty="0"/>
          </a:p>
          <a:p>
            <a:pPr lvl="2"/>
            <a:r>
              <a:rPr lang="pt-BR" dirty="0"/>
              <a:t>O histograma</a:t>
            </a:r>
          </a:p>
          <a:p>
            <a:r>
              <a:rPr lang="pt-BR" dirty="0"/>
              <a:t>Utilizar Python:</a:t>
            </a:r>
          </a:p>
          <a:p>
            <a:pPr lvl="1"/>
            <a:r>
              <a:rPr lang="pt-BR" b="1" dirty="0"/>
              <a:t>Pandas</a:t>
            </a:r>
            <a:r>
              <a:rPr lang="pt-BR" dirty="0"/>
              <a:t>: importação e tratamento da matriz de dados</a:t>
            </a:r>
          </a:p>
          <a:p>
            <a:pPr lvl="1"/>
            <a:r>
              <a:rPr lang="pt-BR" b="1" dirty="0" err="1"/>
              <a:t>Matplotlib</a:t>
            </a:r>
            <a:r>
              <a:rPr lang="pt-BR" dirty="0"/>
              <a:t>: geração de gráficos</a:t>
            </a:r>
          </a:p>
          <a:p>
            <a:pPr lvl="1"/>
            <a:r>
              <a:rPr lang="pt-BR" b="1" dirty="0" err="1"/>
              <a:t>Numpy</a:t>
            </a:r>
            <a:r>
              <a:rPr lang="pt-BR" dirty="0"/>
              <a:t>: funções numéricas</a:t>
            </a:r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7249098" y="2005069"/>
            <a:ext cx="44397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dirty="0"/>
              <a:t>Disponível: </a:t>
            </a:r>
            <a:r>
              <a:rPr lang="pt-BR" sz="3600" dirty="0">
                <a:hlinkClick r:id="rId2"/>
              </a:rPr>
              <a:t>https://archive.ics.uci.edu/dataset/53/iris</a:t>
            </a:r>
            <a:r>
              <a:rPr lang="pt-BR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494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Distribuição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Obliquidade</a:t>
            </a:r>
          </a:p>
          <a:p>
            <a:r>
              <a:rPr lang="pt-BR" dirty="0"/>
              <a:t>Curtose</a:t>
            </a:r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6" descr="Você sabe o que é desvio padrão? Aprenda como calculá-lo!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58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Obliquidade (</a:t>
            </a:r>
            <a:r>
              <a:rPr lang="pt-BR" i="1" dirty="0" err="1"/>
              <a:t>skweness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=0: simétrica</a:t>
            </a:r>
          </a:p>
          <a:p>
            <a:pPr marL="0" indent="0">
              <a:buNone/>
            </a:pPr>
            <a:r>
              <a:rPr lang="pt-BR" dirty="0"/>
              <a:t>&gt;0: positiva</a:t>
            </a:r>
          </a:p>
          <a:p>
            <a:pPr marL="0" indent="0">
              <a:buNone/>
            </a:pPr>
            <a:r>
              <a:rPr lang="pt-BR" dirty="0"/>
              <a:t>&lt;0: negativa</a:t>
            </a:r>
          </a:p>
          <a:p>
            <a:endParaRPr lang="pt-BR" dirty="0"/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6" descr="Você sabe o que é desvio padrão? Aprenda como calculá-lo!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7650" name="Picture 2" descr="Inteligência Artificial: Uma Abordagem de Aprendizado de Máquina Análise de  Dados. - ppt carrega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6" t="22556" r="2732" b="12701"/>
          <a:stretch/>
        </p:blipFill>
        <p:spPr bwMode="auto">
          <a:xfrm>
            <a:off x="3085813" y="1674798"/>
            <a:ext cx="8773107" cy="478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50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Curtose (</a:t>
            </a:r>
            <a:r>
              <a:rPr lang="pt-BR" i="1" dirty="0" err="1"/>
              <a:t>kurtosis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=0: normal</a:t>
            </a:r>
          </a:p>
          <a:p>
            <a:pPr marL="0" indent="0">
              <a:buNone/>
            </a:pPr>
            <a:r>
              <a:rPr lang="pt-BR" dirty="0"/>
              <a:t>&gt;0: positiva</a:t>
            </a:r>
          </a:p>
          <a:p>
            <a:pPr marL="0" indent="0">
              <a:buNone/>
            </a:pPr>
            <a:r>
              <a:rPr lang="pt-BR" dirty="0"/>
              <a:t>&lt;0: negativa</a:t>
            </a:r>
          </a:p>
          <a:p>
            <a:endParaRPr lang="pt-BR" dirty="0"/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6" descr="Você sabe o que é desvio padrão? Aprenda como calculá-lo!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2772" name="Picture 4" descr="https://player.slideplayer.com.br/2/5606317/data/images/img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906" y="2387581"/>
            <a:ext cx="8283107" cy="378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84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Distribuição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 de momento</a:t>
            </a:r>
            <a:endParaRPr lang="pt-BR" i="1" dirty="0"/>
          </a:p>
          <a:p>
            <a:endParaRPr lang="pt-BR" dirty="0"/>
          </a:p>
          <a:p>
            <a:r>
              <a:rPr lang="pt-BR" dirty="0"/>
              <a:t>Variância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2532" name="Picture 4" descr="Variância e sua importância na estatística — para além da análise  descritiva | by Renata Torezani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568" y="2242348"/>
            <a:ext cx="42291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Você sabe o que é desvio padrão? Aprenda como calculá-lo!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68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 descr="Variância e sua importância na estatística — para além da análise  descritiva | by Renata Torezani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568" y="2242348"/>
            <a:ext cx="42291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Distribuição</a:t>
            </a:r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6" descr="Você sabe o que é desvio padrão? Aprenda como calculá-lo!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 de momento</a:t>
            </a:r>
            <a:endParaRPr lang="pt-BR" i="1" dirty="0"/>
          </a:p>
          <a:p>
            <a:endParaRPr lang="pt-BR" dirty="0"/>
          </a:p>
          <a:p>
            <a:r>
              <a:rPr lang="pt-BR" dirty="0"/>
              <a:t>Momento </a:t>
            </a:r>
            <a:r>
              <a:rPr lang="pt-BR" baseline="-25000" dirty="0"/>
              <a:t>k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2875175" y="2792638"/>
            <a:ext cx="461913" cy="499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5788058" y="2457785"/>
            <a:ext cx="75414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400" b="1" i="1" dirty="0">
                <a:solidFill>
                  <a:srgbClr val="FF0000"/>
                </a:solidFill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66654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 descr="Variância e sua importância na estatística — para além da análise  descritiva | by Renata Torezani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568" y="2242348"/>
            <a:ext cx="42291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Distribuição</a:t>
            </a:r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6" descr="Você sabe o que é desvio padrão? Aprenda como calculá-lo!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 de momento</a:t>
            </a:r>
            <a:endParaRPr lang="pt-BR" i="1" dirty="0"/>
          </a:p>
          <a:p>
            <a:endParaRPr lang="pt-BR" dirty="0"/>
          </a:p>
          <a:p>
            <a:r>
              <a:rPr lang="pt-BR" dirty="0"/>
              <a:t>Momento </a:t>
            </a:r>
            <a:r>
              <a:rPr lang="pt-BR" baseline="-25000" dirty="0"/>
              <a:t>k</a:t>
            </a:r>
          </a:p>
          <a:p>
            <a:endParaRPr lang="pt-BR" baseline="-25000" dirty="0"/>
          </a:p>
          <a:p>
            <a:endParaRPr lang="pt-BR" baseline="-25000" dirty="0"/>
          </a:p>
          <a:p>
            <a:r>
              <a:rPr lang="pt-BR" dirty="0"/>
              <a:t>Primeiro momento (k=1)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tem-se o valor 0</a:t>
            </a:r>
          </a:p>
          <a:p>
            <a:r>
              <a:rPr lang="pt-BR" dirty="0"/>
              <a:t>Segundo momento (k=2)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tem-se a variância</a:t>
            </a:r>
          </a:p>
          <a:p>
            <a:r>
              <a:rPr lang="pt-BR" dirty="0"/>
              <a:t>Terceiro momento (k=3)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tem-se a </a:t>
            </a:r>
            <a:r>
              <a:rPr lang="pt-BR" b="1" dirty="0"/>
              <a:t>obliquidade</a:t>
            </a:r>
            <a:r>
              <a:rPr lang="pt-BR" dirty="0"/>
              <a:t> </a:t>
            </a:r>
          </a:p>
          <a:p>
            <a:r>
              <a:rPr lang="pt-BR" dirty="0"/>
              <a:t>Quarto momento (k=4) </a:t>
            </a:r>
            <a:r>
              <a:rPr lang="pt-BR" dirty="0">
                <a:sym typeface="Wingdings" panose="05000000000000000000" pitchFamily="2" charset="2"/>
              </a:rPr>
              <a:t> tem-se a </a:t>
            </a:r>
            <a:r>
              <a:rPr lang="pt-BR" b="1" dirty="0">
                <a:sym typeface="Wingdings" panose="05000000000000000000" pitchFamily="2" charset="2"/>
              </a:rPr>
              <a:t>curtose</a:t>
            </a:r>
            <a:endParaRPr lang="pt-BR" b="1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2875175" y="2792638"/>
            <a:ext cx="461913" cy="499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5788058" y="2457785"/>
            <a:ext cx="75414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400" b="1" i="1" dirty="0">
                <a:solidFill>
                  <a:srgbClr val="FF0000"/>
                </a:solidFill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46976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 descr="Variância e sua importância na estatística — para além da análise  descritiva | by Renata Torezani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385" y="1195973"/>
            <a:ext cx="42291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Distribuição</a:t>
            </a:r>
          </a:p>
        </p:txBody>
      </p:sp>
      <p:sp>
        <p:nvSpPr>
          <p:cNvPr id="4" name="AutoShape 6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8" descr="Estatística descritiva usando o Python | by Thiago Dejesus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6" descr="Você sabe o que é desvio padrão? Aprenda como calculá-lo!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Obliquidade</a:t>
            </a:r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r>
              <a:rPr lang="pt-BR" b="1" dirty="0"/>
              <a:t>Curtose </a:t>
            </a:r>
            <a:r>
              <a:rPr lang="pt-BR" dirty="0"/>
              <a:t> 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3091992" y="1746263"/>
            <a:ext cx="461913" cy="499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6004875" y="1411410"/>
            <a:ext cx="75414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400" b="1" i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531143" y="2122644"/>
            <a:ext cx="75414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800" b="1" i="1" dirty="0">
                <a:solidFill>
                  <a:srgbClr val="FF0000"/>
                </a:solidFill>
              </a:rPr>
              <a:t>S</a:t>
            </a:r>
            <a:r>
              <a:rPr lang="pt-BR" sz="2800" b="1" i="1" baseline="30000" dirty="0">
                <a:solidFill>
                  <a:srgbClr val="FF0000"/>
                </a:solidFill>
              </a:rPr>
              <a:t>3</a:t>
            </a:r>
            <a:endParaRPr lang="pt-BR" sz="2800" b="1" i="1" dirty="0">
              <a:solidFill>
                <a:srgbClr val="FF0000"/>
              </a:solidFill>
            </a:endParaRPr>
          </a:p>
        </p:txBody>
      </p:sp>
      <p:pic>
        <p:nvPicPr>
          <p:cNvPr id="11" name="Picture 4" descr="Variância e sua importância na estatística — para além da análise  descritiva | by Renata Torezani | Medi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1"/>
          <a:stretch/>
        </p:blipFill>
        <p:spPr bwMode="auto">
          <a:xfrm>
            <a:off x="2545236" y="3243161"/>
            <a:ext cx="3811211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2527955" y="3793451"/>
            <a:ext cx="461913" cy="499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5440838" y="3458598"/>
            <a:ext cx="75414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400" b="1" i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4967106" y="4169832"/>
            <a:ext cx="75414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800" b="1" i="1" dirty="0">
                <a:solidFill>
                  <a:srgbClr val="FF0000"/>
                </a:solidFill>
              </a:rPr>
              <a:t>S</a:t>
            </a:r>
            <a:r>
              <a:rPr lang="pt-BR" sz="2800" b="1" i="1" baseline="30000" dirty="0">
                <a:solidFill>
                  <a:srgbClr val="FF0000"/>
                </a:solidFill>
              </a:rPr>
              <a:t>4</a:t>
            </a:r>
            <a:endParaRPr lang="pt-BR" sz="2800" b="1" i="1" dirty="0">
              <a:solidFill>
                <a:srgbClr val="FF0000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5798236" y="3783438"/>
            <a:ext cx="75414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800" b="1" i="1" dirty="0">
                <a:solidFill>
                  <a:srgbClr val="FF0000"/>
                </a:solidFill>
              </a:rPr>
              <a:t>- 3</a:t>
            </a:r>
          </a:p>
        </p:txBody>
      </p:sp>
    </p:spTree>
    <p:extLst>
      <p:ext uri="{BB962C8B-B14F-4D97-AF65-F5344CB8AC3E}">
        <p14:creationId xmlns:p14="http://schemas.microsoft.com/office/powerpoint/2010/main" val="159892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Multivariados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Covariância</a:t>
            </a:r>
          </a:p>
          <a:p>
            <a:r>
              <a:rPr lang="pt-BR" dirty="0"/>
              <a:t>Correlação</a:t>
            </a:r>
          </a:p>
          <a:p>
            <a:r>
              <a:rPr lang="pt-BR" dirty="0"/>
              <a:t>Tipos de visualização</a:t>
            </a:r>
          </a:p>
        </p:txBody>
      </p:sp>
    </p:spTree>
    <p:extLst>
      <p:ext uri="{BB962C8B-B14F-4D97-AF65-F5344CB8AC3E}">
        <p14:creationId xmlns:p14="http://schemas.microsoft.com/office/powerpoint/2010/main" val="412632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Covariância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63092" y="1825625"/>
            <a:ext cx="4990707" cy="4351338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Mede o grau com que os atributos variam juntos.</a:t>
            </a:r>
          </a:p>
          <a:p>
            <a:r>
              <a:rPr lang="pt-BR" dirty="0"/>
              <a:t>Valor depende da magnitude dos atributos</a:t>
            </a:r>
          </a:p>
          <a:p>
            <a:endParaRPr lang="pt-BR" dirty="0"/>
          </a:p>
          <a:p>
            <a:r>
              <a:rPr lang="pt-BR" dirty="0"/>
              <a:t>COV = 0: não tem relacionamento linear</a:t>
            </a:r>
          </a:p>
          <a:p>
            <a:r>
              <a:rPr lang="pt-BR" dirty="0"/>
              <a:t>COV &gt;0: quando o valor de um atributo aumenta, o outro também.</a:t>
            </a:r>
          </a:p>
          <a:p>
            <a:r>
              <a:rPr lang="pt-BR" dirty="0"/>
              <a:t>COV &lt;0: quando um aumenta o outro </a:t>
            </a:r>
            <a:r>
              <a:rPr lang="pt-BR" dirty="0" err="1"/>
              <a:t>diminiu</a:t>
            </a:r>
            <a:endParaRPr lang="pt-BR" dirty="0"/>
          </a:p>
        </p:txBody>
      </p:sp>
      <p:pic>
        <p:nvPicPr>
          <p:cNvPr id="33794" name="Picture 2" descr="Significado e Explicação de Covariância Linear e Seus Resultados |  LinkConcursos.com.b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411785"/>
            <a:ext cx="6084969" cy="517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11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Correlação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2472" y="4386426"/>
            <a:ext cx="4227136" cy="4351338"/>
          </a:xfrm>
        </p:spPr>
        <p:txBody>
          <a:bodyPr/>
          <a:lstStyle/>
          <a:p>
            <a:r>
              <a:rPr lang="pt-BR" dirty="0"/>
              <a:t>p = 0: sem correção</a:t>
            </a:r>
          </a:p>
          <a:p>
            <a:r>
              <a:rPr lang="pt-BR" dirty="0"/>
              <a:t>p = 1 : correção positiva máxima</a:t>
            </a:r>
          </a:p>
          <a:p>
            <a:r>
              <a:rPr lang="pt-BR" dirty="0"/>
              <a:t>p = -1: correção negativa máxima</a:t>
            </a:r>
          </a:p>
        </p:txBody>
      </p:sp>
      <p:pic>
        <p:nvPicPr>
          <p:cNvPr id="35842" name="Picture 2" descr="O Que é Coeficiente de Correlação Linear e o Significado dos Resultados |  LinkConcursos.com.b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6011920" cy="242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7072828" y="1825625"/>
            <a:ext cx="5119172" cy="3253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sz="2800" dirty="0"/>
              <a:t>mede a direção (positivas ou negativas) e a intensidade (força) da relação linear entre duas variáveis quantitativas (relacionamento entre duas variáveis). </a:t>
            </a:r>
          </a:p>
        </p:txBody>
      </p:sp>
    </p:spTree>
    <p:extLst>
      <p:ext uri="{BB962C8B-B14F-4D97-AF65-F5344CB8AC3E}">
        <p14:creationId xmlns:p14="http://schemas.microsoft.com/office/powerpoint/2010/main" val="291049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Correlação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https://escoladedados.org/wp-content/uploads/2021/07/correlaca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80"/>
          <a:stretch/>
        </p:blipFill>
        <p:spPr bwMode="auto">
          <a:xfrm>
            <a:off x="2334808" y="1283088"/>
            <a:ext cx="6308648" cy="572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00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Correlação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 descr="https://escoladedados.org/wp-content/uploads/2021/07/correlaca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31"/>
          <a:stretch/>
        </p:blipFill>
        <p:spPr bwMode="auto">
          <a:xfrm>
            <a:off x="2324063" y="1388124"/>
            <a:ext cx="7059285" cy="89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56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Correlação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 descr="https://escoladedados.org/wp-content/uploads/2021/07/correlaca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82"/>
          <a:stretch/>
        </p:blipFill>
        <p:spPr bwMode="auto">
          <a:xfrm>
            <a:off x="1883311" y="1498292"/>
            <a:ext cx="7614944" cy="404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44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correlação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6866" name="Picture 2" descr="Capítulo 12 Relações lineares entre variáveis | Software R para avaliação  de dados experimenta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666" y="1320627"/>
            <a:ext cx="5537372" cy="553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77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de visualização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 err="1"/>
              <a:t>Scatter</a:t>
            </a:r>
            <a:r>
              <a:rPr lang="pt-BR" b="1" dirty="0"/>
              <a:t> </a:t>
            </a:r>
            <a:r>
              <a:rPr lang="pt-BR" b="1" dirty="0" err="1"/>
              <a:t>plot</a:t>
            </a:r>
            <a:endParaRPr lang="pt-BR" b="1" dirty="0"/>
          </a:p>
        </p:txBody>
      </p:sp>
      <p:pic>
        <p:nvPicPr>
          <p:cNvPr id="45058" name="Picture 2" descr="https://player.slideplayer.com.br/2/5606317/data/images/img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193" y="2271723"/>
            <a:ext cx="8158866" cy="446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7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6" name="Picture 4" descr="https://player.slideplayer.com.br/2/5606317/data/images/img3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963" y="1051055"/>
            <a:ext cx="7228819" cy="5760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de visualização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3931763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b="1" dirty="0" err="1"/>
              <a:t>Bagplot</a:t>
            </a:r>
            <a:r>
              <a:rPr lang="pt-BR" b="1" dirty="0"/>
              <a:t> (generalização bivariada do </a:t>
            </a:r>
            <a:r>
              <a:rPr lang="pt-BR" b="1" dirty="0" err="1"/>
              <a:t>boxplot</a:t>
            </a:r>
            <a:r>
              <a:rPr lang="pt-BR" b="1" dirty="0"/>
              <a:t>)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Região central (“*”) é um ponto que representa as medianas dos valores.</a:t>
            </a:r>
          </a:p>
          <a:p>
            <a:r>
              <a:rPr lang="pt-BR" dirty="0"/>
              <a:t>Bag: 50% dos objetos</a:t>
            </a:r>
          </a:p>
          <a:p>
            <a:r>
              <a:rPr lang="pt-BR" dirty="0"/>
              <a:t>Loop: </a:t>
            </a:r>
            <a:r>
              <a:rPr lang="pt-BR" i="1" dirty="0"/>
              <a:t>x</a:t>
            </a:r>
            <a:r>
              <a:rPr lang="pt-BR" dirty="0"/>
              <a:t> vezes o tamanho de bag (e.g. 3x)</a:t>
            </a:r>
          </a:p>
        </p:txBody>
      </p:sp>
    </p:spTree>
    <p:extLst>
      <p:ext uri="{BB962C8B-B14F-4D97-AF65-F5344CB8AC3E}">
        <p14:creationId xmlns:p14="http://schemas.microsoft.com/office/powerpoint/2010/main" val="315900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2" name="Picture 4" descr="https://player.slideplayer.com.br/2/5606317/data/images/img3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025" y="490668"/>
            <a:ext cx="7677477" cy="7270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de visualização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4516225" cy="4351338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Faces de </a:t>
            </a:r>
            <a:r>
              <a:rPr lang="pt-BR" b="1" dirty="0" err="1"/>
              <a:t>Chernoff</a:t>
            </a:r>
            <a:endParaRPr lang="pt-BR" b="1" dirty="0"/>
          </a:p>
          <a:p>
            <a:r>
              <a:rPr lang="pt-BR" dirty="0"/>
              <a:t>Variação do tamanho dos elementos do rosto (raiz, boca, cabelo).</a:t>
            </a:r>
          </a:p>
          <a:p>
            <a:r>
              <a:rPr lang="pt-BR" dirty="0"/>
              <a:t>A imagem representa a variação do atributo “tamanho da sépala” dos últimos 15 objetos do conjunto de dados íris.</a:t>
            </a:r>
          </a:p>
        </p:txBody>
      </p:sp>
    </p:spTree>
    <p:extLst>
      <p:ext uri="{BB962C8B-B14F-4D97-AF65-F5344CB8AC3E}">
        <p14:creationId xmlns:p14="http://schemas.microsoft.com/office/powerpoint/2010/main" val="332638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4" descr="https://player.slideplayer.com.br/2/5606317/data/images/img3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658" y="826940"/>
            <a:ext cx="6859539" cy="587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de visualização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6302637" cy="4351338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Star </a:t>
            </a:r>
            <a:r>
              <a:rPr lang="pt-BR" b="1" dirty="0" err="1"/>
              <a:t>plots</a:t>
            </a:r>
            <a:endParaRPr lang="pt-BR" b="1" dirty="0"/>
          </a:p>
          <a:p>
            <a:r>
              <a:rPr lang="pt-BR" dirty="0"/>
              <a:t>O número de linhas é o número de atributos</a:t>
            </a:r>
          </a:p>
          <a:p>
            <a:r>
              <a:rPr lang="pt-BR" dirty="0"/>
              <a:t>O tamanho da linha é proporcional ao valor do atributo.</a:t>
            </a:r>
          </a:p>
          <a:p>
            <a:endParaRPr lang="pt-BR" dirty="0"/>
          </a:p>
          <a:p>
            <a:r>
              <a:rPr lang="pt-BR" dirty="0"/>
              <a:t>Figura: </a:t>
            </a:r>
            <a:r>
              <a:rPr lang="pt-BR" dirty="0" err="1"/>
              <a:t>plot</a:t>
            </a:r>
            <a:r>
              <a:rPr lang="pt-BR" dirty="0"/>
              <a:t> para os 150 objetos do conjunto de dados íris.</a:t>
            </a:r>
          </a:p>
        </p:txBody>
      </p:sp>
    </p:spTree>
    <p:extLst>
      <p:ext uri="{BB962C8B-B14F-4D97-AF65-F5344CB8AC3E}">
        <p14:creationId xmlns:p14="http://schemas.microsoft.com/office/powerpoint/2010/main" val="121263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4" name="Picture 4" descr="https://player.slideplayer.com.br/2/5606317/data/images/img3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935" y="237905"/>
            <a:ext cx="6263457" cy="662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de visualização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077858" cy="4351338"/>
          </a:xfrm>
        </p:spPr>
        <p:txBody>
          <a:bodyPr/>
          <a:lstStyle/>
          <a:p>
            <a:pPr marL="0" indent="0">
              <a:buNone/>
            </a:pPr>
            <a:r>
              <a:rPr lang="pt-BR" b="1" dirty="0" err="1"/>
              <a:t>Heatmaps</a:t>
            </a:r>
            <a:endParaRPr lang="pt-BR" b="1" dirty="0"/>
          </a:p>
          <a:p>
            <a:r>
              <a:rPr lang="pt-BR" dirty="0"/>
              <a:t>Baseado em agrupamento hierárquico (</a:t>
            </a:r>
            <a:r>
              <a:rPr lang="pt-BR" dirty="0" err="1"/>
              <a:t>dendrograma</a:t>
            </a:r>
            <a:r>
              <a:rPr lang="pt-BR" dirty="0"/>
              <a:t>)</a:t>
            </a:r>
          </a:p>
          <a:p>
            <a:r>
              <a:rPr lang="pt-BR" dirty="0"/>
              <a:t>Cada linha representa um objeto do conjunto de dados.</a:t>
            </a:r>
          </a:p>
        </p:txBody>
      </p:sp>
    </p:spTree>
    <p:extLst>
      <p:ext uri="{BB962C8B-B14F-4D97-AF65-F5344CB8AC3E}">
        <p14:creationId xmlns:p14="http://schemas.microsoft.com/office/powerpoint/2010/main" val="51817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de visualização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3437261" cy="4351338"/>
          </a:xfrm>
        </p:spPr>
        <p:txBody>
          <a:bodyPr/>
          <a:lstStyle/>
          <a:p>
            <a:pPr marL="0" indent="0">
              <a:buNone/>
            </a:pPr>
            <a:r>
              <a:rPr lang="pt-BR" b="1" dirty="0" err="1"/>
              <a:t>Heatmaps</a:t>
            </a: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Exemplo utilizando o </a:t>
            </a:r>
            <a:r>
              <a:rPr lang="pt-BR" i="1" dirty="0" err="1"/>
              <a:t>seaborn</a:t>
            </a:r>
            <a:r>
              <a:rPr lang="pt-BR" dirty="0"/>
              <a:t> em Python: </a:t>
            </a:r>
            <a:r>
              <a:rPr lang="pt-BR" dirty="0">
                <a:hlinkClick r:id="rId3"/>
              </a:rPr>
              <a:t>https://python-graph-gallery.com/404-dendrogram-with-heat-map/</a:t>
            </a:r>
            <a:r>
              <a:rPr lang="pt-BR" dirty="0"/>
              <a:t> </a:t>
            </a:r>
          </a:p>
        </p:txBody>
      </p:sp>
      <p:sp>
        <p:nvSpPr>
          <p:cNvPr id="4" name="AutoShape 2" descr="data:image/png;base64,iVBORw0KGgoAAAANSUhEUgAAAsgAAALICAYAAABiqwZ2AAAAOXRFWHRTb2Z0d2FyZQBNYXRwbG90bGliIHZlcnNpb24zLjMuMCwgaHR0cHM6Ly9tYXRwbG90bGliLm9yZy86wFpkAAAACXBIWXMAAAsTAAALEwEAmpwYAACJvElEQVR4nOzdebxd0/3/8ddbBgkhUXMo11TaRgRXiBpiarXUUGpWoW3ar6pWv6rptyopHaL8qlRVb30jqKLGxhxFUGMuIgNqzJegNZeQkOHz+2Ovy87JOfeee3PuPfec+34+Hudx91577bU+J6aPdT97L0UEZmZmZmaWWa7aAZiZmZmZdSdOkM3MzMzMcpwgm5mZmZnlOEE2MzMzM8txgmxmZmZmltO7ozcueP25bvX6iz6rbahqx2BmZmZmta/DCTKLF1UwDDMzMzOz7qHjCfKihRUMo/NJ6gfcDSxP9r2vioix1Y3KzMzMzLqbDifIUWMJMvABsGtEzJXUB/iHpJsj4oFqB2Zdp7GxcQzQr9pxmNkym9/c3Dy+2kGYWX1ahhXkBRUMo/NFtmXg3HTaJ326VR21dYl+zc3N46odhJktm8bGxnHVjsHM6lfdlFhIGg2MzjU1RURTQZ9ewMPAxsDvI+LBLgzRzMzMzGpA3ZRYpGS4qY0+i4BhkgYB10oaEhEzuyI+MzMzM6sNPabEIi8i3pY0BdgTcIJsZmZmZh+pmxKLtkhaHViQkuP+wO7A6VUOy8zMzMy6mR6TIANrAxelOuTlgL9GxA1VjsnMzMzMupmO1yAvrq0Si4iYDmxZ7TjMzMzMrHvrSSvIZmZmZmZt6pEP6ZmZmZmZleIVZDMzMzOznI4nyAudIJuZmZlZ/VmGjUJcYmFmZmZm9cclFmZmZmZmOU6QzczMzMxynCCbmZmZmeU4QTYzMzMzy3GCbGZmZmaW4wTZzMzMzCzH70E2MzMzM8tZhhXkRRUMw8zMzMyse3CJhZmZmZlZjleQzczMzMxyXINsZmZmZpbT4QQ5vIJsZmZmZnWox9QgS/okcDGwFrAYaIqIs6sblZmZmZl1N8tQYlFzK8gLgf+OiEckrQQ8LOm2iHi82oGZmZmZWffRYx7Si4hXgFfS8buSngDWAZwgm5mZmdlH6mYFWdJoYHSuqSkimkr0bQC2BB7sgtDMzMzMrIbUzQpySoaLJsR5kgYAVwPfj4h3Oj0wMzMzM6spHX+LRTdbQS6HpD5kyfGlEXFNteMxMzMzs+6nblaQ2yJJwP8CT0TEb6odj5mZmZl1Tx1PkBcvrmAYXeJzwJHADEnTUtv/RMRN1QvJzMzMzLqbHrOCHBH/AFTtOMzMzMyse+tRNchmZmZmZm1Zhte81VyJhZmZmZlZm3pMiYWZmZmZWTmWocTCK8hmZrWmsbFxDNCv2nFUQENjY+O4agdRAfObm5vHVzsIM1tS3eykZ2ZmZenX3Nw8rtpBWKZOknyzutPxFeRFXkE2MzMzs/rjh/TMzMzMzHJcg2xmZmZmlrMMCXJUMg4zMzMzs25hGUosnCCbmZmZWf3xCrKZmZmZWY4TZDMzMzOznGVIkCsZhpmZmZlZ9+AE2czMzMwsp8MJ8mInyGZmZmZWh5ZhJz1VMg4zMzMzs25hGVaQay9BljQB2Bt4NSKGVDseMzMzM+t+Op4g1+YK8kTgXODiKsdhZmZmZt1Uj1pBjoi7JTVUOw4zMzMz677qZgVZ0mhgdK6pKSKaqhWPmZmZmdWmukmQUzLshNjMzMzMlskyJMjLVTIOMzMzM7NuocMJ8qJutoJsZmZmZlYJPWoFWdJlwEhgNUlzgLER8b/VjcrMzMzMupO6qUEuR0QcWu0Y6l1jY+MYoF+142hFQ2Nj47hqB1HC/Obm5vHVDsLMzKyn63iJxeLaW0G2LtGvubl5XLWDqEXdOHE3MzPrUZYhQa69FWQzMzMzs7Z0vMTCCbKZmZmZ1SGXWJiZWY/QTZ+R6I7PRfh5COvxOp4gh1eQzcyspvgZiTJ0w4TdrMt5BdnMzMzMLKfjCTJeQTYzMzOz+tPhBHmhSyzMzMzMrA55BdnMzMzMLMcJspmZmZlZjhNkMzMzM7OcjtcgywmymZmZmdWfZVhBNjMzMzOrPx3fatoryGZmZmZWh7yCbGZm1o10gy2xq739tbe6tqpzDbKZmVn30qO3xPZW19YddHwF2fmxmZmZmdWhHlViIWlP4GygF3BBRPhXOGbWLXXir9k749fn/pW4mdWVZSixqGQYnU9SL+D3wB7AHGCqpEkR8Xh1IzMzK6pmfs3uX4mbWb3pSSUWw4FnIuI5AEmXA/sCTpDNzMzM7CMdX0GuZBQVIGk0MDrX1BQRTbnzdYAXc+dzgG27IjbrnrrBk+KFqv3keDH+1bmZmfU4dbOCnJLhpla6FIs4Oikcqw018yvsaumGCbuZmVmnq5sV5DLMAT6ZO18XeLlKsZiZmZlZN1U3K8hlmApsImkD4CXgEOCw6oZkZmZWm/ymFatnPeY1bxGxUNJxwK1kr3mbEBGzqhyWmZlZraqZMjWXi1l7LUOJRe2V70bETcBN1Y7DzMzMzLqvHrOCbGZmZmZWjmXYKKT2VpDNzMzMzNriFWQzMzMzs5xlSJC9gmzWFaq8oUm1Ny/xk+dmZtbletRDemY1qmaeFK80P3luZmbV4BILMzMzM7Mcl1iYmZmZmeU4QTYzMzMzy3ENspmZmZlZjleQzczMzMxynCCbmZmZmeV0PEEOJ8hmZmZmVn+WYQV5cSXjMLMa10kbmnTGRiXefMTMzFrlh/TMrFJqYkMTbz5iZmZtcQ2ymZmZmVnOMtQgu8TCzMzMzOrPch29cRHRrT7LStJXJc2StFhS4zIPaGZmZmY1ySvIH5sJfAX4Y7UDMTMzM7PqcQ1yEhFPAEiqdihmZmZmVkV1s4IsaTQwOtfUFBFN1YrHzMzMzGpT3bwHOSXDrSbEkv4OrFXk0k8i4m+dEpiZmZmZ1ZQetZNeROxe7RjMzMzMrHtbho1CutcKspmZmZlZJdRNDfKykrQ/8DtgdeBGSdMi4gtVDsvMzMzMuliHE+TFdZYgR8S1wLXVjsPMzMzMqssryGZmZmZmOXXzFgszMzMzs0rwCrKZmZmZWc4y1CDX3mvezMzMzMza4hVkMzMzM7McJ8hmZmZmZjnLUGKxqJJxmJmZmZl1C15BNjMzMzPLcYJsZmZmZpbjBNnMzMzMLMcJspmZmZlZTscT5MVOkM3MzMys/ngF2czMzMwsxyvIZmZmZmY5XkE2MzMzM8tZho1CnCCbmZmZWf3peILsEgszMzMzq0MdTpAXfPiSKhmImZmZmVl3sFy1AzAzMzMz606cIJuZmZmZ5Sgiqh2DVcl2g0fWxF/8LfquXu0QyrL5ouWrHUJZ5tdQcdQ6C2vib1G2HvhGtUMoy4BVPqh2CGW5a/bgaodQtv/t9Xq1QyjLSupb7RDK8n4srHYIZbv1xZtr6N+m1l5eQTYzMzMzy3GCbGZmZmaW4wTZzMzMzCzHCbKZmZmZWY4TZDMzM7MKkzS34HyUpHM7ec5Bko5to08vSY9KuqHE9XGSXpI0TdLTkq6R9JlWxjtV0u7LGnt34wTZzMzMrJuR1JHN3AYBrSbIwPeAJ9roc1ZEDIuITYArgDskLfVKKUm9IuKUiPh7B2Lt1pwgm5mZmXUhSetLul3S9PRzvdQ+UdJvJN0JnJ7Oz5F0n6TnJB2YG+OHkqamMX6WmscDG6XV3zOKzLsusBdwQbmxRsQVwGTgsDTGbEmnSPoH8NUU44GSvijpr7m5Rkq6Ph1/XtL9kh6RdKWkAe39M+tqHd5q2rpeY2PjGKBfpcbrTbf/+9PMzKxbkjQaGJ1raoqIptx5f0nTcuefACal43OBiyPiIknHAOcA+6VrnwJ2j4hFkiYCawM7AJul+6+S9HlgE2A4IGCSpJ2AMcCQiBhWIuzfAicBK7Xz6z6S5m8xPyJ2AJC0Z2q7DfijpBUj4j3gYOAKSasBJ6fv9J6kHwE/AE5tZwxdyglybenX3Nw8rlKDbTd45NhKjWVmZtaTpGS4qZUu8/KJqqRRQGM6HQF8JR1fAvw6d9+VEbEod35dRCwGHpe0Zmr7fPo8ms4HkCXML5QKRtLewKsR8bCkka3EXfT2gvMrCjtExEJJtwBflnQV2Ur1ScDOwGeAeyUB9AXub+f8Xc4JspmZmVl15bcNfa/gWn4LTOV+/ioi/pjvKKmhlTk+B+wj6Utkv41eWdKfI+KIMuLbEmhuJcYWVwDfAd4EpkbEu8qy4tsi4tAy5uk2XINsZmZm1rXuAw5Jx4cD/2jn/bcCx7TU8kpaR9IawLuUKJ+IiB9HxLoR0ZDmvqOc5FjSAWSr1ZeVEdcUYCvgm3y8yvwA8DlJG6fxVpD0qTLGqionyGZmZmZd63jgaEnTgSPJ3ixRtoiYDPwFuF/SDOAqYKWIeIOslGFmsYf02uGElte8AUcAu0bEa2XEtQi4Afhi+km6bxRwWfq+D7BkPXO3pIhou5d1C42NjeMqXINcE3/xt+i71JtluqXNFy1f7RDKMr+wkqwbW2dhTfwtytYD36h2CGUZsMoHbXfqBu6aPbjaIZTtf3u9Xu0QyrKS+lY7hLK8HwurHULZbn3x5hr6t6m1l1eQzczMzMxynCCbmZmZmeX4LRbW7X3I4mqHUJbVa6Qc4MU+tfNbwVd710asq31qXrVDKMv812pjTWRa39r4Zx5g5tsl36rVrYxYeeNqh2BWU5wg51R6I45O0FDtAMzMzMzqnRPkJVV0I45Ka2xsHFftGMzMzMzqXW38vs3MzMzMrIs4QTYzMzMzy3GCbGZmZmaW4wTZzMzMrIIkTZH0hYK270s6r5X+jen4JkmDOjjvfpI+05F7bUlOkM3MzMwq6zLgkIK2Q1J7qyLiSxHxdgfn3Q9wglwBTpDNzMzMKusqYG9JywNIagAGA4dJapY0S9LPit0oabak1dLxdZIeTv1H5/rMlfQLSY9JekDSmpK2B/YBzpA0TdJGnf0l65lf81Zb5lfyVW+9GVCpoczMzHqUlLCOzjU1RUQTQES8IekhYE/gb2Srx1cAv4qINyX1Am6XNDQiprcyzTGpf39gqqSrI+INYEXggYj4iaRfA9+MiJ9LmgTcEBFXVf4b9yxOkGtIc3Pz+EqOt93gkWMrOZ6ZmVlPkZLhpla6tJRZtCTIxwAHpcS6N7A2WTlEawny8ZL2T8efBDYB3gA+BG5I7Q8De3Twa1gJLrEwMzMzq7zrgN0kbQX0B94CTgR2i4ihwI20snuvpJHA7sCIiNgCeDTXf0FERDpehBc8K84JspmZmVmFRcRcYAowgWw1eWXgPeA/ktYEvtjGEAOBtyLifUmbAduVMe27wEodDto+4gTZzMzMrHNcBmwBXB4Rj5GtAs8iS5rvbePeW4DekqYDpwEPlDHf5cAPJT3qh/SWjZfkzczMzDpBRFwLKHc+qkS/kbnjhtyloqvMETEgd3wV2VsziIh78WveKsIryGZmZmZmOU6QzczMzMxyXGLRg53fZ+Vqh1CWv9C32iGUZbHa7tMdrLMweKl3bQT75HIfVjuEstz+0LrVDqEsn9vg5WqHUJbvDf4XF720TrXDKMs1/Wvjt9lnUBv/LJ3w4cBqh2AGeAXZrMepleTYeq5aSY7NrH45QTYzMzMzy3GCbGZmZmaW4wTZzMzMzCzHCbKZmZmZWY4TZDMzM7MKkxSSLsmd95b0mqQbOmGuSyX9U9JMSRMk9UntAyVdL+kxSbMkHZ27Z890zzOSxlQ6plrnBNnMzMys8t4Dhkjqn873AF5qzwCSyn0d76XAZsDmQH/gG6n9O8DjEbEFMBL4f5L6SuoF/J5sp77PAIdKqo13FnYRJ8hmZmZmneNmYK90fChwWcsFSSum1d6pkh6VtG9qHyXpSknXA5MlDZB0oaQZkqZLOqBwkoi4KRLgIaDl5ewBrCRJwADgTWAhMBx4JiKei4gPgcuBfTvlT6BGeaOQOtbY2DgG6Ffq+gUM7sJozMzM6oek0cDoXFNTRDQVdLscOCWVVQwFJgA7pms/Ae6IiGMkDQIekvT3dG0EMDQi3pR0OvCfiNg8zbtKKzH1AY4EvpeazgUmAS8DKwEHR8RiSesAL+ZunQNsW/63r39OkOtbv+bm5nGlLk5bf5+xXRiLmZlZ3UjJcGFCXNhnuqQGstXjmwoufx7YR9KJ6bwfsF46vi0i3kzHuwOH5MZ8q5UpzwPujoh70vkXgGnArsBGwG2S7gGK7RgVrX2XnqbmEuS2VkWXUUMnjWtmZmY90yTgTLIa4FVz7QIOiIh/5jtL2pasfjnfr83kVdJYYHXgW7nmo4HxqfTiGUnPk9UqzwE+meu3LtkqsyU1lyDTxqrosmhsbOyUcc3MzKzHmkBWIjFD0shc+63AdyV9NyJC0pYR8WiR+ycDxwHfh6zEonAVWdI3yFaLd4uIxblLLwC7AfdIWhPYFHgOeBvYRNIGZA8OHgIctqxftJ74IT0zMzOzThIRcyLi7CKXTgP6ANMlzUznxfwcWCW9wu0xYJcifc4H1gTulzRN0im5ObaXNAO4HfhRRLweEQvJku5bgSeAv0bErI5+x3pUiyvIZmZmZt1aRAwo0jYFmJKO57FkOURLn4nAxNz5XOCoNuYqms9FxMtktc7Frt3E0nXRlngF2czMzMwsxwmymZmZmVmOE2QzMzMzsxzXIJfQya+T6yoN1Q7ArCcYHB9UO4S68oYWVTsEM+vhnCCX1mmvk+sqfm2dmZmZWfu5xMLMzMzMLMcJspmZmZlZjhNkMzMzM7McJ8hmZmZmFSYpJF2SO+8t6TVJN3TCXJdK+mfabW+CpD6pfaCk6yU9JmmWpKNz9+yZ7nlG0piC8U6U9GTL7n2SvlbpmLs7J8hmZmZmlfceMERS/3S+B/BSewaQVO7LFC4FNgM2B/oD30jt3wEej4gtgJHA/5PUV1Iv4PfAF4HPAIdK+kya89sp1uERMQTYCVB74q4HTpDNzMzMOsfNwF7p+FDgspYLklZMq71TJT0qad/UPkrSlZKuByZLGiDpQkkzJE2XdEDhJBFxUyTAQ8C6LZeAlSQJGAC8CSwEhgPPRMRzEfEhcDmwb7rnf4BjI+KdNPZ/IuKiiv6p1AAnyGZmZmad43LgEEn9gKHAg7lrPwHuiIhtgF2AMyStmK6NAI6KiF2BnwL/iYjNI2IocEepyVJpxZHALanpXODTwMvADOB7EbEYWAd4MXfrHGAdSSsBK0XEs8vypeuB34Nc3+a39i7kCxjchaGYmZnVD0mjgdG5pqaIaMr3iYjpkhrIVo9vKhji88A+kk5M5/2A9dLxbRHxZjreHTgkN+ZbrYR1HnB3RNyTzr8ATAN2BTYCbpN0D8VLJiK1Ryvj9xhOkOtYc3Pz+NauT1t/n7FdFYuZmVk9SclwU5sdYRJwJlkN8Kq5dgEHRMQ/850lbUtWv5zv12bSKmkssDrwrVzz0cD4VHrxjKTnyWqV5wCfzPVbF3g5It6R9J6kDSPiuTK+W91yiYWZmZlZ55kAnBoRMwrabwW+m+qDkbRlifsnA8e1nEhapbCDpG+QrRYfmkooWrwA7Jb6rAlsCjwHTAU2kbSBpL5kK9ST0j2/An4vaeV038pptbxHcYJsZmZm1kkiYk5EnF3k0mlAH2C6pJnpvJifA6u0vHKNrF650PnAmsD9kqZJOiU3x/aSZgC3Az+KiNcjYiFZ0n0r8ATw14iYle75A3AnMDXFdRfwfju/ds1ziYWZmZlZhUXEgCJtU4Ap6XgeS5ZDtPSZCEzMnc8FjmpjrqL5XES8TFbrXOzaTSxdF00qx/h1+vRYXkE2MzMzM8txgmxmZmZmluME2czMzMwsxzXIPdi3F7xT7RDKsn6f2vj/uOf6LG67Uzfw7AdvVDuEsq3dd2C1QyjLJp99r+1O3cDCebXxz9I2H9RGnADPf7SLcHf3YbUDKMtZff9T7RDKtme1A7BOVTv/FjIzMzMz6wJeQV5Sfue5hirGYWZmZmZV4gQ5J7/zXGtbNJuZmZlZ/XKJhZmZmZlZjhNkMzMzswqStGra0W6apH9Jeil33ncZx/6fDtzTR9J4SU+nHfkekvTFZYmj3rnEwszMzKyCIuINYBiApHHA3Ig4s0LD/w/wy3becxqwNjAkIj6QtCawc7k3S+oVEYvaOWdN8wqymZmZWSeTtJukRyXNkDRB0vKp7dpcnz0kXZOOD019Z0o6PbWNB/qnlehLU9t1kh6WNEvS6CLzrgB8E/huRHwAEBH/joi/lpontc+VdKqkB4ERkn6Q+syU9P3Up0HSE5L+lOafLGXvPpT0TUlTJT0m6eoUR81wgmxmZmbWufoBE4GDI2Jzst/g/xdwB/BpSaunfkcDF0oaDJwO7Eq2Er2NpP0iYgwwLyKGRcTh6Z5jImJroBE4XtKqBXNvDLwQEUttflBqnnR5RWBmRGwLzEuxbQtsB3xT0pap3ybA7yPis8DbwAGp/ZqI2CYitgCeAL7ejj+vqnOJRSdobGwcQ/YPQ7fWmwHVDsHMzKwmpdXa/IptU0Q0lejeC3g+Ip5K5xcB34mI30q6BDhC0oXACOBrwF7AlIh4Lc11KbATcF2RsY+XtH86/iRZwlrujlDbtDLPIuDq1G8H4NqIeC/1uwbYEZiUvte01O9hPn5N7hBJPwcGAQOAW8uMqVtwgtw5+jU3N4+rdhBt2W7wyLHVjsHMzKwWpWS4VEJcqLXtNi8ErgfmA1dGxEJJKmdQSSOB3YEREfG+pCksvUD3DLCepJUi4t3CIVoZfn6u7ri1fh/kjhcBLdtLTgT2i4jHJI0CRrYyRrfjEgszMzOzztUPaJC0cTo/ErgLICJeBl4GTiZLKgEeBHaWtJqkXsChLf2BBZL6pOOBwFspOd6MrPxhCRHxPvC/wDktb9CQtLakI9qYJ+9uYD9JK0haEdgfuKeN77wS8EqK9fA2+nY7TpDNzMzMOtd8shreKyXNABYD5+euXwq8GBGPA0TEK8CPgTuBx4BHIuJvqW8TMD2VQ9wC9JY0nexNFQ+UmP9k4DXgcUkzyUooXmtjno9ExCNkyftDZEn1BRHxaBvf+aep723Ak2307XZcYmFmZmbWSSJiXO50yxLddgD+VHDfX4C/FBnvR8CPck1tvs84Ij4ETkqfwmul5hlQcP4b4DcFbbOBIbnzM3PHfwD+0FZs3ZUTZDMzM7MqkfQwWY3yf1c7FvuYE2QzMzOzKkmvaLNuxjXIZmZmZmY5XkHuwbbqu0a1QyjL/fNfqnYIZRnVd4Nqh1CWZ8t+PWb1fULd/nXiAMTi1t7gZO31qT5zqx1C2WYtXKnaIdSVEz4cWO0QzACvIJuZmZmZLcEJspmZmZlZjhNkMzMzM7Mc1yCXNr+xsXFcB+9tqGAcZmZmZtaFnCCX0NzcPL6j9y5DYm1mZmZ1QFIAf46II9N5b+AV4MGI2LvCc10KNAILyHa7+1ZELMhd34Zsl72DI+Kq1LYncDbQi2xnvPGpfSKwM/AO0D/d9+OIqI0n5ivEJRZmZmZmlfceMERS/3S+B9CuJDMl1eW4FNgM2Jwsqf1GboxewOnArQVtvyfbhe8zwKGSPpMb74cRsQWwKfAocKekvu2JvdY5QTYzMzPrHDcDe6XjQ4HLWi5IWlHSBElTJT0qad/UPkrSlZKuByZLGiDpQkkzJE2XdEDhJBFxUyRkK8jr5i5/F7gaeDXXNhx4JiKeS9tQXw7sW2TciIizgH9RxpbW9cQJspmZmVnnuBw4RFI/YCjwYO7aT4A7ImIbYBfgDEkrpmsjgKMiYlfgp8B/ImLziBgK3FFqMkl9gCOBW9L5OsD+wPkFXdcBXsydz0ltpTxCtkLdY7gGuQs1NjaOAbrNzgfD2bDaIZiZmdUkSaOB0bmmpohoyveJiOmSGshWj28qGOLzwD6STkzn/YD10vFtEfFmOt4dOCQ35luthHUecHdE3JPOfwv8KCIWSVoi/CL3RivjFutf15wgd61+zc3N46odRItjGw4aW+0YzMzMalFKhpva7AiTgDOBkcCquXYBB0TEP/OdJW1LVr+c79da8tpy31hgdeBbueZG4PKUHK8GfEnSQrIV40/m+q0LvNzK8FsCt7cVQz1xiYWZmZlZ55kAnBoRMwrabwW+q5S9StqyxP2TgeNaTiStUthB0jeALwCHRsTilvaI2CAiGiKiAbgKODYirgOmAptI2iA9fHcIWSJfOK4kHQ+sTSrb6CmcIJuZmZl1koiYExFnF7l0GtAHmC5pZjov5ufAKpJmSnqMrF650PnAmsD9kqZJOqWNmBaSJd23Ak8Af42IWbkuZ6S5ngK2AXZJD/P1GC6xMDMzM6uwiBhQpG0KMCUdz2PJcoiWPhOBibnzucBRbczVZj4XEaMKzm9i6bropfr1VF5BNjMzMzPLcYJsZmZmZpbjBNnMzMzMLMc1yJ1jfmNj47gi7Q1dHEdd2Hj51aodQlkWtvkSHmuvBSxuu1M3MPCsH1Y7hLK8eez/q3YIZXntg/5td+omNlxuXrVDMLNO4AS5EzQ3N48v1l4iaTYzMzOzbsQlFmZmZmZmOU6QzczMzMxynCCbmZmZmeU4QTYzMzOrMEkh6ZLceW9Jr0m6oRPmulTSP9NuexMk9Unt+0qannbXa5a0Q+6ePdM9z0gaU+mYap0TZDMzM7PKew8YIqnltSx7AC+1ZwBJ5b5M4VJgM2BzoD/wjdR+O7BFRAwDjgEuSOP2An4PfBH4DHCopM+0J7Z65wTZzMzMrHPcDOyVjg8FLmu5IGnFtNo7VdKjkvZN7aMkXSnpemCypAGSLpQ0I60GH1A4SUTcFAnwELBuap+b2gBWBFqOhwPPRMRzEfEhcDmwb+W/fu1ygmxmZmbWOS4HDpHUDxgKPJi79hPgjojYBtgFOEPSiunaCOCoiNgV+Cnwn4jYPCKGAneUmiyVVhwJ3JJr21/Sk8CNZKvIAOsAL+ZunZPaLPF7kLtWqQ1EqmI4G1Y7BDMzs5okaTQwOtfUFBFN+T4RMV1SA9nq8U0FQ3we2EfSiem8H7BeOr4tIt5Mx7sDh+TGfKuVsM4D7o6Ie3L9rwWulbQTcFoaT0Xu9XZXOU6Qu1CpDUSq5diGg8ZWOwYzM7NalJLhpjY7wiTgTGAksGquXcABEfHPfGdJ25LVL+f7tZm8ShoLrA58q0S8d0vaSNJqZCvGn8xdXhd4uc1v0oO4xMLMzMys80wATo2IGQXttwLflSQASVuWuH8ycFzLiaRVCjtI+gbwBeDQiFica984N/5WQF/gDWAqsImkDST1JVuhntTB71eXnCCbmZmZdZKImBMRZxe5dBrQB5guaWY6L+bnwCrpFW6PkdUrFzofWBO4P73S7ZTUfgAwU9I0srdWHJye5VtIlnTfCjwB/DUiZnXwK9Yll1iYmZmZVVhEDCjSNgWYko7nUaQcIiImAhNz53OBo9qYq2g+FxGnA6eXuHYTS9dFW+IVZDMzMzOzHCfIZmZmZmY5TpDNzMzMzHJcg2zd3upavtohlOWU1/5R7RDK8qmVa+dd8HMWvlPtEMryvf0uqnYIZRk7uNoRlGf7I+dVO4Sy/f3PK7bdqRs4f6PXqx1CWVbcrm+1QzADvIJsZmZmZrYEJ8hmZmZmZjlOkM3MzMzMcpwgm5mZmZnlOEE2MzMzqzBJc9vRd5SkijxGK2lR2k2v5TOmEuP2NMv8FovGxsYxQL8KxFKuhi6cy8zMzKyzjQJmAi9XYKx5ETGsIzdK6p22oe7xKvGat37Nzc3jKjBOWRobG7tsLjMzM7NKkTQMOB9YAXgWOAbYDWgELpU0DxgBPAE0RsTrkhqBMyNipKSdgbPTcAHsFBHvljn37BJjjgMGky1Avi7px8AEYHXgNeDoiHhB0kRgPvBZYE3gBxFxg6QG4BKg5Z2Hx0XEfR358+lOXGJhZmZm1jUuBn4UEUOBGcDYiLgKaAYOj4hhEdHai8BPBL6TVoh3BIr17V9QYnFwGXFtDewbEYcB5wIXpxgvBc7J9WsAdgb2As6X1A94FdgjIrYCDi7oX7O8UUg7VaGkpNMMZ8Nqh2BmZlaTJI0GRueamiKiqZX+A4FBEXFXaroIuLKd094L/EbSpcA1ETGnSJ+OlFhMyiXmI4CvpONLgF/n+v01IhYDT0t6DtgMeB44N62OLwI+1c65uyUnyO3XpSUlnenYhoPGVjsGMzOzWpSS4ZIJ8TJayMe/5f9oUS4ixku6EfgS8ICk3SPiyWUZM3mvlfuixHHL+QnAv4Et0vjzy4ynW3OJhZmZmVkni4j/AG9J2jE1HQm0rCa/C6yU6z6brOwB4ICWRkkbRcSMiDidrCxjs3aEUHTMIu4DDknHhwP/yF37qqTlJG0EbAj8ExgIvJJWlo8EerUjpm7LCbKZmZlZ5a0gaU7u8wPgKOAMSdOBYcCpqe9EspreaZL6Az8DzpZ0D1nZQovvS5op6TGy+uObi8xbWIM8PrWXGrPQ8cDRKcYjge/lrv2TLKm/Gfh2RMwHzgOOkvQAWXlFa6vRNcMlFmZmZmYVFhGlFiG3K9L3auDqXNM9FKnljYjvljFv0RXciCg15riC89nAriWGvzciTijo/zQwNNf047ZirAVeQTYzMzMzy/EKspmZmZm1KiJGVTuGruQVZDMzMzOzHK8g92CPfPhqtUMoy+A+K1c7hLLstOqnqx1CWf614J1qh1C2fqqNf0XtP68uHtruNu67pH+1QyjbSq0+62Tt9Y8JfaodQtn2/FW1I7DO5BVkMzMzM7McJ8hmZmZmZjlOkM3MzMzMcpwgm5mZmZnlOEE2MzMzqzBJi9JOdrMkPSbpB5JazbskNUg6rJPj2qVgp735kvZL146T9IykkLRa7h5JOiddmy5pq86MsTtwgmxmZmZWefMiYlhEfBbYA/gSMLaNexqATk2QI+LOFNcwsh3z3gcmp8v3ArsD/1dw2xeBTdJnNPCHzoyxO3CCbGZmZtaJIuJVssTyuLQa2yDpHkmPpM/2qet4YMe0snuCpM9KeiidT5e0Sbp3ZsvYkk6UNC4dT5F0errnKUk7thHagcDNEfF+ivPRtNV0oX2BiyPzADBI0trL9IfSzTlBNjMzM+tkEfEcWd61BvAqsEdEbAUcDJyTuo0B7kkrvGcB3wbOTqu9jcCcMqbqHRHDge/T9or1IcBlZYy5DvBi7nxOaqtbtfEWfgOgsbFxDNCvUuP1ZkClhjIzM+tRJI0mWxVu0RQRTW3dln72Ac6VNAxYBHyqRP/7gZ9IWhe4JiKellSi60euST8fJivZKB5ItgK8OXBrWwPm4s6LMu6rWU6Qa0u/5ubmcZUabLvBI9v6P0szMzMrIiXDbSXEH5G0IVky/CrZyu6/gS3IVpXnl5jjL5IeBPYCbpX0DeAplqwAKFw4+yD9XETred5BwLURsaCM8OcAn8ydrwu8XMZ9NcslFmZmZmadSNLqwPnAuRERwEDglYhYDBwJtOxX/y6wUu6+DYHnIuIcYBIwlCyxXkPSqpKWB/buYFiHUl55BWnur6X66e2A/0TEKx2ctyZ4BdnMzMys8vpLmkZWTrEQuAT4Tbp2HnC1pK8CdwLvpfbpwEJJjwETyVaHj5C0APgXcGpELJB0KvAg8DzwZHsDk9RAtiJ8V0H78cBJwFrAdEk3RcQ3gJvI3sLxDNlbL45u75y1xgmymZmZWYVFRK9Wrj1Nthrc4sepfQGwW0H3XxW5/xw+frAv3z4yd/w6JWqQ05sqlnrIrpVxA/hOsbHqlUsszMzMzMxy6mIFudJvd2hDQxfNY2ZmZmZVUBcJMhV+u0NrGhsbu2QeMzMzM6uOekmQu5VOXNFuqORgW/Vdo5LDdZoFNfKqxf69+lc7hLL8a8E71Q6hbMsv539F9URv9CpZutntbLvqa9UOwcw6gf/r0zk6ZUXbq9dmZmZmnc8P6ZmZmZmZ5ThBNjMzMzPLcYJsZmZmZpbjBNnMzMzMLMcJspmZmVkFSZoi6QsFbd+XdF4r98yWtFoF5p4g6VVJM0tcP1FStMwlaQ9JD0uakX7uWhDTDEnT0mepXfbqld9iYWZmZlZZlwGHALfm2g4BftgFc08EzgUuLrwg6ZPAHsALuebXgS9HxMuShpDFnN+Gepe0bXWP4hVkMzMzs8q6Cthb0vIAkhqAwcA/JB2aVmVnSjq98EZJp0s6Nnc+TtJ/K3NGum+GpIOLTRwRdwNvlojrLOAk+HiDgYh4NCJeTqezgH4tcfdkXkGuLfMr+S7k4WxYqaHMzMx6FEmjgdG5pqaIaAKIiDckPQTsCfyNbPX4CmBt4HRga+AtYLKk/SLiutw4lwO/BVrKMQ5K43wFGAZsAawGTJV0d0S8Uma8+wAvRcRjkkp1OwB4NCI+yLXdKWlROr4oIs4qZ75a5wS5hjQ3N4+v5HjHNhw0tpLjmZmZ9RQpGW5qpUtLmUVLgnwMsA0wJSJeA5B0KbATcF1u3EclrSFpMLA68FZEvCDpBOCyiFgE/FvSXWm8SW3FKmkF4CfA51vp81my5L2wj0sszMzMzKwirgN2k7QV0D8iHgFKLt0WuAo4EDiYbEWZdtxbzEbABsBjkmYD6wKPSFoLQNK6wLXA1yLi2WWYp244QTYzMzOrsIiYC0wBJpCtJgM8COwsaTVJvYBDgbuK3H452arzgWTJMsDdwMGSeklanWzl+aEyY5kREWtERENENABzgK0i4l+SBgE3Aj+OiHvb/03rkxNkMzMzs85xGVnN8OUAqV74x8CdwGPAIxHxt8KbImIWsBJZzXBLjfG1wPR03x3ASRHxr8J7JV0G3A9sKmmOpK+3EeNxwMbAT3Ovc1sjd/3OXPtSb8aoV65BNjMzM+sEEXEtBaUREfEX4C9F+jYUnG9ecB5kr4lr9VVxEXFoGXE15I5/Dvy8rX49jVeQzczMzMxynCCbmZmZmeW4xMK6vSnvPVftEMryxvx3qh1CWdZfcY22O3UTL334drVDKMsiBlY7hLry5cPmVjuEsvXa5UvVDqEs75x5bbVDMKspXkE2MzMzM8txgmxmZmZmluMSi/YrZ7vnhi6Iw8zMzMw6gRPkdipnu+cyEmgzMzMz66ZcYmFmZmZmluME2czMzKzCJM0tOB8l6dwKjT1R0oHtvOdrkmZKmiXpcUknpvZTJe3exr03pS2pewyXWJiZmZnVMUlfBL4PfD4iXpbUDzgSICJOaev+iKiN9xlWkFeQzczMzLqQpPUl3S5pevq5XmqfKOkcSfdJeq5llViZc9PK743AGrmxTpE0Na0ON0lSkSl/DJwYES8DRMT8iPhTbs4DJX1R0l9z446UdH06ni1ptXT8tRT3Y5Iu6aQ/oqrzCnIXaWxsHAP0q3YcecPZsNohmJmZ1SRJo4HRuaamiGjKnfeXNC13/glgUjo+F7g4Ii6SdAxwDrBfurY2sAOwWep/FbA/sCmwObAm8DgwoWWsiDg1xXQJsDdwfUG4Q4CH2/hKtwF/lLRiRLwHHAxcUfCdPwv8BPhcRLwu6RNtjFmznCB3nX7Nzc3jqh1E3rENB42tdgxmZma1KCXDTa10mRcRw1pOJI0CGtPpCOAr6fgS4Ne5+66LiMXA45LWTG07AZdFxCLgZUl35PrvIukkYAWyJHwWSyfI5XyfhZJuAb4s6SpgL+Ckgm67AldFxOvpnjfbO0+tcImFmZmZWXVF7viD3LFK9MkuZrXE5wEHRsTmwJ8o/tvqWcDWZcRxBXAQWSI8NSLeLZyyWBz1yAmymZmZWde6DzgkHR8O/KON/ncDh0jqJWltYJfU3pIMvy5pAFDqzRa/An4taS0ASctLOr5IvynAVsA3KSivSG4HDpK0ahrHJRZmZmZmVhHHAxMk/RB4DTi6jf7Xkq3qzgCeAu4CiIi3Jf0ptc8Gpha7OSJuSuUaf08P8QUf1zDn+y2SdAMwCjiqyPVZkn4B3CVpEfBo6lt3nCCbmZmZVVhEDCg4nwhMTMezyRLewntGFRsjIgI4rsQ8JwMnlxHPhcCFZcx5XOFcEdGQO74IuKit+WqdSyzMzMzMzHKcIJuZmZmZ5bjEogd75MNXqx1CWQb1WbHaIZSl73L+x6nSlqPY++67n0FaUO0Q6sp7D79d7RDK9p8bb6l2CGUZuFa1IzCrLV5BNjMzMzPLcYJsZmZmZpbjBNnMzMzMLMcJspmZmZlZjhNkMzMzM7McJ8hmZmZmFSZpkaRpuU+DpPvauGeQpGNLXPukpOdbtneWtEo6Xz+d3yLp7bQTXmtznC5pZvoc3NHvV+/8XqrOMb+xsXFcQVtDFeIwMzOz6pgXEcMK2rZv455BwLHAeYUXIuJFSX8AxgOj08+miPi/1OUMYAXgW6UGl7QXsBUwDFiebMvomyPinba+TE/jBLkTNDc3jy9sK5Iwm5mZWQ8iaW5EDJA0APgbsArQBzg5Iv5GlvRuJGkacFtE/LBgiLOAhyV9H9gB+G7LhYi4XdLINkL4DHBXRCwEFkp6DNgT+Ouyfrd64wS5BjQ2No4B+lV63N4MaLuTmZmZLUXSaLKV3BZNEdGUO++fEl2A5yNi/9y1+cD+EfGOpNWAByRNAsYAQ4qsPAMQEQsk/RC4Bfh8RHzYzrAfA8ZK+g3ZavMuwOPtHKNHcIJcG/o1NzePq/Sg2w0eObbSY5qZmfUEKRluaqVLsRKLFgJ+KWknYDGwDrBmmVN/EXgFGALcVuY9AETEZEnbAPcBrwH3AwvbM0ZP4Yf0zMzMzLrW4cDqwNYpif43ZfymWNIwYA9gO+AESWu30X/b3EOC+wBExC8iYlhE7EGWqD+9TN+kTnkF2czMzKxrDQReTSUTuwDrp/Z3gZWK3SBJwB+A70fEC5LOAM4kS7aLiogHyR7IaxmjFzAoIt6QNBQYCkyuwPepO15BNjMzM+talwKNkprJEtwnASLiDeDe9Aq2Mwru+SbwQkS0lFWcB2wmaWcASfcAVwK7SZoj6QtF5u0D3CPpcbLykCPSA3tWwCvIZmZmZhUWEUs9Cd/SFhGvAyNK3HdYifYlap4jYhGwde58xzJimk/2Jgtrg1eQzczMzMxynCCbmZmZmeW4xMKsQlbtXRvvlX530fxqh1B31vzEu9UOoa6stN+nqx1C2f5z/uxqh2BmncAryGZmZmZmObW4gjy/yLbNDVWIw8zMzMzqUM0lyM3NzeML24okzGZmZmZmHeISCzMzMzOznJpbQa5hxUpDytVQwTjMzMzMrBVOkLtIsdKQcrmExMzMrLZIWgTMyDXtB/wlIrZv5Z5BwGERcV6J6xOAvcm2qR6Saz8D+DLwIfAscHREvC2pD3ABsBVZzndxRPxqWb5XT+ESCzMzM7PKmxcRw3Kf2a0lx8kg4NhWrk8E9izSfhswJCKGAk8BP07tXwWWj4jNyXbd+5akhnZ8hx7LCbKZmZlZF5A0N/0cIOl2SY9ImiFp39RlPLCRpGlpVXgJEXE38GaR9skRsTCdPgCs23IJWFFSb6A/2QrzO5X9VvXJJRZ1pLGxcQzQr9z+vamNjS3MzMy6G0mjgdG5pqaIaMqd95c0LR0/HxH7567NB/aPiHckrQY8IGkSMIZsJXjYMoR2DHBFOr4K2Bd4BVgBOCEilkqwbWlOkOtLv+bm5nHldt5u8MixnRiLmZlZ3UrJcFMrXea1kugK+KWknYDFwDrAmssak6SfAAuBS1PTcGARMBhYBbhH0t8j4rllnaveOUE2MzMz61qHA6sDW0fEAkmzacdvgIuRdBTZA3y7RUSk5sOAWyJiAfCqpHuBRsAJchtcg2xmZmbWtQaSvYligaRdgPVT+7vASu0dTNKewI+AfSLi/dylF4BdlVkR2A54ctlC7xmcIJuZmZl1rUuBRknNZKvJTwJExBvAvZJmFntIT9JlwP3AppLmSPp6unQuWWJ9W3rA7/zU/ntgADATmApcGBHTO/OL1QuXWJiZmZlVWEQs9SR8S1tEvA6MKHHfYa2MeWiJ9o1LtM8le9WbtZNXkM3MzMzMcpwgm5mZmZnluMSiNswvc7vphk6Ooyo+fhi3e3vpw7eqHUJZVu7dv9ohlG1BLKp2CGUZsNoH1Q6hLIsXqtohlEWrrV7tEMo2cE0/72RWj5wg14Dm5ubx5fQrM4k2MzMzs1a4xMLMzMzMLMcJspmZmZlZjhNkMzMzM7McJ8hmZmZmZjlOkM3MzMwqSNKqaUe7aZL+Jeml3HnfZRz7fzpwTx9J4yU9nXbpe0jSF5cljtzYc9PPBkkzKzFmd+C3WJiZmZlVUNoyehiApHHA3Ig4s0LD/w/wy3becxqwNjAkIj6QtCawc7k3S+oVUSPv3awQryCbmZmZdTJJu0l6VNIMSRMkLZ/ars312UPSNen40NR3pqTTU9t4oH9aib40tV0n6WFJsySNLjLvCsA3ge9GxAcAEfHviPhrqXlS+1xJp0p6EBgh6Qepz0xJ32/juzZIukfSI+mz/TL+8XU5ryDXl3I3FAGgN0ttE29mZmZlSMloPiFtioimEt37AROB3SLiKUkXA/8FnA38XtLqEfEacDRwoaTBwOnA1sBbwGRJ+0XEGEnHRcSw3NjHRMSbkvoDUyVdnVawW2wMvBAR7xT5DqXmuQ5YEZgZEadI2jrFti0g4EFJd0XEoyW+76vAHhExX9ImwGVAY4m+3ZIT5DpS7oYiLbYbPHJsZ8ViZmZWz1IyXCohLtQLeD4inkrnFwHfiYjfSroEOELShcAI4GvAXsCUlDSTVot3Aq4rMvbxkvZPx58ENgHeKNKvmG1amWcRcHXqtwNwbUS8l/pdA+wIlEqQ+wDnShqWxvlUmfF0G06QzczMzDrXe61cuxC4HpgPXBkRCyWVtS+8pJHA7sCIiHhf0hSy1eq8Z4D1JK0UEe8WDtHK8PNzdcft3af+BODfwBZk5bzz23l/1bkG2czMzKxz9QMaJG2czo8E7gKIiJeBl4GTycowAB4Edpa0mqRewKEt/YEFkvqk44HAWyk53gzYrnDiiHgf+F/gnJY3aEhaW9IRbcyTdzewn6QVJK0I7A/c08r3HQi8EhGL03ft1UrfbskJspmZmVnnmk9Ww3ulpBnAYuD83PVLgRcj4nGAiHgF+DFwJ/AY8EhE/C31bQKmp3KIW4DekqaTvanigRLznwy8BjyeXsV2HfBaG/N8JCIeIUveHyJLqi9opf4Y4DzgKEkPkJVXtLaC3i25xMLMzMysk0TEuNzpliW67QD8qeC+vwB/KTLej4Af5ZrafJ9xRHwInJQ+hddKzTOg4Pw3wG9K9YuI2cCQdPw0MDTX7cdtxdjdOEE2MzMzqxJJD5OtsP53tWOxjzlBNjMzM6uSiNi62jHY0pwg92Bb9V2j2iGU5ZXF86odQln6LFcb/zjNX/RhtUMo23rLf6LaIZTlh/9X+NB49/RWtkdAt/e7X5cqo+x+Vh2+TLsGd5l5z9TGX/sdjllQ7RDMAD+kZ2ZmZma2BCfIZmZmZmY5TpDNzMzMzHKcIJuZmZmZ5ThBNjMzMzPLcYJsZmZmVmGSFkmaJmmmpCslrdBJ80yUdOAy3H+wpOmSZkn6da59J0mPSFpYbHxJK0t6SdK5JcYdJun+NO50SQd3NMZqcIJsZmZmVnnzImJYRAwBPgS+Xc5NkrrsnaGSVgXOAHaLiM8Ca0raLV1+ARhFkV32ktOAu1oZ/n3ga2ncPYHfShpUibi7ghNkMzMzs851D7CxpE9Iui6tqD4gaSiApHGSmiRNBi6W9FlJD6UV6OmSNkn9vpbOH5N0SW78nSTdJ+m5/GqvpB9Kmpru+VmRuDYEnoqI19L534EDINs6OiKmA4sLb5K0NbAmMLnUF46Ip9KW00TEy8CrwOrl/oFVW23sbNBFGhsbxwC18cb/ChjOhtUOwczMrCZJGg2MzjU1RURTkX69gS8CtwA/Ax6NiP0k7QpcDAxLXbcGdoiIeZJ+B5wdEZdK6gv0kvRZ4CfA5yLidUn5nZTWBnYANgMmAVdJ+jywCTAcEDBJ0k4RcXfuvmeAzSQ1AHOA/YBWd7+RtBzw/4Ajgd1a65u7Z3ga99ly+ncHTpCX1K+5uXlctYPoKsc2HDS22jGYmZnVopQML5UQ5/SXNC0d3wP8L/AgH6/Q3iFpVUkDU59JEdGydez9wE8krQtcExFPp4T6qoh4Pd3/Zm6u6yJiMfC4pDVT2+fT59F0PoAsYf4oQY6ItyT9F3AF2UrxfdDm6tmxwE0R8aKkNrqCpLWBS4CjUow1wQmymZmZWeXNi4hh+QYVzygj/Xzvo4aIv0h6ENgLuFXSN8hWgaPI/QD5vcSV+/mriPhja0FGxPXA9Sm+0cCi1voDI4AdJR1LlnT3lTQXuBZomeuUiJgkaWXgRuDkiKidPeRxDbKZmZlZV7kbOBxA0kjg9Yh4p7CTpA2B5yLiHLKSiaHA7cBB6cE6CkosirkVOEbSgNR/HUlrFJlrjfRzFbLV4QtaGzQiDo+I9SKiATgRuDgixkTEg+mhxGEpOe5LljRfHBFXthFrt+MVZDMzM7OuMQ64UNJ0src8HFWi38HAEZIWAP8CTo2INyX9ArhL0iKy0olRpSaKiMmSPg3cnxau5wJHkD0sl3e2pC3S8akR8RSApG3IEtxVgC9L+ll6I0W5DgJ2AlaV1BLnqIiY1o4xqsYJspmZmVmFRcSAIm1vAvsWaR9XcP4r4FdF+l0EXFTQNqrUvBFxNnB2G3EeWqJ9KrBuG/dOBCaWuPZn4M+t3d+ducTCzMzMzCzHCbKZmZmZWY5LLHqwM7+z1G9/uqW7z6yN/4+7qX+n7CJacev16lPtEMr2iN5ru1M38Mj8l6odQlk2WH61aodQluveWrPtTt1E/1uqHUF59t/4xWqHYFZTaiPzMDMzMzPrIk6QzczMzMxynCCbmZmZmeU4QTYzMzMzy/FDemZmZmZWt9radTC9n3oJTpDNzMzMKiztdjcj17RfRMzu5Dkbga9FxPEF7SOBvwHPASsA/wZ+HRE3pOvfBt6PiIs7M74qehgIQEWuBbBhYWO9JMjzGxsbx1VgnIYKjGFmZmY2LyKGtfcmSb0jYmGp8zbuawaaS3S5JyL2Tn2HAddJmhcRt0fE+e2Ns5ZExAbtvacuEuTm5ubxlRinQkm2mZmZ2VIkbQ38BhgAvA6MiohXJE0B7gM+B0yS9OWC86eAk4G+wBvA4RHxb0njgMFkC3yvS2oCTmxJhEuJiGmSTgWOA25P48yNiDNTLA8CuwCDgK9HxD2S+gF/ABqBhcAPIuLOivzBdBFJAg4HNoiI0yStB6wVEQ8V9q2LBLnaGhsbxwD9qh1He9198NBqh2BmZlaTJI0GRueamiKiKXfeX9K0dPw8cBDwO2DfiHhN0sHAL4BjUp9BEbFzGvvLBeerANtFREj6BnAS8N/pvq2BHSJiXiqlKNcjwA9LXOsdEcMlfQkYC+wOfAcgIjaXtBkwWdKnImJ+O+astvOAxcCuwGnAu8DVwDaFHZ0gV0a/5ubmcdUOor3eP+OYsdWOwczMrBalZLiplS5LlFhIGgIMAW7LFjLpBbyS639Fwf3583WBKyStTbaK/Hzu2qSImNfuL1C8HrfFNennw3xcfroDWYJPRDwp6f+ATwHTOzB3tWwbEVtJehQgIt6S1LdYRyfIZmZmZp1PwKyIGFHi+nutnP8O+E1ETEqrxONaua9cWwJPlLj2Qfq5iI9zxdYS6lqxQFIvsgfzkLQ62YryUvweZDMzM7PO909gdUkjACT1kfTZMu8dCLyUjo9a1kAkDQV+Cvy+HbfdTVa/i6RPAeuRfadacg5wLbCGpF8A/wB+WayjV5DNzMzMOllEfCjpQOAcSQPJcrDfArPKuH0ccKWkl4AHgHa/lQHYMZUWrAC8ChwfEbe34/7zgPMlzSB7SG9URHzQxj3dSkRcKulhYDeyFfH9IqLoKroTZDMzM7MKi4gBRdqmATsVaR/ZxvnfyN5jXHjfuILzKcCUIv2mkK1Cl4p1XO54ZO74dVINcnoYb1SpMbqzgo1CXgUuy1/zRiFmZmZm1tPkNwpZD3grHQ8CXqDIirxrkM3MzMysbkXEBhGxIXAr8OWIWC0iVgX25uM3dizBK8g92FPnvl7tEMpybf/lqx1CWT4s/iBsN9Sn2gGUbQX1qnYIZfl0vzWrHUJZ5seiaodQllVqI0wANlpUS6+A7f7+MaF2/v2056+qHYF1wDYR8e2Wk4i4WdJpxTo6QTYzMzOznuB1SScDfyYruTiCbGfCpbjEwszMzMx6gkOB1cle9XYdsEZqW4pXkM3MzMys7qW3VXxP0srA4oiYW6qvV5DNzMzMrO5J2jy9C3oGMEvSw2kL8KV4BXlJ8xsbG8d14L6GCsdhZmZmZpX1R+AHEXEnQNq2uwnYvrCjE+Sc5ubm8R25r4NJtZmZmdUpSQH8OSKOTOe9gVeAByNi72UceyJwQ0RcVWb/ccA3gdeAvsBpEXFZujYJuDIiLknnfwKeiogzcvf/Dji62OYnNWbFluQYsg1UJK1YrKNLLMzMzMwq7z1giKT+6XwP4KUqxnNWRAwD9gX+KKnlnXrHA6dKGiRpe2Bbsi2wAZDUSLahRj14TtJPJTWkz8nA88U6OkE2MzMz6xw3A3ul40NZcovj4ZLuk/Ro+rlpar9A0rT0eU3SWGXOlfS4pBvJ3r7QMs4pkqZKmimpSZJaCygingbeB1ZJ57PJygx+DZwHHBcRC9LYvYAzgJMq8qdRfceQvcXiarINQlajxPbZLrGoY42NjWOAfqWuX8DgLozGzMysfkgaDYzONTVFRFNBt8uBUyTdAAwFJgA7pmtPAjtFxEJJuwO/BA6IiG+k8dcn2/ltIrA/sCmwObAm8HgaC+DciDg13XMJ2e5w17cS91bA0xHxaq75TOBZ4J6IuDvXfhwwKSJeaSPvrhUbAZ8kWyDuDewG7Er212YJTpDrW7/m5uZxpS5OW3+fsV0Yi5mZWd1IyXBhQlzYZ7qkBrLV45sKLg8ELpK0CdmmFR9tIyipH3Al2Wru/0k6AbgsIhYBL0u6IzfOLpJOAlYAPgHMoniCfIKkbwIbAnsWXBsKCNhM0nIRsVjSYOCrwMjWvmONuRQ4EZgJrW9/6xILMzMzs84ziWyF9rKC9tOAOyNiCPBllvyN7/nANRHx91xbFA6cEunzgAMjYnPgT5T+zfFZEbEpcDBwcboXSculMY4Engb+K/XfEtgYeEbSbGAFSc+U9Y27r9ci4vqIeD4i/q/lU6yjE2QzMzOzzjMBODUiZhS0D+Tjh/ZGtTRK+g6wUkTk36x1N3CIpF6S1gZ2Se0tyfDrkgYAB7YVTERcAzQDR6Wmb5GVXEwBfgCcJGn1iLgxItaKiIaIaADej4iNy/rG3dfYVON9qKSvtHyKdXSJhZmZmVkniYg5wNlFLv2arMTiB0C+ZOJEYIGkaen8fLL39+5KtsHFU8Bdaey302vZZgCzgallhnUq8BdJ1wI/ArZL470s6ewU29FljlVLjgY2IytnaSmxCLIH9pbgBNnMzMyswoq9Mzit0k5Jx/cDn8pd/mlq36DEkMeVmOdk4OQ2YhlXcP4w2UN/ULDZWUT8psQYtf4OZIAtUilKm1xiYWZmZmY9wQOSPlNOR68gm5mZmVlPsANwlKTngQ/I3twREeHXvHWS+d10u+mGagfQk6xO32qHYFWy1kcbZXVvs2NutUMwM6umwtfbleQEuQKam5vHt92r63XTpN3MzMysy5V6pVsxrkE2MzMzM8txgmxmZmZmluME2czMzMwsxwmymZmZmVmOE2QzMzOzCpMUki7JnfeW9JqkGyow9kRJbW4rnes/TtJLkqZJelzSoblrkyQdmTv/k6QfFtz/O0lFX4Mj6VFJw9Jxb0nvSToid/1hSVu14+t1C06QzczMzCrvPWCI9NF7IPcAXqpiPGdFxDBgX+CPkvqk9uOBUyUNkrQ9sC3w25abJDUCg1oZ9z5g+3S8BfDPlnNJKwIbAo9V7Ft0ESfIZmZmZp3jZmCvdHwocFnLBUnDJd2XVmDvk7Rpar8grfROSyvOY5U5N63+3giskRvnFElTJc2U1CRJrQUUEU8D7wOrpPPZQBPwa+A84LiIWJDG7gWcAZzUypD38nGCvD1wPjAsnQ8HHomIRZKuS6vJsySNzsX/dUlPSZqSVq/PbS3+ruL3INe3VjcwuYDBXRiKmZlZ/UhJ3uhcU1NENBV0uxw4JZVVDAUmADuma08CO0XEQkm7A78EDoiIb6Tx1wduBSYC+wObApsDawKPp7EAzo2IU9M9lwB7A9e3EvdWwNMR8Wqu+UzgWeCeiLg7134cMCkiXmkl774P+Hk63h74GXCopJXS+b3p2jER8WZaUZ8q6WpgeeCnwFbAu8AddJPVZifIdaytDUymrb/P2K6KxczMrJ6kZLgwIS7sM11SA9nq8U0FlwcCF0naBAigpeQBSf2AK8lWc/9P0gnAZRGxCHhZ0h25cXaRdBKwAvAJYBbFE+QTJH2TrOShcEe5oWTbLm8mabmIWCxpMPBVYGQb33G2pL6S1gI2IyuxmEpWqrE98LvU9XhJ+6fjTwKbAGsBd0XEm+l7Xwl8qrX5uopLLMzMzMw6zySyFdrLCtpPA+6MiCHAl4F+uWvnA9dExN9zbVE4cEqkzwMOjIjNgT8VjJN3VkRsChwMXJzuRdJyaYwjgaeB/0r9twQ2Bp6RNBtYQdIzJca+HzgQeCUiAngA+BxZicUDkkYCuwMjImIL4NEUZ6vlINXkBNnMzMys80wATo2IGQXtA/n4ob1RLY2SvgOsFBH53wLfDRwiqZektYFdUntLMvy6pAFkSWqrIuIaoBk4KjV9i6zkYgrwA+AkSatHxI0RsVZENEREA/B+RGxcYth7gRPIEmXSz68B/4qIt9N3fSsi3pe0GbBd6vcQsLOkVST1Bg5oK/6u4gTZzMzMrJNExJyIOLvIpV8Dv5J0L9Ar134isHnuQb1vA9eSre7OAP4A3JXGfpts1XgGcB1ZaUM5TgV+IGkN4EdpTiLiZeDsFFt73EtWunF/GueV9J3uS9dvAXpLmk62cv5A6vcSWe31g8DfyWqr/9POuTuFa5DNzMzMKiwiBhRpmwJMScf3s2S97U9T+wYlhjyuxDwnAye3Ecu4gvOHyR76A2gouPabEmMs9X1y16ZSUC6RVp1bjj8Avlji9r9ERFNaQb4WmFxqnq7kFWQzMzMzq5ZxkqYBM4HnyVbCq84ryGZmZmZWFRFxYrVjKMYJsnV7p230atuduoGVDt262iGU5dXzplc7hLKtOnKFaodQljOvXqnaIZRldrUDKNNfe71Z7RDKNqj38tUOoSzznl252iGU5f2+3aL8tCyF70mz+uISCzMzMzOzHCfIZmZmZmY5TpDNzMzMzHKcIJuZmZmZ5ThBNjMzMzPLcYJsZmZmVmGS1pJ0uaRnJT0u6SZJn5I0UtINnTDfOEkdfmVaZ8XVxpyNks5po0+XxwV+zZuZmZlZRUkS2a5wF0XEIaltGLBmO8boFRGLOidCkNQ7IhZ21vhlzt8MNFcrhtZ4BdnMzMyssnYBFkTE+S0NETEtIu5JpwMkXSXpSUmXpoQaSbMlnSLpH8AYSY+03C9pE0kPp+PxaVV6uqQzCyeXtJGkWyQ9LOkeSZul9omSfiPpTuD0UsGn1eiLJE1OMX1F0q8lzUjj9snFe7qkh9Jn49S+uqSrJU1Nn8/lxm2SNBm4OL86LGm4pPskPZp+bloqvq7gFeQa0tjYOAboV6nxLmBwpYYyMzPrUSSNBkbnmpoioikdDwEebuX2LYHPAi8D9wKfA/6Rrs2PiB3SHLtLGhYR04CjgYmSPgHsD2wWESFpUJHxm4BvR8TTkrYFzgN2Tdc+Bexexur0RmSJ/meA+4EDIuIkSdcCe/HxltDvRMRwSV8DfgvsDZwNnBUR/5C0HnAr8OnUf2tgh4iYJ2lkbr4ngZ0iYqGk3YFfAge0EWOncYJcW/o1NzePq9Rg09bfZ2ylxjIzM+tJUjLc1GbH4h6KiDkAkqYBDXycIF+R63cBcLSkHwAHA8OBd4D5wAWSbgSWqM+VNADYHrgyLUwD5Ld8vLLM0o2bI2KBpBlAL+CW1D4jxdvistzPs9Lx7sBncvOvLKlly9FJETGvyHwDgYskbQIE0KeMGDuNE2QzMzOzypoFHNjK9Q9yx4tYMh97L3d8NTAWuAN4OCLegKwcAdgNOAQ4jo9XhyErn307IoaVmPu9Eu1FY4yIxZIWRESk9sUF8UaR4+WAEYWJcEqYS81/GnBnROwvqQGYUmacncI1yGZmZmaVdQewvKRvtjRI2kbSzu0ZJCLmk5Un/AG4MI0zABgYETcB3weGFdzzDvC8pK+m/pK0Rce/SpsOzv28Px1PJkvcSTEMo20DgZfS8agKxdZhTpDNzMzMKiittu4P7JFe8zYLGEdWc9xel5KtzE5O5ysBN0iaDtwFnFDknsOBr0t6jGw1e98OzFuu5SU9CHwvF8vxQGN6iPBx4NtljPNr4FeS7iUr6agql1iYmZmZVVhEvAwcVOTS0+TKByLiuNxxQ5H+OwATWuqGI+IVslrkwvnG5Y6fB/Ys0mdUK/FOaYkrP1Y6H1BsnuT3EfGzgv6v8/HKctEYi8x5P9kDhC1+WtinKzlBNjMzM+uG0hsjNmLJGmPrAk6QzczMzLqhiNi/2jG0psSKd11wgmzd3psvrljtEMoyYN78aodQd5Zbc9Vqh1CWdRYtqHYIZWmukadOpv7n2WqHULbB/Wvj79EN+9ZGnGbdRY3869LMzMzMrGs4QTYzMzMzy3GCbGZmZmaW4wTZzMzMzCzHD+mVqbGxcQzQr8phNFR5fjMzM7O65wS5fP2am5vHVTOAxsbGqs5vZmZm5ZG0FvBbYBvgA2A28P2IeKrM+8cBcyPiTEmnAndHxN8lTQFOjIhmSbOBxrQxR0fjHAn8DXg+Nb0eEbvn5+/gmB9GxH0djaud881mGf8cCjlBNjMzM6sgSQKuBS6KiENS2zBgTaCsBDkvIk6paIBLuyci9q7geCOBuUCXJMidwTXIZmZmZpW1C7AgIs5vaYiIaRFxj6QBkm6X9IikGZL2bekj6SeS/inp78CmufaJkg5sbUJJ10l6WNIsSaNz7XumuR6TdHtHvoykjSTdksa/R9JmqX11SVdLmpo+n5PUAHwbOEHSNEk7S3pOmUGSFkvaKd1/j6SNJX0ixT9d0gOShqbrpdpXlTRZ0qOS/gioI9+rNV5B7gFK1U9fwOAqRGNmZlb7UhI6OtfUFBFN6XgI8HCJW+cD+0fEO5JWAx6QNAnYCjgE2JIsP3uklTGKOSYi3pTUH5gq6WqyhdA/ATtFxPOSPlHi3h0lTUvHV0bELwquNwHfjoinJW0LnEe2/fXZwFkR8Q9J6wG3RsSnJZ1PrjxD0lPAZ4AN0nfaUdKDwLoR8Yyk3wGPRsR+knYFLgaGAT8r0T4W+EdEnCppL5b861ARTpB7hqL109PW32dsFWIxMzOreSkZbmqz49IE/DKtoi4G1iErvdgRuDYi3gdISXN7HC+pZWvqTwKbAKuT1S4/n2J+s8S9JUssJA0AtgeuzCpHAFg+/dwd+EyufWVJKxUbH9iJLEH+FfBN4C5garq+A3BAivGOtEI8sJX2nYCvpPYbJb1V4nt1mBNkMzMzs8qaBZQqiTicLHHdOiIWpAfMWn7LGx2ZLD0UtzswIiLeTw/y9SNLxjs0Zs5ywNsRMazEtRERMa8gnsJ+95CVXQwGTgF+SFanfHfLLUXGjlba8z87hWuQzczMzCrrDmB5Sd9saZC0jaSdgYHAqyk53gVYP3W5G9hfUv+0Cvvldsw3EHgrJcebAdul9vuBnSVtkGIoVWJRUkS8Azwv6atpDEnaIl2eDByX+47D0uG7QH4l+UGyVejFETEfmAZ8iyxxhuy7H57GGEn2Jo13ymz/IrBKe79XW5wgm5mZmVVQRASwP7CHpGclzQLGAS8DlwKNkprJkrwn0z2PAFeQJY9X83HyWI5bgN6SpgOnAQ+kMV8jq8+9RtJjafyOOBz4ehpjFtDyYOHx6btMl/Q42SoxwPVkyf40STtGxAfAiy1xpe+2EjAjnY9rGQcYDxzVRvvPgJ0kPQJ8Hnihg9+rJJdYmJmZmVVYRLwMHFTi8ogS9/wCKHxAjogYlTsemTtuyHX7YokxbwZubiXOKcCUIu3jcsfPA3sW6fM6cHCR9qeAoQVtO+aO/wL8JXf+Jh8n3ZTR/gZZYtzihMI+y8oryGZmZmZmOU6QzczMzMxyXGJh3V6/FRZUO4SyaODAaodQd2Le/GqHUJb56lXtEKxKVui1fNudzKzmOEGuLfMbGxvHdeC+hgrHYWZmZla3nCDXkObm5vEdua+DSbWZmZlZj+QaZDMzMzOzHCfIZmZmZmY5TpDNzMzMzHKcIJuZmZlVmKS5Rdq+LelrFZ5niqTGdt7zRUnNkp6Q9KSkMzs4d4Okw3LnjZLO6chYbcyzn6TPlNFvnKQTKzGnE2QzMzOzLhAR50fExdWMQdIQ4FzgiIj4NDAEeK6DwzUAHyXIEdEcEccvc5BL2w9oM0GuJCfIZmZmZl0gv8KZVn5Pl/SQpKck7Zjae0k6U9IMSdMlfTe17ybp0dQ+QdJSL+GWNFfSLyQ9JukBSWsWCeMk4BcR8SRARCyMiPPS/etLuj3Ne7uk9VL7REnnSLpP0nOSDkxjjQd2lDRN0gmSRkq6IfddJ6Tv+ZykjxJnSUek7z1N0h+l7GXyxeKXtD2wD3BG6r+RpG9Kmpr6XS1phUr89clzgtwzzG9sbBxX+Kl2UGZmZrVK0uhUptDyGd2BYXpHxHDg+8DY1DYa2ADYMiKGApdK6gdMBA6OiM3JXtP7X0XGWxF4ICK2AO4GvlmkzxDg4RLxnAtc3DIvkC+XWBvYAdibLDEGGAPcExHDIuKsIuNtBnwBGA6MldRH0qeBg4HPRcQwYBFweKn4I+I+YBLwwzTPs8A1EbFN6vcE8PUS36fD/B7kHqDU+5Onrb/P2GLtZmZm1rqIaAKalnGYa9LPh/l4U6/dgfMjYmGa501JWwDPR8RTqc9FwHeA3xaM9yFwQ27MPdoZzwjgK+n4EuDXuWvXRcRi4PESK9PF3BgRHwAfSHoVWBPYDdgamCoJoD/wajvjHyLp58AgYABwa5nxlM0JspmZmVl1fJB+LuLjnExAFPRTmeMtiIiWe/Nj5s0iS1AfK2O8fBwf5I7LjSd/T0s8Ai6KiB8X6V9O/JCtpu8XEY9JGgWMLDOesrnEwszMzKz7mAx8W1JvAEmfAJ4EGiRtnPocCdzVwfHPAP5H0qfS+MtJ+kG6dh9wSDo+HPhHG2O9C6zUzvlvBw6UtEaa/xOS1m/nPCsBr0jqw8flGRXlBNnMzMys8laQNCf3+UHbtwBwAfACMF3SY8BhETEfOBq4UtIMYDFwfkeCiojpZDXPl0l6AphJVl8McDxwtKTpZEn499oYbjqwMD0sd0KZ8z8OnAxMTvPclpu/lMuBH6aHFDcCfgo8mO59spx528slFmZmZmYVFhGtLkJGxMjc8eukGuRUe/yD9Mn3vx3Yso1xBuSOrwKuKjH3DXxc65tvnw3sWqR9VMH5gPRzAVlNcd6UdG1cwT1DcsdXAFcUmado/BFxL0u+5u0P6VN4/7jCto7yCrKZmZmZWY4TZDMzMzOzHJdYWLc36NMLqx1CWf5+0uxqh1CWoYOrHUH53rjh1bY7dQOXLlpU7RDKslrvFasdQlm2WLmh2iGUbdXl+lc7hLJ8GLXx96hZd+EVZDMzMzOzHCfIZmZmZmY5TpDNzMzMzHKcIJuZmZmZ5ThBNjMzMzPLcYJsZmZmVmGSFkmaJmlW2mnuB5I6lHdJGiVpmd5BJGlfSdNTTM2SdshdGyTpKklPSnpC0ojU/glJt0l6Ov1cZVliqCVOkM3MzMwqb15EDIuIzwJ7AF8CxnZwrFFAuxJkSYWv8r0d2CIihgHHkG1p3eJs4JaI2AzYAngitY8Bbo+ITdL9Y9odeY1ygmxmZmbWiSLiVWA0cJwyoySd23Jd0g2SRkrqJWmipJmSZkg6QdKBQCNwaVr97S9pa0l3SXpY0q2S1k7jTJH0S0l3Ad8riGFuREQ6XRGIdM/KwE7A/6Z+H0bE26nfvsBF6fgiYL+K/+F0U94opEY0NjaOAfpVcswL2vc/o2ZmZpZIGk2W9LZoioimUv0j4rlUYrFGK8MOA9aJiCFpjkER8bak44ATI6JZUh/gd8C+EfGapIOBX5CtCgMMioidS8S8P/CrFMNeqXlD4DXgQklbAA8D34uI94A1I+KVFP8rklqLva44Qa4d/Zqbm8dVcsBp6+/T0V/1mJmZ9WgpGS6ZEJegNq4/B2wo6XfAjcDkIn02BYYAt0kC6AW8krt+RanBI+Ja4FpJOwGnAbuT5YJbAd+NiAclnU1WSvHTsr5RnXKJhZmZmVknk7QhsAh4FVjIkjlYP4CIeIusBngK8B2WrBP+aChgVqpvHhYRm0fE53PX32srloi4G9hI0mrAHGBORDyYLl9FljAD/DtXvrF2ir1H6PQV5M4oDaiShmoHYGZmZrVH0urA+cC5ERGSZgPHppKLdYDhqd9qwIcRcbWkZ4GJaYh3gZXS8T+B1SWNiIj7U8nFpyJiVhsxbAw8m+bfCugLvJHOX5S0aUT8E9gNeDzdNgk4Chiffv5t2f80akNXlFhUvDSgGhobG8dVOwYzMzOrGf0lTQP6kK0YXwL8Jl27F3gemAHMBB5J7euQ1QK3rC7/OP2cCJwvaR4wAjgQOEfSQLJc7rdAqwkycADwNUkLgHnAwbmH9r5L9hBgX7Iyj6NT+3jgr5K+DrwAfLUd37+muQbZzMzMrMIiolcr1wI4vMTlrQobIuJq4Opc0zSyN08U9hvZypynA6eXuDaN7E0Zhe1vkK0o9ziuQTYzMzMzy3GCbGZmZmaW4xILswpZY7kPqh1C3Vn4QcnfUHYrby74T7VDKMtqvVesdghlmbuodv5Z+ubC1aodQlku7/NOtUMwqylOkCuok9/Y0dBJ45qZmZlZjhPkyuq0N3b4LRpmZmZmXcM1yGZmZmZmOU6QzczMzMxynCCbmZmZmeU4QTYzMzOrMElrSbpc0rOSHpd0k6RPVTuuPEm/kDQt93lK0iJJAyQdLml6+twnaYvcfSdImiVppqTLJHXWCwqqxgmymZmZWQVJEnAtMCUiNoqIzwD/A6zZRfOX9RKGiPhJRAxr+QBTgV9FxFyyrbB3joihwGlAUxp7HeB4oDEihgC9gEM64WtUlRNkMzMzs8raBVgQEee3NETEtIi4J63O3i7pEUkzJO0LIKlB0pOSLkgrs5dK2l3SvZKeljQ89RueVnQfTT83Te2jJF0p6XpgsqRPSLourQA/IGloawFLOgLYGBiX4r0vIt5Klx8A1s117w30T4n4CsDLFfgz61b8mrfaMb/Sr3q7gMGVHM7MzKzHkDQaGJ1raoqIpnQ8BHi4xK3zgf0j4h1JqwEPSJqUrm0MfDWNOxU4DNgB2IdsBXo/4Elgp4hYKGl34JfAAen+EcDQiHhT0u+ARyNiP0m7AhcDw0p8lwZgPDAyIhYW6fJ14GaAiHhJ0pnAC8A8YHJETC7xXWuWE+Qa0dzcPL7SY05bf5+xlR7TzMysJ0jJcFObHZcm4JeSdgIWA+vwcenF8xExA0DSLOD2iAhJM/h4w7CBwEWSNgEC6JMb+7aIeDMd70BKnCPiDkmrShoYEUts/SmpF/Bn4KcR8cxSwUq7kCXIO6TzVYB9gQ2At4ErJR0REX/uwJ9Ft+USCzMzM7PKmgVsXeLa4cDqwNap7vfffLwLb36f9cW588V8vKh5GnBnqv/9Mkvu4Pte7lhF5o4ibScDr0TEhYUXUlnGBcC+EfFGat6dLJF/LSIWANcA2xcZt6Y5QTYzMzOrrDuA5SV9s6VB0jaSdiZbAX41Ihak1dn12zn2QOCldDyqlX53kyXjSBoJvB4R7+Q7SNoujTG64F4krUeW/B4ZEU/lLr0AbCdphfQw4m7AE+38Dt2eSyzMzMzMKiiVRewP/FbSGLK649nA98lWl6+X1AxMI6spbo9fk5VY/IAsES9lHHChpOnA+8BRRfr8jOwhuzuzXPcjBwA/BlYFzkvXFkZEY0Q8KOkq4BFgIfAoHSs16dacIJuZmZlVWES8DBxU4vKIEu1DcvePyh3PbrkWEfcD+fcp/zS1TwQm5u55k6xWuLUYv9DK5W+kT7H7xgJ1/RyTSyzMzMzMzHKcIJuZmZmZ5bjEogd7dOHK1Q6hLG/c0b/aIZSlnxZVO4S6M+u1VasdQll+uPwa1Q6hLH/jrbY7dQNr916p2iGUrWnxa9UOoSwrs3y1QzCrKV5BNjMzMzPLcYJsZmZmZpbjBNnMzMzMLMcJspmZmZlZjhNkMzMzM7McJ8hmZmZmFSYpJF2SO+8t6TVJN3TinL+TNDd3PlLSfyRNS59Tctf2lPRPSc+k3f5a2reT9GDq/4Skcal9lKRzi8w5QNIfJT0raZakuyVt21nfsav4NW9mZmZmlfceMERS/4iYB+wBvNSeAST1joiFZfZtBAYVuXRPROxd0LcX8PsU0xxgqqRJEfE4cBFwUEQ8lvpt2sbUFwDPA5tExGJJGwKfLifm7swryGZmZmad42Zgr3R8KHBZywVJK0qaIGmqpEcl7ZvaR0m6UtL1wOS0QnuhpBmSpks6oHCSlMieAZxUZlzDgWci4rmI+BC4nI+3pV4DeAUgIhalpLkoSRsB2wInR8TidM9zEXFjmXF0W15BrlONjY1jgH6t9fkOm3VRNGZmZvVF0mhgdK6pKSKaCrpdDpySyiqGAhOAHdO1nwB3RMQxkgYBD0n6e7o2AhgaEW9KOh34T0RsnuZdpUg4xwGTIuIVSYXXRkh6DHgZODEiZgHrAC/m+swhS3QBzgL+KWkKcAtwUUTML/HH8FlgWkTU3U5ZTpDrV7/m5uZxrXW4cJ0jxnZRLGZmZnUlJcOFCXFhn+mSGshWj28quPx5YB9JJ6bzfsB66fi2iHgzHe8OHJIbc4ktMSUNBr4KjCwSwiPA+hExV9KXgOuATYClsmgg0vinSro0xXdYir3Y2HXNJRZmZmZmnWcScCa58opEwAERMSx91ouIJ9K19wr6RSvjbwlsDDwjaTawgqRnACLinYiYm45vAvpIWo1sxfiTuTHWJVthJvV9NiL+AOwGbCFp1RJzz0rX6y6frLsvZGZmZtaNTABOjYgZBe23At9VqomQtGWJ+yeTlVCQ+i1RYhERN0bEWhHREBENwPsRsXHqu1Zu/OFked8bwFRgE0kbSOpLtkI9KfXbSx/XaWwCLALeLhZYRDwLNAM/y82zSUs9dS1zgmxmZmbWSSJiTkScXeTSaUAfYLqkmem8mJ8Dq0iamWqJd2nH9AcCLfedAxwSmYVkSfetwBPAX1NtMsCRZDXI04BLgMNzNcajJM3JfdYFvgGsRbaCPQP4E7nV6FrlGmQzMzOzCouIAUXapgBT0vE84FtF+kwEJubO5wJHdWTeiDgXWOrdxenaTSxdF01EHFKk+1JxFfhmufHVCq8gm5mZmZnlOEE2MzMzM8txiYVZhaw26L22O1lderF3aw+YdyOLqx1AeQYt17faIZTtncUfVDsEM+sEXkE2MzMzM8vxCnL55jc2No5ro09DF8RhZmZmZp3ICXKZmpubx7fVp4wE2szMzMy6OZdYmJmZmZnleAW5G2tsbBxDtjd7RzRUMBQzMzOzHsMJcvfWr7m5eVxHbnS5h5mZWfVICuDPEXFkOu8NvAI8GBF7d9KcvwOObtksRNJI4G/A86nLNRFxarq2J3A20Au4ICLGp/btUvvy6XNFRIyTNAo4A3gpN+VhEfF4Z3yXanOCbGZmZlZ57wFDJPVPu+btwZLJZZsk9U7bQpfTtxEYVOTSPYUJuaRewO9TTHOAqZImpWT3IuCgiHgs9ds0d+sVEXFce75DrXINspmZmVnnuBnYKx0fClzWckHSipImSJoq6VFJ+6b2UZKulHQ9MFnSAEkXSpohabqkAwonSYnsGcBJZcY1HHgmIp6LiA+By4F907U1yFa6iYhF9bpC3BavINextmqYv8NmXRiNmZlZ/ZA0Ghida2qKiKaCbpcDp0i6ARgKTAB2TNd+AtwREcdIGgQ8JOnv6doIYGhEvCnpdOA/EbF5mneVIuEcB0yKiFckFV4bIekx4GXgxIiYBawDvJjrMwfYNh2fBfxT0hTgFuCiiJifrh0saYf82Gl1vO44Qa5vrdYwX7jOEWO7MBYzM7O6kZLhwoS4sM90SQ1kq8c3FVz+PLCPpBPTeT9gvXR8W0S8mY53Bw7JjflWfhBJg4GvAiOLhPAIsH5EzJX0JeA6YBNgqSwaiDT+qZIuTfEdlmJvGdslFmZmZma2zCYBZ5Irr0gEHBARw9JnvYh4Il17r6Bfa/vZbwlsDDwjaTawgqRnACLinYiYm45vAvpIWo1sxfiTuTHWJVthJvV9NiL+AOwGbCFp1XZ94zrgBNnMzMys80wATo2IGQXttwLfVaqJkLRlifsnk5VQkPotUWIRETdGxFoR0RARDcD7EbFx6rtWbvzhZHnfG8BUYBNJG0jqS7ZCPSn120sf12lsAiwC3u7QN69hTpDNzMzMOklEzImIs4tcOg3oA0yXNDOdF/NzYBVJM1Mt8S7tmP5AoOW+c4BDIrOQLOm+FXgC+GuqTQY4kqwGeRpwCXB4RCxK1w6WNC332b4dsdQU1yCbmZmZVVjLu4gL2qYAU9LxPOBbRfpMBCbmzucCR3Vk3og4Fzi3RL+bWLoumog4pEj3peKqd15BNjMzMzPLcYJsZmZmZpbjEguzCnnlraV+m9YtbbDCW213snZZIYq9Mck6aiX/p8nMqswryPVrPtBQ7SDMzMzMao0T5DrV3Nw8Hphd7TjMzMzMao0TZDMzMzOzHCfIZmZmZmY5TpDNzMzMzHKcIJuZmZlVmKSQdEnuvLek1yTd0Ilz/k7S3Nz5SEn/ye18d0ru2p6S/inpGUljcu3bSXow9X9C0rjUPkpS0U1H6pHfpWNmZmZWee8BQyT1T7vm7QG81J4BJPVO20KX07cRGFTk0j0RsXdB317A71NMc4CpkiZFxOPARcBBEfFY6rdpe2KuF15BNjMzM+scNwN7peNDgctaLkhaUdIESVMlPSpp39Q+StKVkq4HJksaIOlCSTMkTZd0QOEkKZE9AzipzLiGA89ExHMR8SFwObBvurYG8ApARCxKSXOP4xXk+ja/sbFxXKmL32GzLgzFzMysfkgaDYzONTVFRFNBt8uBU1JZxVBgArBjuvYT4I6IOEbSIOAhSX9P10YAQyPiTUmnA/+JiM3TvKsUCec4YFJEvCIttXHRCEmPAS8DJ0bELGAd4MVcnznAtun4LOCfkqYAtwAXRcT8Nv446o4T5DqW3oVc0oXrHDG2q2IxMzOrJykZLkyIC/tMl9RAtnp8U8HlzwP7SDoxnfcD1kvHt0XEm+l4d+CQ3JhLbIcqaTDwVWBkkRAeAdaPiLmSvgRcB2wCFNv+M9L4p0q6NMV3WIq92Nh1zSUWZmZmZp1nEnAmufKKRMABETEsfdaLiCfStfcK+kUr428JbAw8I2k2sIKkZwAi4p2ImJuObwL6SFqNbMX4k7kx1iVbYSb1fTYi/gDsBmwhadV2feM64ATZzMzMrPNMAE6NiBkF7bcC31WqiZC0ZYn7J5OVUJD6LVFiERE3RsRaEdEQEQ3A+xGxceq7Vm784WR53xvAVGATSRtI6ku2Qj0p9dtLH9dpbAIsAt7u0DevYU6QzczMzDpJRMyJiLOLXDoN6ANMlzQznRfzc2AVSTNTLfEu7Zj+QKDlvnOAQyKzkCzpvhV4Avhrqk0GOJKsBnkacAlweEQsStdGSZqT+6zbjlhqimuQzczMzCosIgYUaZsCTEnH84BvFekzEZiYO58LHNWReSPiXKDou4tTyUVhXTQRcUiR7kvFVe+8gmxmZmZmluME2czMzMwsxyUWPdjUPh9WO4SyrL2wNv4/7tVefasdQlk2qHYA7bDFuq9WO4Sy3Pr6atUOoTytPQffjXwiauc/TQOWq41/7s2sfWoj8zAzMzMz6yJOkM3MzMzMcmrn91i1odWtnTugoYJjmZmZmVkZnCBXUFtbO7dXhZNtMzMzMyuDSyzMzMzMzHIqsYLcVllBQwXmMDMzM6sZkubmN+2QNApojIjjSt+1zHMOAg6LiPNKXP8JcBjZ9tGLgW9FxIMVmHck8GFE3NdGv3HA3Ig4swJzfh9oioj3l3WsYpY5QW6rrMBlAmZmZmbtI6l32hK6PQYBxwJLJciSRgB7A1tFxAeSVgOW+T2FknoDI4G5QKsJcoV9H/gz0D0TZDMzMzMrn6T1gQnA6sBrwNER8YKkicCbwJbAI5JWBd4BGoG1gJMi4qo0xg+Bg4DlgWsjYiwwHthI0jTgtoj4YW7atYHXI+IDgIh4PRfPbOAKYJfUdFhEPFNmnG8CnwMWSToC+C5Zon4yWQL+BnB4RPw7jb2FpDuATwK/jog/SRLwa+CLZG9s/3lEXJFWpk+MiL1TnOcCzcDKwGDgTkmvR0RL3BXjBLnONDY2jgH6ldN3OBt2cjRmZmb1SdJoYHSuqSkimnLn/VOi2uITwKR0fC5wcURcJOkY4Bxgv3TtU8DuEbEoJaJrAzsAm6X7r5L0eWATYDggYJKknYAxwJCIGFYk5MnAKZKeAv4OXBERd+WuvxMRwyV9Dfgt2WpzuXGOI1c6IWkVYLuICEnfAE4C/jvdNxTYDlgReFTSjcAIYBiwBbAaMFXS3UW+AwARcY6kHwC75BP9SnKCXH/6NTc3jyun47ENB43t5FjMzMzqUkqGm1rpMi+fqLbUIKfTEcBX0vElZKunLa6MiEW58+siYjHwuKQ1U9vn0+fRdD6ALGF+oZV450raGtiRbKX4CkljImJi6nJZ7udZHYgzb900/tpkq8jP5679LSLmAfMk3UmW5O8AXJbG+7eku4BtyFbPq8JvsTAzMzOrrvxG8O8VXPsgd6zcz19FxLD02Tgi/rfNSSIWRcSUVI5xHHBAiRhKbUzfWpx5vwPOjYjNgW+x5G+2C8cOPv5ehRayZK5a1m/IK8EJspmZmVnXug84JB0fDvyjnfffChwjaQCApHUkrQG8C6xU7AZJm0raJNc0DPi/3PnBuZ/3tzPOwnkHAi+l46MK+u4rqV+qrx4JTAXuBg6W1EvS6sBOwEMpvs9IWl7SQGC3VuasKJdYmJmZmXWt44EJ6UG714Cj23NzREyW9Gng/uz5NuYCR0TEs5LulTQTuLngIb0BwO/Sq+AWAs+wZA318pIeJFs8PbSdcV5PVhu9L9lDeuOAKyW9BDwAbJDr+xBwI7AecFpEvCzpWrJyjsfIVpRPioh/AUj6KzAdeJqPS0ogK2+5WdIrfkjPzMzMrAbk34GczicCE9PxbGDXIveMauN8QO74bODsImMcViKeh4HtWwn59xHxs4J7yo3zKbKH7/L+VuS+cSViC+CH6VN47SSyh/wK239HVsrRKVxiYWZmZmaW4xVkMzMzsx4sIhqqHUN34wTZrEI2ZF61Q6g7K61f6g1C3ctynfIWzp5r+ZIPtHc/78WCaodQlpW0zBummfUoTpBrQHs2/wAaOjEUMzMzs7rnBLk2lL35R2NjY1n9zMzMzKw4P6RnZmZmZpbjBNnMzMzMLMcJspmZmZlZjhNkMzMzswqTtEjSNEkzJV0paYUOjDFI0rG588GSrqpAbOMkvZTimyZpvKRvS/paO8eZIqmxSPs+ksaUOcbc9szZVfyQnpmZmVnlzYuIYQCSLgW+DfymnWMMAo4FzgOIiJeBAysU31kRcWZbnST1joiF7Rk4IiYBkyoxVrV4BdnMzMysc90DbCzpE5KukzRd0gOShsJHK7oT0orsc5KOT/eNBzZKq7xnSGqQNDPd0yDpHkmPpM9H20hLOknSDEmPSRr//9u7+zi7xnvv45+vSCUkknrmrnYOpVoRKdN4Jlr1Ou5qxUHRUKlUqrRa53b30N5lyjnK4bRVioZDSD0LqaJJqDwgQWbII1KniaLUY6TIg4jf/ce6tixjz8yeZM9es5Pv+/Xar1nrWte61m+tvfbev7n2tdauJMAUwxlperKk8yVNAX4gaXdJUyS1SJogaevcqsdJmpZ6ygen9YdLuixNj5b0C0mTgAsl/ZOk6ZJmSDpvzQ5r13EP8tpnWaW3ehvMdl0cipmZ2dpJ0khgZK5oVESMKlNvfeAQYDzwM+CJiBgq6YvA9cCgVHUn4ECgLzBf0hXAmcCAXE90Q67pV4AvR8QySTsANwGNkg4BhgJ7RMQSSZu0sQunSzouTf9bmeX9I+IAST2BKcBhEfGqpKOB/wBOTPU2ioi9Je0PXAMMKNPWjsBBEbFS0l3AFRFxvaRT24itcE6Q1zLNzc0V/acIcErD18/pyljMzMzWVikZ/khCnNNb0sw0/SDw38CjwBFp/QckbSqpX6pzT0QsB5ZLegXYsoMQegKXSRoErCRLQgEOAq6NiCVpO2+0sf6HhlhI2qvV8lvS38+QJb33SQLoAbyUq3dT2s5USRtL6l9mW7dFROmnUfchHQNgDHBhO/tYGCfIZmZmZtX3wRjkEqUMs5VIf5fnylbScY52OvAysCvZkNllpc3k2lwT7+TamxcRrRPoktbbKrftdyqo0614DLKZmZlZbUwFhgFIGgK8FhH/aKf+W2RDLsrpB7wUEe8Dx5P17AJMBE4s3TWjnSEWlZoPbF7qYZbUU9LOueVHp/J9gcURsbiD9h4GjknTw9Ywti7jBNnMzMysNprIxgnPJrsA74T2KkfE68DD6QK4i1otvhw4QdIjZMMr3knrjCe7g0RzGuJxxpoEHBHvkt0540JJs4CZwN65KoskTQOuBEZU0OQPgFMlzSBL8rslD7EwMzMzq7KI6FOm7A3gsDLlTa3mB+Smv9Gq+oBU/gwwMFd+Vm6dC8gS8LZia2qvLCKGtFo2E9i/zDpDWpel8tHA6DQ9vNWyhUB+uEbF107VknuQzczMzMxynCCbmZmZmeV4iIV1e89+rD5O0yUr6uP/za1o73qQ7mXhY912eNqHLO3xftEhrFVa6ugcnfvWc0WHUJG9Nv500SGY1ZX6+ERfd5V+9KOh4DjMzMzM1hn10TW3jir96Eelv4xnZmZmZmvOPchmZmZmZjlOkM3MzMzMcpwgm5mZmZnlOEE2MzMzqzJJKyXNlDRP0ixJ/yqpU3mXpMmSGqsUz2BJUyXNl/S0pKslbSipSVKnfm1P0rOSNkvTb1cjvu7GF+mZmZmZVd/SiBgEIGkL4Eayn1Y+p9aBSNoSuA04JiKmSxJwBNC31rFUi6QeEbGyq9p3D7KZmZlZF4qIV4CRwPeU6SXpWklzJD0h6UAASb0l3SxptqRbgN6lNiSNkPTn1Kt8laTLUvnmksZKmpEe+5QJ4VTguoiYnuKJiLg9Il5Oyz+X2l0g6bTcNsdJakm94CM72k9J/zfFMFvSz1JZg6SnUszzJE2U1Dst+0KqO13SRZLmpvIeab7U1ndS+RBJkyTdCMzp5NPQKe5BrmONjY1nAr1Wd/3BbFfFaMzMzNYdKWHMJ42jImJUW/UjYkEaYrEFcFwq20XSTsBESTsC3wWWRMRASQOBx9O2tgF+CuwGvAU8AMxKTV8C/DIiHpL0SWAC8NlWmx8AXNfO7uwEHEjWozxf0hURsQI4MSLeSAntDEljI+L1No7HwcAOwGBAwF2S9geeS+XHRsRJkm4l673+HXAtMDIipkm6INfcCGBxRHxB0gbAw5ImpmWDgQERsbCd/VljTpDrW6/m5uam1V35lIav1/xrHjMzs7VBSobbTIjboPR3X+DS1M7Tkv4K7AjsD/w6lc+WNDvVHwxMiYg3ACTdluoDHETWA1zaxsaS+kbEW52I656IWA4sl/QKsCXwAnCapMNTnW3JEt2yCTJwcHo8keb7pPrPAQsjYmYqbwEaJPUH+kbEtFR+I3Borq2Bko5M8/1SW+8Cj3V1cgxOkM3MzMy6nKTtgJXAK6xKlMuJcqu3U389YK+IWNpOnXnA7sDv21i+PDe9Elhf0hCy5HuviFgiaTLtf2st4OcR8dsPFUoNZdrvTfv7JOD7ETGhVVtDgHfaWa9qPAbZzMzMrAtJ2hy4ErgsIgKYCgxLy3YEPgnMb1U+ABiYmngMOEDSxyWtTzZEoWQi8L3ctgaVCeEy4ARJe+TqHSdpq3bC7gcsSsnxTsCeHezmBOBESX1S+/8rXZxYVkQsAt6SVGr3mFZtfVdSz9TWjpI26mD7VeUeZDMzM7Pq6y1pJtATeA8YA/wiLbscuFLSnLRseEQsl3QFcG0aWjGTLDEmIv4m6XzgUeBF4ElgcWrrNOA3aZ31yZLsk/OBRMTLko4BLk5J6/up3h3txD8eODm1Ox94pL2djYiJkj4LTE/DPd4mG2vd3p0mRgBXSXoHmJzbp6uBBuDxdMeNV4Gh7W2/2pwgm5mZmVVZRPRoZ9kyYHiZ8qV8uCc178aIGJV6kO8k6zkmIl4Djq4gnunAfmUWNbWqNyA3e0gbbTXkpvvkpi8hu2iwtQG5OhfnyudFxEAASWcCzanO+8CP0yNvcnp0OSfIZmZmZt1fk6SDyMYBTwTGFRtOVXxF0llk+ehfKfNPQ1GcIJuZmZl1cxHRqV+7qwcRcQtwS9FxlOME2axKlq/X3gW5tjqWvVcfb1Gb9ehZdAgVeanoACq0MspdxN897bHx9kWHYGZdoD4+fWxZY2NjU5nyhhrHYWZmZrbWc4JcB5qbmy8oV95G0mxmZmZma8D3QTYzMzMzy3GCbGZmZmaW4wTZzMzMzCzHCbKZmZlZF5B0uKRIP9VcKmtIZeflyjaTtELSZbmyb0qaK2mepCclfeQ2b5KaypWvYcwftCnp3HTv5XWOE2QzMzOzrnEs8BAf/XW8BcChufmjgHmlGUmHAD8EDo6InYHdWPUzzDUTEWdHxP213m534ATZzMzMrMok9QH2AUbw0QR5KfCUpMY0fzRwa275WcAZEfEiZD9NHRFXdbC9kyTNkDRL0lhJG0rqJ+lZSeulOhtKel5ST0nbSxovqUXSg/le7lyboyUdmaaflfQzSY9LmlOu/trEt3mrb23dH7kig9muiqGYmZmtOySNBEbmikZFxKjc/FBgfET8WdIbknaLiMdzy28GjpH0d2Al8CKwTVo2AGjpZEh3lJJoSf8OjIiISyXNAg4AJgFfBSZExApJo4CTI+IZSXsAlwNf7GAbr0XEbpJOAc4Avt3JGOuGE+Q61tb9kSt1SsPXz6lWLGZmZuuSlAyPaqfKscCv0vTNaT6fII8HzgNepjo/tzwgJcb9gT7AhFR+C1kP9SSynuzLU+/23sBt0ge/ArtBBdu4I/1tAf6lCjF3W06QzczMzKpI0qZkvbEDJAXQAwhJPyrViYh3JbUA/wfYmax3t2QesDvwQCc2OxoYGhGzJA0HhqTyu4CfS9ok1+ZGwJsRMaiTu7Y8/V3JWp5DegyymZmZWXUdCVwfEZ+KiIaI2BZYCOzbqt5/Af8WEa+3Kv858J+StgKQtIGk0zrYZl/gJUk9gWGlwoh4G3gMuAS4OyJWRsQ/gIWSjkrtS9Kuq7eraycnyGZmZmbVdSxwZ6uyscA38gURMS8irmu9ckTcC/wGuF/SPLIhDeV6bNdnVa/uT4FHgfuAp1vVuwU4jg8P5RgGjEhjlOcBh3W8W+uOtbp73MzMzKzWImJImbJf52YHlFk+mmyYRGn+WuDaDja1MzAt1b8CuKKNeG4H1KpsIfDPZeo25aaH56YbctPNrBrCsVZyD7KZmZlZnZE0B3gfmFh0LGsj9yCbmZmZ1ZmI2KXoGNZmTpDXYSNjWdEhVOTTRy/vuFI3cNWtfYsOYa2z9Rb/KDqEilz01JNFh1CRf95qUNEhVKSXehQdQsV+9U9vFh1CZRRFR1CRjfbcrOgQzAAPsTAzMzMz+xAnyGZmZmZmOU6QzczMzMxynCCbmZmZmeU4QTYzMzMzy3GCbGZmZlZlklZKmpl7NKxmOw2S5rZRvjS1/aSkKyV1Oq9L7Xyj45qrR9JkSY1d1X5XcYJsZmZmVn1LI2JQ7vFsJStJ6swteP8SEYOAgcDngKGdjhIaaPUT2B2R6uhejKvJCbKZmZlZDUgaJOkRSbMl3Snp46l8sqTzJU0BfiBpd0mzJE0HTu2o3Yh4j+wnpz8t6SRJM9L6YyVtmLYxWtKvJU2TtEDSkWn1C4D9Uk/06ZJ6SLootTFb0nfS+kMkTZJ0IzAnlY2T1CJpnqSRVT9gBfIPhSSNjY1nAr2KjqOWrmabokMwMzOrSykhzCeFoyJiVG6+t6SZaXphRBwOXA98PyKmSDoXOAf4YarTPyIOSG3PztW7qIJYNgS+BJwNPBYRV6XyfwdGAJemqlsD+wI7AXcBtwNnAmdExKG5/VocEV+QtAHwsKTSz1kPBgZExMI0f2JEvCGpNzBD0tiIeL2jeOuBE+RVejU3NzcVHUQtzfzU184pOgYzM7N6lJLhUe1UWZqGPwAgqR9ZEjwlFV0H3Jarf0sb9cYAh7Sxje1TEh7A7yPij5IOSIlxf6APMCFXf1xEvA88KWnLNto8GBiY62HuB+wAvEuWfC/M1T1N0uFpettUzwmymZmZmVXFO+mvyBLeSvwln4Qno4GhETFL0nBgSG7Z8ty02mhTZL3XEz5UKA3JxViaPwjYKyKWSJrMWvRNvMcgm5mZmXWxiFgMLJK0Xyo6HphSpt6bwGJJ+6aiYZ3cVF/gJUk9K1z3rbROyQTgu2l9JO0oaaMy6/UDFqXkeCdgz07G2a25B9nMzMysNk4ArkxjhhcA32qj3reAayQt4cNDJCrxU+BR4K9kF9P1bb86s4H3JM0i632+hOzOFo9LEvAq5e+OMR44OY2Xng880s427pG0Ik1Pj4ijKtqTAjlBNjMzM6uyiOhTpmwmZXpaI2JIq/kWYNdcUVOZdZ4FBpQpvwK4okz58HLxRcQKsgv88n6cHnmT06O0/nLaHhud386Qjup0Rx5iYWZmZmaW4wTZzMzMzCzHQyzWYTu3/KroECqyckFL0SFU5NO/u6PoENY6L7zcr+gQKrKe2roY3FbH2/Fe0SFUbMyCTxQdQkWO3/75okMwqyu1SJCXNTY2NtVgO2uqoegAzMzMzKx4XZ4gNzc3X9DV26iGOknizczMzKyLeQyymZmZmVmOE2QzMzMzsxwnyGZmZmZmOU6QzczMzKpMUkgak5tfX9Krku4uKJ7hkrbJzV8t6XNl6k2WNF/STElPSRpZ20i7ByfIZmZmZtX3DjBAUu80/2Xgb125QUk92lk8HPggQY6Ib0fEk23UHRYRg4B9gAslfaxKMdQNJ8hmZmZmXeOPwFfS9LHATaUFkgZLmibpifT3M6l8Z0mPpR7c2ZJ2SOXH5cp/W0pEJb0t6VxJjwJ7STpb0gxJcyWNUuZIoBG4Ia3fO/UUN3YQfx+yRH9l2taxkuakti/M7UuHMVTjYNaSfyhklXq5X3PVTB9/a9EhmJmZ1aU09CA//GBURIxqVe1m4Ow0rGIgcA2wX1r2NLB/RLwn6SDgfOAI4GTgkoi4IfXc9pD0WeBoYJ+IWCHpcmAYcD2wETA3Is5OcT0ZEeem6THAoRFxu6TvAWdERHNa1t7u3SBpObAD8MOIWJmGZ1wI7A4sAiZKGhoR4yqJAfhDRQe2m3CCnNTL/ZqracVrC84pOgYzM7N6lJLh1glx6zqzJTWQ9R7f22pxP+C61EMcQM9UPh34iaRPAHdExDOSvkSWmM5IiW1v4JVUfyUwNtfugZJ+BGwIbALMo/PJ6bCIaJa0OTBN0nhgEDA5Il4FkHQDsD8wrotiKJQTZDMzM7OucxdwMTAE2DRXfh4wKSIOT0n0ZICIuDENVfgKMEHStwEB10XEWWXaXxYRpSEQvYDLgcaIeF5SE9BrdQOPiFclPQ7sAbzbTtUui6EoHoNsZmZm1nWuAc6NiDmtyvux6qK94aVCSdsBCyLi12TJ9UDgT8CRkrZIdTaR9Kky2yoloq9J6gMcmVv2FtC3M4FL2hD4PPAX4FHgAEmbpfHPxwJTOhlD3XAPspmZmVkXiYgXgEvKLPpPsiEW/wo8kCs/GjhO0grg72TJ9RuS/h/ZuN/1gBXAqcBfW23rTUlXAXOAZ4EZucWjgSslLQX26iDsG1K9DYDREdECIOksYBJZj/a9EfH7MvvbXgx1QxFRdAxWkBWvLaiLJ3/lgpaiQ6jIfV+7o+gQKjJwm1eLDqFiz73Yv+gQKvKlRY8UHUJFDt5y16JDqIionwveD6B/0SFU5Pjtny86hIpstOdmRYdQsT4/H1s/J6p1modYmJmZmZnlOEE2MzMzM8txgmxmZmZmluMxyFZVkkaWuVF6t1QvsTrO6nKc1VcvsTrO6qqXOKG+YrXuwT3IVm0jO67SbdRLrI6zuhxn9dVLrI6zuuolTqivWK0bcIJsZmZmZpbjBNnMzMzMLMcJslVbPY3xqpdYHWd1Oc7qq5dYHWd11UucUF+xWjfgi/TMzMzMzHLcg2xmZmZmluME2czMzMwsxwmydTlJwyVdVuD2GyTNLWr71SLpx0XH0BmSRks6ssDtN0k6Q9K5kg4qKg6ztpTO0U7UHyJp766MycwyTpCtS0lav+gY1iJ1lSB3FxFxdkTcX3QcZpXo4D1zCOAEuQv5M8tKnCBbxSR9U9JsSbMkjZH0VUmPSnpC0v2Stkz1miSNkjQRuD6tvq2k8ZLmSzqngPB7SLpK0jxJEyX1ljRZ0q8kTZM0V9LgAuL6gKQfSTotTf9S0gNp+kuSbgd6S5op6YaC48yfB3dKWiipZ1q2saRnS/MFxPaTdI7dD3wmlX3Qky3pAklPpvgvzi2/UtKDkv4s6dBaxSjpptTLfVourptTvY0kXSNpRnqNHZbKe0i6WNKcVP/7XRlvq9gvlHRKbr4p7c/UdG7OlbRfreLJxdEg6WlJV6cYbpB0kKSHJT0jaXCKdYykB1LZSWnd9SRdnt4b7pZ0b1d+89HGOTpZ0vmSpgA/KPfeKqkBOBk4PR3rmh1nSeMktaRjNDKVvZ3Oh5YU4+C0Hwskfa2Gsf00Pff35V5P26fPm5b0ut4p1e3MZ5at6yLCDz86fAA7A/OBzdL8JsDHWXUnlG8D/5Wmm4AWoHeaHw68BGwK9AbmAo01jL0BeA8YlOZvBY4DJgNXpbL9gbkFH+M9gdvS9IPAY0BP4BzgO8Db3fQ8uBYYmuZH5s6D0cCRNYxtd2AOsCGwMfA/wBmlOFKs83PnbP9cnOPJOgx2AF4AetU4xheBDVrFdT5wXKkM+DOwEfBdYCywfuk5qOEx/jwwJTf/ZDo/f5LmewB9CzgvS6/xXdLz2AJcAwg4DBiX3pdmpfegzYDngW3SuXFvWm8rYFFXnbftPP+Tgctz9dp7bz2jgOO7Sfpbev/eFAjgkFR+JzCR7P1qV2BmjeJqBGamuPoCz6Tj+Sdgh1RnD+CBCo7rB59ZfvgREfirBKvUF4HbI+I1gIh4Q9IuwC2StgY+BizM1b8rIpbm5u+LiNcBJN0B7As01yZ0ABZGxMw03UL2gQpwE0BETE29n/0j4s0axpXXAuwuqS+wHHic7ANgP+C0gmJqrdx5cDXwI7Ik5FvASQXFth9wZ0QsAZB0V6vl/wCWAVdLuge4O7fs1oh4H3hG0gJgJ7IP3lrFOBu4QdI4suMIcDDwNa0ao9oL+CRwEHBlRLwH2XPQBXGWFRFPSNpC0jbA5mTJ5CTgmvStwbjc66zWFkbEHABJ84A/RURImkP2ep8J/D69Ly2VNAkYTPZedFt6/v+eyrtKe+foLbnpT9D2e2sRTpN0eJreluwfyXfJ/rGELOlfHhErcse7FvZl1XOKpD+QvU72Bm6TVKq3Qfrb3nFt/Zll6zgPsbBKiazHIO9S4LKI2IWsh7NXbtk7req2XrfWN+BenpteCR/8c1h0XKs2HLECeJYsyZxG1ot8ILA98FRRcbXykfMgIh4GGiQdAPSIiCIviGzz+UsJ5WCy3tehrPpwL7deV54H5dr+CvAbsh7GFmXjIAUcERGD0uOTEfEU5V+LtXQ7Wa/r0cDNETGV7BuYvwFjJH2zoLjyr/H3c/Pv0/7rXdRWW89d/j2zvffWmpI0hOyfsr0iYlfgiRTPiogo7csHxzv9o1Grzrdyz916wJu5182giPhsWtaZzyxbxzlBtkr9Cfi6pE0BJG0C9CP7UAQ4oYP1vyxpE0m9yZKTh7sq0E46GkDSvsDiiFhccDxTyb4inEqWIJ9M9nVlACtU0NjenHLnAWTj9m4iG25RlKnA4crGl/cFvppfKKkP0C8i7gV+CAzKLT4qjUXdHtiObChGrWJcD9g2IiaR9cT3B/oAE4DvK3WDSfp8amMicHJKovPPQa3cDBxDliTfLulTwCsRcRXw38BuNY6nMw6T1Cudv0OAGcBDwBHp+d8ylXeVds/RnLbeW98iG0pQS/2ARRGxJI3l3bPG22/PQ8BX03Pah+wfzSXAQklHASiza6rfmc8sW8c5QbaKRMQ84D+AKZJmAb8gG7d1m6QHgdc6aOIhYAzZ15xjI6KWwyvas0jSNOBKYETRwZAlxVsD0yPiZbIhAQ+mZaOA2SrwIr02zgOAG8jG991UYGyPk31NPZOsl/jBVlX6AndLmg1MAU7PLZufyv4InBwRy2oYYwC/S19NPwH8Mg3zOY9sTOdsZbcpPC81czXwXCqfBXyjK2JtZx/mkR3Lv0XES2QJ5UxJTwBHAJfUMp5Oegy4B3gEOC8iXiR7Hl4gG1v7W+BRoEv+Ua7gHC1povx76x/IEuxaXqQ3Hlg/vW7OIzt23UJEzADuIhtbfgfZsL3FwDBgRHp9zCMbhw6d+8yydZx/atrWWZImk13w0l2S9bql7Kr/wyLi+KJj6SxJo4G7I+L2ArbdRHbx5cW13va6pr1jLalPRLydepYfA/aJiL/XOkbrvNxztyFZD/3I9I+I2RrxRXpmtkYkXQocAvzvomMxW013S+pPduHWeU6O68ooSZ8jG098nZNjqxb3IJuZmZmZ5XgMspmZmZlZjhNkMzMzM7McJ8hmZmZmZjlOkM3MzMzMcpwgm5mZmZnlOEE2MzMzM8txgmxmZmZmluME2czMzMwsxwmymZmZmVnO/wfFp6zUGB7Ki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152" y="7937"/>
            <a:ext cx="6858957" cy="686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5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Visualização de dados em Python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i="1" dirty="0" smtClean="0"/>
              <a:t>Pandas </a:t>
            </a:r>
            <a:r>
              <a:rPr lang="pt-BR" dirty="0" smtClean="0"/>
              <a:t>e</a:t>
            </a:r>
            <a:r>
              <a:rPr lang="pt-BR" i="1" dirty="0" smtClean="0"/>
              <a:t> </a:t>
            </a:r>
            <a:r>
              <a:rPr lang="pt-BR" i="1" dirty="0" err="1" smtClean="0"/>
              <a:t>matplotlib</a:t>
            </a:r>
            <a:r>
              <a:rPr lang="pt-BR" i="1" dirty="0" smtClean="0"/>
              <a:t>:</a:t>
            </a:r>
          </a:p>
          <a:p>
            <a:endParaRPr lang="pt-BR" dirty="0"/>
          </a:p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pandas.pydata.org/pandas-docs/stable/user_guide/visualization.html</a:t>
            </a:r>
            <a:r>
              <a:rPr lang="pt-BR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51372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Calcular a matriz de correlação dos atributos do conjunto de dados íris.</a:t>
            </a:r>
          </a:p>
          <a:p>
            <a:r>
              <a:rPr lang="pt-BR" dirty="0"/>
              <a:t>Gerar um </a:t>
            </a:r>
            <a:r>
              <a:rPr lang="pt-BR" i="1" dirty="0" err="1"/>
              <a:t>scatter</a:t>
            </a:r>
            <a:r>
              <a:rPr lang="pt-BR" i="1" dirty="0"/>
              <a:t> </a:t>
            </a:r>
            <a:r>
              <a:rPr lang="pt-BR" i="1" dirty="0" err="1"/>
              <a:t>plot</a:t>
            </a:r>
            <a:r>
              <a:rPr lang="pt-BR" i="1" dirty="0"/>
              <a:t> </a:t>
            </a:r>
            <a:r>
              <a:rPr lang="pt-BR" dirty="0"/>
              <a:t>para dois atributos do conjunto de dados íris.</a:t>
            </a:r>
          </a:p>
        </p:txBody>
      </p:sp>
    </p:spTree>
    <p:extLst>
      <p:ext uri="{BB962C8B-B14F-4D97-AF65-F5344CB8AC3E}">
        <p14:creationId xmlns:p14="http://schemas.microsoft.com/office/powerpoint/2010/main" val="102151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Engenharia de Dados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4778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28" y="1027906"/>
            <a:ext cx="10078857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495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35" y="842601"/>
            <a:ext cx="10069330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904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Tratamentos comuns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Identificação de </a:t>
            </a:r>
            <a:r>
              <a:rPr lang="pt-BR" dirty="0" err="1" smtClean="0"/>
              <a:t>outliers</a:t>
            </a:r>
            <a:endParaRPr lang="pt-BR" dirty="0" smtClean="0"/>
          </a:p>
          <a:p>
            <a:r>
              <a:rPr lang="pt-BR" dirty="0" smtClean="0"/>
              <a:t>Busca por dados inconsistentes (e.g. idade negativa, temperatura ambiente de 2000ºC)</a:t>
            </a:r>
          </a:p>
          <a:p>
            <a:r>
              <a:rPr lang="pt-BR" dirty="0" smtClean="0"/>
              <a:t>Tratamento de dados faltantes</a:t>
            </a:r>
          </a:p>
          <a:p>
            <a:r>
              <a:rPr lang="pt-BR" dirty="0" smtClean="0"/>
              <a:t>Normalização</a:t>
            </a:r>
          </a:p>
          <a:p>
            <a:r>
              <a:rPr lang="pt-BR" dirty="0" smtClean="0"/>
              <a:t>Balanceamento</a:t>
            </a:r>
          </a:p>
          <a:p>
            <a:r>
              <a:rPr lang="pt-BR" dirty="0" smtClean="0"/>
              <a:t>Codificação de dados categóricos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03040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Normalização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MinMax</a:t>
            </a:r>
            <a:r>
              <a:rPr lang="pt-BR" dirty="0" smtClean="0"/>
              <a:t>: entre 0 e 1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StandardScaler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r>
              <a:rPr lang="pt-BR" dirty="0" smtClean="0"/>
              <a:t>Média 0 e </a:t>
            </a:r>
            <a:r>
              <a:rPr lang="pt-BR" dirty="0" err="1" smtClean="0"/>
              <a:t>desvpad</a:t>
            </a:r>
            <a:r>
              <a:rPr lang="pt-BR" dirty="0" smtClean="0"/>
              <a:t> 1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495" y="1027906"/>
            <a:ext cx="6420746" cy="501084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13" y="2525975"/>
            <a:ext cx="3167051" cy="101044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788" y="5061051"/>
            <a:ext cx="2325603" cy="133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147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Codificação de dados categóricos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19" y="1794851"/>
            <a:ext cx="10297962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3898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Codificação de dados categóricos (</a:t>
            </a:r>
            <a:r>
              <a:rPr lang="pt-BR" dirty="0" err="1" smtClean="0"/>
              <a:t>one</a:t>
            </a:r>
            <a:r>
              <a:rPr lang="pt-BR" dirty="0" smtClean="0"/>
              <a:t>-hot)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11" y="1504203"/>
            <a:ext cx="10850489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92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Considerando o conjunto de dados hospital: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Calcular, para cada coluna desse conjunto de dados, as estatísticas </a:t>
            </a:r>
            <a:r>
              <a:rPr lang="pt-BR" dirty="0" err="1"/>
              <a:t>univariadas</a:t>
            </a:r>
            <a:r>
              <a:rPr lang="pt-BR" dirty="0"/>
              <a:t> pertinentes dentre frequências, moda, média, mediana, desvio-padrão, Q1, Q3, obliquidade e curtose.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Calcular estatísticas multivariadas de covariância e correção para os atributos quantitativos presentes.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Plotar </a:t>
            </a:r>
            <a:r>
              <a:rPr lang="pt-BR" i="1" dirty="0" err="1"/>
              <a:t>boxplots</a:t>
            </a:r>
            <a:r>
              <a:rPr lang="pt-BR" dirty="0"/>
              <a:t> dos atributos pertinentes e identificar a presença ou não de </a:t>
            </a:r>
            <a:r>
              <a:rPr lang="pt-BR" i="1" dirty="0" err="1"/>
              <a:t>outliers</a:t>
            </a:r>
            <a:r>
              <a:rPr lang="pt-BR" dirty="0"/>
              <a:t>.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Plotar histogramas dos atributos e interpretar sua distribuição, considerando as classes.</a:t>
            </a:r>
          </a:p>
        </p:txBody>
      </p:sp>
    </p:spTree>
    <p:extLst>
      <p:ext uri="{BB962C8B-B14F-4D97-AF65-F5344CB8AC3E}">
        <p14:creationId xmlns:p14="http://schemas.microsoft.com/office/powerpoint/2010/main" val="153935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Data de entrega: 03/março</a:t>
            </a:r>
          </a:p>
          <a:p>
            <a:pPr marL="0" indent="0">
              <a:buNone/>
            </a:pPr>
            <a:r>
              <a:rPr lang="pt-BR" dirty="0" smtClean="0"/>
              <a:t>Forma de entrega: arquivo fonte do Notebook na Google Drive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770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86838258D66E4AB5189C9A3CE00C2C" ma:contentTypeVersion="3" ma:contentTypeDescription="Crie um novo documento." ma:contentTypeScope="" ma:versionID="6f797e5c45974a53c2945892128191b7">
  <xsd:schema xmlns:xsd="http://www.w3.org/2001/XMLSchema" xmlns:xs="http://www.w3.org/2001/XMLSchema" xmlns:p="http://schemas.microsoft.com/office/2006/metadata/properties" xmlns:ns2="21bea34f-6356-4af9-948b-dbeabad382ee" targetNamespace="http://schemas.microsoft.com/office/2006/metadata/properties" ma:root="true" ma:fieldsID="fe535df60b6d959f06d7e809d0ed2012" ns2:_="">
    <xsd:import namespace="21bea34f-6356-4af9-948b-dbeabad382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ea34f-6356-4af9-948b-dbeabad382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A9146B-89C3-4F96-BF86-136E8CC1370D}"/>
</file>

<file path=customXml/itemProps2.xml><?xml version="1.0" encoding="utf-8"?>
<ds:datastoreItem xmlns:ds="http://schemas.openxmlformats.org/officeDocument/2006/customXml" ds:itemID="{7016FEEC-079A-477F-B6FB-32FC16FC4C12}"/>
</file>

<file path=customXml/itemProps3.xml><?xml version="1.0" encoding="utf-8"?>
<ds:datastoreItem xmlns:ds="http://schemas.openxmlformats.org/officeDocument/2006/customXml" ds:itemID="{AFA792B8-0004-481C-92EC-846A088BAA64}"/>
</file>

<file path=docProps/app.xml><?xml version="1.0" encoding="utf-8"?>
<Properties xmlns="http://schemas.openxmlformats.org/officeDocument/2006/extended-properties" xmlns:vt="http://schemas.openxmlformats.org/officeDocument/2006/docPropsVTypes">
  <TotalTime>1927</TotalTime>
  <Words>1346</Words>
  <Application>Microsoft Office PowerPoint</Application>
  <PresentationFormat>Widescreen</PresentationFormat>
  <Paragraphs>275</Paragraphs>
  <Slides>60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5" baseType="lpstr">
      <vt:lpstr>Arial</vt:lpstr>
      <vt:lpstr>Calibri</vt:lpstr>
      <vt:lpstr>Calibri Light</vt:lpstr>
      <vt:lpstr>Wingdings</vt:lpstr>
      <vt:lpstr>Tema do Office</vt:lpstr>
      <vt:lpstr>Análise de Dados</vt:lpstr>
      <vt:lpstr>Introdução</vt:lpstr>
      <vt:lpstr>Conjunto de dados representados por uma matriz de objetos</vt:lpstr>
      <vt:lpstr>Conjunto de dados hospital e seus atributos</vt:lpstr>
      <vt:lpstr>Conjunto de dados hospital e seus atributos</vt:lpstr>
      <vt:lpstr>Conjunto de dados hospital e seus atributos</vt:lpstr>
      <vt:lpstr>Tipos de atributos</vt:lpstr>
      <vt:lpstr>Tipos de Atributos</vt:lpstr>
      <vt:lpstr>Tipos de Atributos</vt:lpstr>
      <vt:lpstr>Tipos de Atributos</vt:lpstr>
      <vt:lpstr>Tipos de Atributos</vt:lpstr>
      <vt:lpstr>Tipos de Atributos</vt:lpstr>
      <vt:lpstr>Tipos de Atributos</vt:lpstr>
      <vt:lpstr>Escala dos atributos</vt:lpstr>
      <vt:lpstr>Escala dos Atributos</vt:lpstr>
      <vt:lpstr>Exploração de Dados: medidas de estatística descritiva</vt:lpstr>
      <vt:lpstr>Dados Univariados</vt:lpstr>
      <vt:lpstr>Medidas de Localidade (ou tendência central)</vt:lpstr>
      <vt:lpstr>Medidas de Localidade (ou tendência central)</vt:lpstr>
      <vt:lpstr>Medidas de Localidade (ou tendência central)</vt:lpstr>
      <vt:lpstr>Medidas de Localidade (ou tendência central)</vt:lpstr>
      <vt:lpstr>Medidas de Localidade (ou tendência central)</vt:lpstr>
      <vt:lpstr>Visualização boxplot e whisker</vt:lpstr>
      <vt:lpstr>Medidas de Espalhamento</vt:lpstr>
      <vt:lpstr>Medidas de Distribuição</vt:lpstr>
      <vt:lpstr>Medidas de Distribuição</vt:lpstr>
      <vt:lpstr>Medidas de Distribuição</vt:lpstr>
      <vt:lpstr>Exercício - Conjunto de Dados iris (Fisher, 1936)</vt:lpstr>
      <vt:lpstr>Exercício - Conjunto de Dados iris (Fisher, 1936) </vt:lpstr>
      <vt:lpstr>Medidas de Distribuição</vt:lpstr>
      <vt:lpstr>Obliquidade (skweness)</vt:lpstr>
      <vt:lpstr>Curtose (kurtosis)</vt:lpstr>
      <vt:lpstr>Medidas de Distribuição</vt:lpstr>
      <vt:lpstr>Medidas de Distribuição</vt:lpstr>
      <vt:lpstr>Medidas de Distribuição</vt:lpstr>
      <vt:lpstr>Medidas de Distribuição</vt:lpstr>
      <vt:lpstr>Dados Multivariados</vt:lpstr>
      <vt:lpstr>Covariância</vt:lpstr>
      <vt:lpstr>Correlação</vt:lpstr>
      <vt:lpstr>Correlação</vt:lpstr>
      <vt:lpstr>Tipos de Correlação</vt:lpstr>
      <vt:lpstr>Tipos de Correlação</vt:lpstr>
      <vt:lpstr>Matriz de correlação</vt:lpstr>
      <vt:lpstr>Técnicas de visualização</vt:lpstr>
      <vt:lpstr>Técnicas de visualização</vt:lpstr>
      <vt:lpstr>Técnicas de visualização</vt:lpstr>
      <vt:lpstr>Técnicas de visualização</vt:lpstr>
      <vt:lpstr>Técnicas de visualização</vt:lpstr>
      <vt:lpstr>Técnicas de visualização</vt:lpstr>
      <vt:lpstr>Visualização de dados em Python</vt:lpstr>
      <vt:lpstr>Exercícios</vt:lpstr>
      <vt:lpstr>Engenharia de Dados</vt:lpstr>
      <vt:lpstr>Apresentação do PowerPoint</vt:lpstr>
      <vt:lpstr>Apresentação do PowerPoint</vt:lpstr>
      <vt:lpstr>Tratamentos comuns</vt:lpstr>
      <vt:lpstr>Normalização</vt:lpstr>
      <vt:lpstr>Codificação de dados categóricos</vt:lpstr>
      <vt:lpstr>Codificação de dados categóricos (one-hot)</vt:lpstr>
      <vt:lpstr>Exercícios</vt:lpstr>
      <vt:lpstr>Exercícios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Usuario</cp:lastModifiedBy>
  <cp:revision>44</cp:revision>
  <dcterms:created xsi:type="dcterms:W3CDTF">2025-05-19T12:59:37Z</dcterms:created>
  <dcterms:modified xsi:type="dcterms:W3CDTF">2026-08-18T23:59:30Z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0x0101000086838258D66E4AB5189C9A3CE00C2C</vt:lpwstr>
  </property>
</Properties>
</file>