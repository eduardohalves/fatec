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24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54" r:id="rId4"/>
    <p:sldId id="361" r:id="rId5"/>
    <p:sldId id="355" r:id="rId6"/>
    <p:sldId id="356" r:id="rId7"/>
    <p:sldId id="357" r:id="rId8"/>
    <p:sldId id="358" r:id="rId9"/>
    <p:sldId id="359" r:id="rId10"/>
    <p:sldId id="274" r:id="rId11"/>
    <p:sldId id="360" r:id="rId12"/>
    <p:sldId id="341" r:id="rId13"/>
    <p:sldId id="342" r:id="rId14"/>
    <p:sldId id="347" r:id="rId15"/>
    <p:sldId id="348" r:id="rId16"/>
    <p:sldId id="343" r:id="rId17"/>
    <p:sldId id="344" r:id="rId18"/>
    <p:sldId id="349" r:id="rId19"/>
    <p:sldId id="350" r:id="rId20"/>
    <p:sldId id="330" r:id="rId21"/>
    <p:sldId id="333" r:id="rId22"/>
    <p:sldId id="271" r:id="rId23"/>
    <p:sldId id="351" r:id="rId24"/>
    <p:sldId id="345" r:id="rId25"/>
    <p:sldId id="352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0C9E5E-3D19-4B38-A8D4-588C6B22653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236F7BFF-97BB-4F96-B8FF-1365C00E7438}">
      <dgm:prSet/>
      <dgm:spPr/>
      <dgm:t>
        <a:bodyPr/>
        <a:lstStyle/>
        <a:p>
          <a:pPr rtl="0"/>
          <a:r>
            <a:rPr lang="pt-BR" dirty="0" smtClean="0"/>
            <a:t>1) Obter os dados</a:t>
          </a:r>
          <a:endParaRPr lang="pt-BR" dirty="0"/>
        </a:p>
      </dgm:t>
    </dgm:pt>
    <dgm:pt modelId="{38598BC7-410F-4551-9EA0-BE42BBB62A18}" type="parTrans" cxnId="{9428B458-509C-4844-8329-AFC5F6031CFE}">
      <dgm:prSet/>
      <dgm:spPr/>
      <dgm:t>
        <a:bodyPr/>
        <a:lstStyle/>
        <a:p>
          <a:endParaRPr lang="pt-BR"/>
        </a:p>
      </dgm:t>
    </dgm:pt>
    <dgm:pt modelId="{B781D425-8B6B-46D4-AD8B-0778910BED29}" type="sibTrans" cxnId="{9428B458-509C-4844-8329-AFC5F6031CFE}">
      <dgm:prSet/>
      <dgm:spPr/>
      <dgm:t>
        <a:bodyPr/>
        <a:lstStyle/>
        <a:p>
          <a:endParaRPr lang="pt-BR"/>
        </a:p>
      </dgm:t>
    </dgm:pt>
    <dgm:pt modelId="{A579C311-BAC8-4628-A79A-DB21223D15F1}">
      <dgm:prSet/>
      <dgm:spPr/>
      <dgm:t>
        <a:bodyPr/>
        <a:lstStyle/>
        <a:p>
          <a:pPr rtl="0"/>
          <a:r>
            <a:rPr lang="pt-BR" dirty="0" smtClean="0"/>
            <a:t>2) Identificar e visualizar os dados para extrair informações úteis.</a:t>
          </a:r>
          <a:endParaRPr lang="pt-BR" dirty="0"/>
        </a:p>
      </dgm:t>
    </dgm:pt>
    <dgm:pt modelId="{47747EBD-1B3C-482F-9B59-7B6B7FC65236}" type="parTrans" cxnId="{E1F54D88-515A-40FA-9FA9-EFD1533C2532}">
      <dgm:prSet/>
      <dgm:spPr/>
      <dgm:t>
        <a:bodyPr/>
        <a:lstStyle/>
        <a:p>
          <a:endParaRPr lang="pt-BR"/>
        </a:p>
      </dgm:t>
    </dgm:pt>
    <dgm:pt modelId="{FB1E07ED-69A0-4B60-9F8B-2D8BC20CCE44}" type="sibTrans" cxnId="{E1F54D88-515A-40FA-9FA9-EFD1533C2532}">
      <dgm:prSet/>
      <dgm:spPr/>
      <dgm:t>
        <a:bodyPr/>
        <a:lstStyle/>
        <a:p>
          <a:endParaRPr lang="pt-BR"/>
        </a:p>
      </dgm:t>
    </dgm:pt>
    <dgm:pt modelId="{B7C4D81A-10BB-43C2-B0B1-0BB86A300303}">
      <dgm:prSet/>
      <dgm:spPr/>
      <dgm:t>
        <a:bodyPr/>
        <a:lstStyle/>
        <a:p>
          <a:pPr rtl="0"/>
          <a:r>
            <a:rPr lang="pt-BR" dirty="0" smtClean="0"/>
            <a:t>3) Preparar os dados para os algoritmos do aprendizado de máquina (converter tipos e formatos dos dados, dividir conjuntos de treinamento e teste, ....)</a:t>
          </a:r>
          <a:endParaRPr lang="pt-BR" dirty="0"/>
        </a:p>
      </dgm:t>
    </dgm:pt>
    <dgm:pt modelId="{1185B078-A3FA-4123-943B-5E7426C61C1C}" type="parTrans" cxnId="{F80DC231-197B-49A3-8548-013121257E85}">
      <dgm:prSet/>
      <dgm:spPr/>
      <dgm:t>
        <a:bodyPr/>
        <a:lstStyle/>
        <a:p>
          <a:endParaRPr lang="pt-BR"/>
        </a:p>
      </dgm:t>
    </dgm:pt>
    <dgm:pt modelId="{1FBBFE64-F976-4931-B0F8-BB379A770E32}" type="sibTrans" cxnId="{F80DC231-197B-49A3-8548-013121257E85}">
      <dgm:prSet/>
      <dgm:spPr/>
      <dgm:t>
        <a:bodyPr/>
        <a:lstStyle/>
        <a:p>
          <a:endParaRPr lang="pt-BR"/>
        </a:p>
      </dgm:t>
    </dgm:pt>
    <dgm:pt modelId="{A3162D4F-F01C-45EA-82B7-C1317F79304C}">
      <dgm:prSet/>
      <dgm:spPr/>
      <dgm:t>
        <a:bodyPr/>
        <a:lstStyle/>
        <a:p>
          <a:pPr rtl="0"/>
          <a:r>
            <a:rPr lang="pt-BR" dirty="0" smtClean="0"/>
            <a:t>4) Selecionar e treinar um modelo (</a:t>
          </a:r>
          <a:r>
            <a:rPr lang="pt-BR" dirty="0" err="1" smtClean="0"/>
            <a:t>fit</a:t>
          </a:r>
          <a:r>
            <a:rPr lang="pt-BR" dirty="0" smtClean="0"/>
            <a:t>)</a:t>
          </a:r>
          <a:endParaRPr lang="pt-BR" dirty="0"/>
        </a:p>
      </dgm:t>
    </dgm:pt>
    <dgm:pt modelId="{42591639-D462-49F4-BEAD-87EC56F8A9C6}" type="parTrans" cxnId="{C211C18C-B217-4C0C-8407-7A63E279E0BC}">
      <dgm:prSet/>
      <dgm:spPr/>
      <dgm:t>
        <a:bodyPr/>
        <a:lstStyle/>
        <a:p>
          <a:endParaRPr lang="pt-BR"/>
        </a:p>
      </dgm:t>
    </dgm:pt>
    <dgm:pt modelId="{623072DC-07D1-4B9F-B54D-CCBA8D585C50}" type="sibTrans" cxnId="{C211C18C-B217-4C0C-8407-7A63E279E0BC}">
      <dgm:prSet/>
      <dgm:spPr/>
      <dgm:t>
        <a:bodyPr/>
        <a:lstStyle/>
        <a:p>
          <a:endParaRPr lang="pt-BR"/>
        </a:p>
      </dgm:t>
    </dgm:pt>
    <dgm:pt modelId="{FCD27F9C-2725-49CD-AA57-C3FCF41817A9}">
      <dgm:prSet/>
      <dgm:spPr/>
      <dgm:t>
        <a:bodyPr/>
        <a:lstStyle/>
        <a:p>
          <a:pPr rtl="0"/>
          <a:r>
            <a:rPr lang="pt-BR" dirty="0" smtClean="0"/>
            <a:t>5) Avaliar e Aperfeiçoar o modelo (</a:t>
          </a:r>
          <a:r>
            <a:rPr lang="pt-BR" dirty="0" err="1" smtClean="0"/>
            <a:t>predict</a:t>
          </a:r>
          <a:r>
            <a:rPr lang="pt-BR" dirty="0" smtClean="0"/>
            <a:t>, métricas...)</a:t>
          </a:r>
          <a:endParaRPr lang="pt-BR" dirty="0"/>
        </a:p>
      </dgm:t>
    </dgm:pt>
    <dgm:pt modelId="{E436E8D6-722D-40F6-AE71-25F356A0575B}" type="parTrans" cxnId="{D01442EF-35D1-40BA-B737-2363815F38EC}">
      <dgm:prSet/>
      <dgm:spPr/>
      <dgm:t>
        <a:bodyPr/>
        <a:lstStyle/>
        <a:p>
          <a:endParaRPr lang="pt-BR"/>
        </a:p>
      </dgm:t>
    </dgm:pt>
    <dgm:pt modelId="{C80E503E-2B2C-48C4-A268-FBEBB6310F54}" type="sibTrans" cxnId="{D01442EF-35D1-40BA-B737-2363815F38EC}">
      <dgm:prSet/>
      <dgm:spPr/>
      <dgm:t>
        <a:bodyPr/>
        <a:lstStyle/>
        <a:p>
          <a:endParaRPr lang="pt-BR"/>
        </a:p>
      </dgm:t>
    </dgm:pt>
    <dgm:pt modelId="{BB7E554B-40E2-472F-9EE5-8F97742A238D}">
      <dgm:prSet/>
      <dgm:spPr/>
      <dgm:t>
        <a:bodyPr/>
        <a:lstStyle/>
        <a:p>
          <a:endParaRPr lang="pt-BR"/>
        </a:p>
      </dgm:t>
    </dgm:pt>
    <dgm:pt modelId="{A6E57635-B11E-456D-959B-51B488ABD32D}" type="parTrans" cxnId="{3B83C8B5-CE5C-407C-BB96-BCA7C6401CDE}">
      <dgm:prSet/>
      <dgm:spPr/>
      <dgm:t>
        <a:bodyPr/>
        <a:lstStyle/>
        <a:p>
          <a:endParaRPr lang="pt-BR"/>
        </a:p>
      </dgm:t>
    </dgm:pt>
    <dgm:pt modelId="{4429FFDF-08AE-4E62-8BD1-57BFFAA79615}" type="sibTrans" cxnId="{3B83C8B5-CE5C-407C-BB96-BCA7C6401CDE}">
      <dgm:prSet/>
      <dgm:spPr/>
      <dgm:t>
        <a:bodyPr/>
        <a:lstStyle/>
        <a:p>
          <a:endParaRPr lang="pt-BR"/>
        </a:p>
      </dgm:t>
    </dgm:pt>
    <dgm:pt modelId="{616F3B99-B4A1-4169-A95A-01B1BEA36615}" type="pres">
      <dgm:prSet presAssocID="{BC0C9E5E-3D19-4B38-A8D4-588C6B226530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3C235594-788F-407D-AE42-437639F3120B}" type="pres">
      <dgm:prSet presAssocID="{BC0C9E5E-3D19-4B38-A8D4-588C6B226530}" presName="dummyMaxCanvas" presStyleCnt="0">
        <dgm:presLayoutVars/>
      </dgm:prSet>
      <dgm:spPr/>
    </dgm:pt>
    <dgm:pt modelId="{09090C27-2238-4143-9C7F-30CFA530735E}" type="pres">
      <dgm:prSet presAssocID="{BC0C9E5E-3D19-4B38-A8D4-588C6B226530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DDCD3E7-3C01-4F1C-8F28-3C8213226914}" type="pres">
      <dgm:prSet presAssocID="{BC0C9E5E-3D19-4B38-A8D4-588C6B226530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F74F3EF-5C49-4F8E-AC65-1A0CBADFF6BD}" type="pres">
      <dgm:prSet presAssocID="{BC0C9E5E-3D19-4B38-A8D4-588C6B226530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78E7636-E8A8-42FA-9CC4-46D89FB03F3C}" type="pres">
      <dgm:prSet presAssocID="{BC0C9E5E-3D19-4B38-A8D4-588C6B226530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888CA7E-F8AB-42E4-AED0-53E8207955EC}" type="pres">
      <dgm:prSet presAssocID="{BC0C9E5E-3D19-4B38-A8D4-588C6B226530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1607A73-813F-4DC7-8E6C-38E27A41A37E}" type="pres">
      <dgm:prSet presAssocID="{BC0C9E5E-3D19-4B38-A8D4-588C6B226530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3D8953D-59DA-4BCC-A312-0002685CB66E}" type="pres">
      <dgm:prSet presAssocID="{BC0C9E5E-3D19-4B38-A8D4-588C6B226530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D8D89DA-4FBF-43BD-8065-7FEA8E0BE2B1}" type="pres">
      <dgm:prSet presAssocID="{BC0C9E5E-3D19-4B38-A8D4-588C6B226530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A4C0CCC-14A0-479F-B940-21D9701E68C5}" type="pres">
      <dgm:prSet presAssocID="{BC0C9E5E-3D19-4B38-A8D4-588C6B226530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8372920-C344-401E-B7B8-9F052CA4C964}" type="pres">
      <dgm:prSet presAssocID="{BC0C9E5E-3D19-4B38-A8D4-588C6B226530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04A3EF3-D54E-4CEC-A914-86918ED49722}" type="pres">
      <dgm:prSet presAssocID="{BC0C9E5E-3D19-4B38-A8D4-588C6B226530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5FC4DAE-16E2-48A6-A17A-9D9DEFBD2B98}" type="pres">
      <dgm:prSet presAssocID="{BC0C9E5E-3D19-4B38-A8D4-588C6B226530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27AF8C5-2016-4A16-8E8D-ADCAF9F03D5A}" type="pres">
      <dgm:prSet presAssocID="{BC0C9E5E-3D19-4B38-A8D4-588C6B226530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5A913CD-68A0-478D-9B25-7C27A5056A5A}" type="pres">
      <dgm:prSet presAssocID="{BC0C9E5E-3D19-4B38-A8D4-588C6B226530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90B9309-FE30-4402-8366-B7EA9542AEF5}" type="presOf" srcId="{A579C311-BAC8-4628-A79A-DB21223D15F1}" destId="{CDDCD3E7-3C01-4F1C-8F28-3C8213226914}" srcOrd="0" destOrd="0" presId="urn:microsoft.com/office/officeart/2005/8/layout/vProcess5"/>
    <dgm:cxn modelId="{3B83C8B5-CE5C-407C-BB96-BCA7C6401CDE}" srcId="{BC0C9E5E-3D19-4B38-A8D4-588C6B226530}" destId="{BB7E554B-40E2-472F-9EE5-8F97742A238D}" srcOrd="5" destOrd="0" parTransId="{A6E57635-B11E-456D-959B-51B488ABD32D}" sibTransId="{4429FFDF-08AE-4E62-8BD1-57BFFAA79615}"/>
    <dgm:cxn modelId="{2F33F5C2-BFD9-41CD-9123-876805AA2734}" type="presOf" srcId="{A3162D4F-F01C-45EA-82B7-C1317F79304C}" destId="{327AF8C5-2016-4A16-8E8D-ADCAF9F03D5A}" srcOrd="1" destOrd="0" presId="urn:microsoft.com/office/officeart/2005/8/layout/vProcess5"/>
    <dgm:cxn modelId="{D06D2E7A-BB1F-4B06-B268-EA2C03258DB6}" type="presOf" srcId="{FB1E07ED-69A0-4B60-9F8B-2D8BC20CCE44}" destId="{43D8953D-59DA-4BCC-A312-0002685CB66E}" srcOrd="0" destOrd="0" presId="urn:microsoft.com/office/officeart/2005/8/layout/vProcess5"/>
    <dgm:cxn modelId="{695064FD-60D6-477F-B6C4-B78B52B21D24}" type="presOf" srcId="{1FBBFE64-F976-4931-B0F8-BB379A770E32}" destId="{4D8D89DA-4FBF-43BD-8065-7FEA8E0BE2B1}" srcOrd="0" destOrd="0" presId="urn:microsoft.com/office/officeart/2005/8/layout/vProcess5"/>
    <dgm:cxn modelId="{10C4B58F-B082-4A9D-A13C-7CC7B3FC8592}" type="presOf" srcId="{B7C4D81A-10BB-43C2-B0B1-0BB86A300303}" destId="{05FC4DAE-16E2-48A6-A17A-9D9DEFBD2B98}" srcOrd="1" destOrd="0" presId="urn:microsoft.com/office/officeart/2005/8/layout/vProcess5"/>
    <dgm:cxn modelId="{F80DC231-197B-49A3-8548-013121257E85}" srcId="{BC0C9E5E-3D19-4B38-A8D4-588C6B226530}" destId="{B7C4D81A-10BB-43C2-B0B1-0BB86A300303}" srcOrd="2" destOrd="0" parTransId="{1185B078-A3FA-4123-943B-5E7426C61C1C}" sibTransId="{1FBBFE64-F976-4931-B0F8-BB379A770E32}"/>
    <dgm:cxn modelId="{82BD08E1-5003-413F-9407-A45E12392C5B}" type="presOf" srcId="{FCD27F9C-2725-49CD-AA57-C3FCF41817A9}" destId="{B5A913CD-68A0-478D-9B25-7C27A5056A5A}" srcOrd="1" destOrd="0" presId="urn:microsoft.com/office/officeart/2005/8/layout/vProcess5"/>
    <dgm:cxn modelId="{96F94183-530F-4327-B7B9-49775DB4CBB9}" type="presOf" srcId="{236F7BFF-97BB-4F96-B8FF-1365C00E7438}" destId="{09090C27-2238-4143-9C7F-30CFA530735E}" srcOrd="0" destOrd="0" presId="urn:microsoft.com/office/officeart/2005/8/layout/vProcess5"/>
    <dgm:cxn modelId="{C0311089-2463-4F8B-B635-1A512F1D9AE0}" type="presOf" srcId="{B7C4D81A-10BB-43C2-B0B1-0BB86A300303}" destId="{EF74F3EF-5C49-4F8E-AC65-1A0CBADFF6BD}" srcOrd="0" destOrd="0" presId="urn:microsoft.com/office/officeart/2005/8/layout/vProcess5"/>
    <dgm:cxn modelId="{1C193B54-A5BD-43FC-AD31-CF72695DD540}" type="presOf" srcId="{FCD27F9C-2725-49CD-AA57-C3FCF41817A9}" destId="{4888CA7E-F8AB-42E4-AED0-53E8207955EC}" srcOrd="0" destOrd="0" presId="urn:microsoft.com/office/officeart/2005/8/layout/vProcess5"/>
    <dgm:cxn modelId="{1AA27269-79AA-4A6D-B567-9A96E8AF9B6A}" type="presOf" srcId="{236F7BFF-97BB-4F96-B8FF-1365C00E7438}" destId="{28372920-C344-401E-B7B8-9F052CA4C964}" srcOrd="1" destOrd="0" presId="urn:microsoft.com/office/officeart/2005/8/layout/vProcess5"/>
    <dgm:cxn modelId="{AD9137A0-BD68-4850-9D8D-D13FCECA3B46}" type="presOf" srcId="{A3162D4F-F01C-45EA-82B7-C1317F79304C}" destId="{B78E7636-E8A8-42FA-9CC4-46D89FB03F3C}" srcOrd="0" destOrd="0" presId="urn:microsoft.com/office/officeart/2005/8/layout/vProcess5"/>
    <dgm:cxn modelId="{E1F54D88-515A-40FA-9FA9-EFD1533C2532}" srcId="{BC0C9E5E-3D19-4B38-A8D4-588C6B226530}" destId="{A579C311-BAC8-4628-A79A-DB21223D15F1}" srcOrd="1" destOrd="0" parTransId="{47747EBD-1B3C-482F-9B59-7B6B7FC65236}" sibTransId="{FB1E07ED-69A0-4B60-9F8B-2D8BC20CCE44}"/>
    <dgm:cxn modelId="{E33907A3-77D9-48EA-A046-318332FF4061}" type="presOf" srcId="{B781D425-8B6B-46D4-AD8B-0778910BED29}" destId="{81607A73-813F-4DC7-8E6C-38E27A41A37E}" srcOrd="0" destOrd="0" presId="urn:microsoft.com/office/officeart/2005/8/layout/vProcess5"/>
    <dgm:cxn modelId="{B8B4904E-7EF5-4C06-B8E2-E608A2E7D17C}" type="presOf" srcId="{623072DC-07D1-4B9F-B54D-CCBA8D585C50}" destId="{AA4C0CCC-14A0-479F-B940-21D9701E68C5}" srcOrd="0" destOrd="0" presId="urn:microsoft.com/office/officeart/2005/8/layout/vProcess5"/>
    <dgm:cxn modelId="{D01442EF-35D1-40BA-B737-2363815F38EC}" srcId="{BC0C9E5E-3D19-4B38-A8D4-588C6B226530}" destId="{FCD27F9C-2725-49CD-AA57-C3FCF41817A9}" srcOrd="4" destOrd="0" parTransId="{E436E8D6-722D-40F6-AE71-25F356A0575B}" sibTransId="{C80E503E-2B2C-48C4-A268-FBEBB6310F54}"/>
    <dgm:cxn modelId="{C211C18C-B217-4C0C-8407-7A63E279E0BC}" srcId="{BC0C9E5E-3D19-4B38-A8D4-588C6B226530}" destId="{A3162D4F-F01C-45EA-82B7-C1317F79304C}" srcOrd="3" destOrd="0" parTransId="{42591639-D462-49F4-BEAD-87EC56F8A9C6}" sibTransId="{623072DC-07D1-4B9F-B54D-CCBA8D585C50}"/>
    <dgm:cxn modelId="{EAAD76A0-49B9-4A7F-849D-D483AAE683E1}" type="presOf" srcId="{BC0C9E5E-3D19-4B38-A8D4-588C6B226530}" destId="{616F3B99-B4A1-4169-A95A-01B1BEA36615}" srcOrd="0" destOrd="0" presId="urn:microsoft.com/office/officeart/2005/8/layout/vProcess5"/>
    <dgm:cxn modelId="{9428B458-509C-4844-8329-AFC5F6031CFE}" srcId="{BC0C9E5E-3D19-4B38-A8D4-588C6B226530}" destId="{236F7BFF-97BB-4F96-B8FF-1365C00E7438}" srcOrd="0" destOrd="0" parTransId="{38598BC7-410F-4551-9EA0-BE42BBB62A18}" sibTransId="{B781D425-8B6B-46D4-AD8B-0778910BED29}"/>
    <dgm:cxn modelId="{20DE4697-CB2A-4AC9-BC62-C9F5C3F0AFC5}" type="presOf" srcId="{A579C311-BAC8-4628-A79A-DB21223D15F1}" destId="{704A3EF3-D54E-4CEC-A914-86918ED49722}" srcOrd="1" destOrd="0" presId="urn:microsoft.com/office/officeart/2005/8/layout/vProcess5"/>
    <dgm:cxn modelId="{80C2173E-C4EE-4B3C-8652-8AB4CD992645}" type="presParOf" srcId="{616F3B99-B4A1-4169-A95A-01B1BEA36615}" destId="{3C235594-788F-407D-AE42-437639F3120B}" srcOrd="0" destOrd="0" presId="urn:microsoft.com/office/officeart/2005/8/layout/vProcess5"/>
    <dgm:cxn modelId="{3D744DCD-572F-437C-9219-5EDCB4B97937}" type="presParOf" srcId="{616F3B99-B4A1-4169-A95A-01B1BEA36615}" destId="{09090C27-2238-4143-9C7F-30CFA530735E}" srcOrd="1" destOrd="0" presId="urn:microsoft.com/office/officeart/2005/8/layout/vProcess5"/>
    <dgm:cxn modelId="{7B396A7C-8ADA-46B0-9EC4-920B8CD863C6}" type="presParOf" srcId="{616F3B99-B4A1-4169-A95A-01B1BEA36615}" destId="{CDDCD3E7-3C01-4F1C-8F28-3C8213226914}" srcOrd="2" destOrd="0" presId="urn:microsoft.com/office/officeart/2005/8/layout/vProcess5"/>
    <dgm:cxn modelId="{5EEF83B5-29CA-46E5-9DEF-A8CA22E59F3C}" type="presParOf" srcId="{616F3B99-B4A1-4169-A95A-01B1BEA36615}" destId="{EF74F3EF-5C49-4F8E-AC65-1A0CBADFF6BD}" srcOrd="3" destOrd="0" presId="urn:microsoft.com/office/officeart/2005/8/layout/vProcess5"/>
    <dgm:cxn modelId="{7FDC0EA6-E637-4E36-9C03-8D73A39F2BEA}" type="presParOf" srcId="{616F3B99-B4A1-4169-A95A-01B1BEA36615}" destId="{B78E7636-E8A8-42FA-9CC4-46D89FB03F3C}" srcOrd="4" destOrd="0" presId="urn:microsoft.com/office/officeart/2005/8/layout/vProcess5"/>
    <dgm:cxn modelId="{E91489B4-DF96-4C2C-BFC6-7B80A2CCD192}" type="presParOf" srcId="{616F3B99-B4A1-4169-A95A-01B1BEA36615}" destId="{4888CA7E-F8AB-42E4-AED0-53E8207955EC}" srcOrd="5" destOrd="0" presId="urn:microsoft.com/office/officeart/2005/8/layout/vProcess5"/>
    <dgm:cxn modelId="{9A6539ED-04FA-4C6A-8B9F-36C265C4C9F4}" type="presParOf" srcId="{616F3B99-B4A1-4169-A95A-01B1BEA36615}" destId="{81607A73-813F-4DC7-8E6C-38E27A41A37E}" srcOrd="6" destOrd="0" presId="urn:microsoft.com/office/officeart/2005/8/layout/vProcess5"/>
    <dgm:cxn modelId="{EC95B936-833C-45A2-9255-F50EC75DFC8D}" type="presParOf" srcId="{616F3B99-B4A1-4169-A95A-01B1BEA36615}" destId="{43D8953D-59DA-4BCC-A312-0002685CB66E}" srcOrd="7" destOrd="0" presId="urn:microsoft.com/office/officeart/2005/8/layout/vProcess5"/>
    <dgm:cxn modelId="{730859A6-DEA9-4A75-968C-FD5DC88B2645}" type="presParOf" srcId="{616F3B99-B4A1-4169-A95A-01B1BEA36615}" destId="{4D8D89DA-4FBF-43BD-8065-7FEA8E0BE2B1}" srcOrd="8" destOrd="0" presId="urn:microsoft.com/office/officeart/2005/8/layout/vProcess5"/>
    <dgm:cxn modelId="{7210E469-155C-48A0-BCFD-60C0053C250A}" type="presParOf" srcId="{616F3B99-B4A1-4169-A95A-01B1BEA36615}" destId="{AA4C0CCC-14A0-479F-B940-21D9701E68C5}" srcOrd="9" destOrd="0" presId="urn:microsoft.com/office/officeart/2005/8/layout/vProcess5"/>
    <dgm:cxn modelId="{36D923B4-D1DC-4A01-BF4B-D0262B92620B}" type="presParOf" srcId="{616F3B99-B4A1-4169-A95A-01B1BEA36615}" destId="{28372920-C344-401E-B7B8-9F052CA4C964}" srcOrd="10" destOrd="0" presId="urn:microsoft.com/office/officeart/2005/8/layout/vProcess5"/>
    <dgm:cxn modelId="{986CBECC-F15A-4169-9CFC-9ABE5FAB727C}" type="presParOf" srcId="{616F3B99-B4A1-4169-A95A-01B1BEA36615}" destId="{704A3EF3-D54E-4CEC-A914-86918ED49722}" srcOrd="11" destOrd="0" presId="urn:microsoft.com/office/officeart/2005/8/layout/vProcess5"/>
    <dgm:cxn modelId="{FF9231D8-7414-443A-A0BD-566C51F624CF}" type="presParOf" srcId="{616F3B99-B4A1-4169-A95A-01B1BEA36615}" destId="{05FC4DAE-16E2-48A6-A17A-9D9DEFBD2B98}" srcOrd="12" destOrd="0" presId="urn:microsoft.com/office/officeart/2005/8/layout/vProcess5"/>
    <dgm:cxn modelId="{231D5F23-A5B3-49C4-B73D-9DF531493B8D}" type="presParOf" srcId="{616F3B99-B4A1-4169-A95A-01B1BEA36615}" destId="{327AF8C5-2016-4A16-8E8D-ADCAF9F03D5A}" srcOrd="13" destOrd="0" presId="urn:microsoft.com/office/officeart/2005/8/layout/vProcess5"/>
    <dgm:cxn modelId="{0CB9C166-4A46-4489-ADF4-AD429F9E734B}" type="presParOf" srcId="{616F3B99-B4A1-4169-A95A-01B1BEA36615}" destId="{B5A913CD-68A0-478D-9B25-7C27A5056A5A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90C27-2238-4143-9C7F-30CFA530735E}">
      <dsp:nvSpPr>
        <dsp:cNvPr id="0" name=""/>
        <dsp:cNvSpPr/>
      </dsp:nvSpPr>
      <dsp:spPr>
        <a:xfrm>
          <a:off x="0" y="0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1) Obter os dados</a:t>
          </a:r>
          <a:endParaRPr lang="pt-BR" sz="1600" kern="1200" dirty="0"/>
        </a:p>
      </dsp:txBody>
      <dsp:txXfrm>
        <a:off x="22940" y="22940"/>
        <a:ext cx="7160195" cy="737360"/>
      </dsp:txXfrm>
    </dsp:sp>
    <dsp:sp modelId="{CDDCD3E7-3C01-4F1C-8F28-3C8213226914}">
      <dsp:nvSpPr>
        <dsp:cNvPr id="0" name=""/>
        <dsp:cNvSpPr/>
      </dsp:nvSpPr>
      <dsp:spPr>
        <a:xfrm>
          <a:off x="604647" y="892024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2) Identificar e visualizar os dados para extrair informações úteis.</a:t>
          </a:r>
          <a:endParaRPr lang="pt-BR" sz="1600" kern="1200" dirty="0"/>
        </a:p>
      </dsp:txBody>
      <dsp:txXfrm>
        <a:off x="627587" y="914964"/>
        <a:ext cx="6937378" cy="737360"/>
      </dsp:txXfrm>
    </dsp:sp>
    <dsp:sp modelId="{EF74F3EF-5C49-4F8E-AC65-1A0CBADFF6BD}">
      <dsp:nvSpPr>
        <dsp:cNvPr id="0" name=""/>
        <dsp:cNvSpPr/>
      </dsp:nvSpPr>
      <dsp:spPr>
        <a:xfrm>
          <a:off x="1209293" y="1784048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3) Preparar os dados para os algoritmos do aprendizado de máquina (converter tipos e formatos dos dados, dividir conjuntos de treinamento e teste, ....)</a:t>
          </a:r>
          <a:endParaRPr lang="pt-BR" sz="1600" kern="1200" dirty="0"/>
        </a:p>
      </dsp:txBody>
      <dsp:txXfrm>
        <a:off x="1232233" y="1806988"/>
        <a:ext cx="6937378" cy="737360"/>
      </dsp:txXfrm>
    </dsp:sp>
    <dsp:sp modelId="{B78E7636-E8A8-42FA-9CC4-46D89FB03F3C}">
      <dsp:nvSpPr>
        <dsp:cNvPr id="0" name=""/>
        <dsp:cNvSpPr/>
      </dsp:nvSpPr>
      <dsp:spPr>
        <a:xfrm>
          <a:off x="1813940" y="2676072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4) Selecionar e treinar um modelo (</a:t>
          </a:r>
          <a:r>
            <a:rPr lang="pt-BR" sz="1600" kern="1200" dirty="0" err="1" smtClean="0"/>
            <a:t>fit</a:t>
          </a:r>
          <a:r>
            <a:rPr lang="pt-BR" sz="1600" kern="1200" dirty="0" smtClean="0"/>
            <a:t>)</a:t>
          </a:r>
          <a:endParaRPr lang="pt-BR" sz="1600" kern="1200" dirty="0"/>
        </a:p>
      </dsp:txBody>
      <dsp:txXfrm>
        <a:off x="1836880" y="2699012"/>
        <a:ext cx="6937378" cy="737360"/>
      </dsp:txXfrm>
    </dsp:sp>
    <dsp:sp modelId="{4888CA7E-F8AB-42E4-AED0-53E8207955EC}">
      <dsp:nvSpPr>
        <dsp:cNvPr id="0" name=""/>
        <dsp:cNvSpPr/>
      </dsp:nvSpPr>
      <dsp:spPr>
        <a:xfrm>
          <a:off x="2418587" y="3568097"/>
          <a:ext cx="8097012" cy="783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5) Avaliar e Aperfeiçoar o modelo (</a:t>
          </a:r>
          <a:r>
            <a:rPr lang="pt-BR" sz="1600" kern="1200" dirty="0" err="1" smtClean="0"/>
            <a:t>predict</a:t>
          </a:r>
          <a:r>
            <a:rPr lang="pt-BR" sz="1600" kern="1200" dirty="0" smtClean="0"/>
            <a:t>, métricas...)</a:t>
          </a:r>
          <a:endParaRPr lang="pt-BR" sz="1600" kern="1200" dirty="0"/>
        </a:p>
      </dsp:txBody>
      <dsp:txXfrm>
        <a:off x="2441527" y="3591037"/>
        <a:ext cx="6937378" cy="737360"/>
      </dsp:txXfrm>
    </dsp:sp>
    <dsp:sp modelId="{81607A73-813F-4DC7-8E6C-38E27A41A37E}">
      <dsp:nvSpPr>
        <dsp:cNvPr id="0" name=""/>
        <dsp:cNvSpPr/>
      </dsp:nvSpPr>
      <dsp:spPr>
        <a:xfrm>
          <a:off x="7587905" y="572200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300" kern="1200"/>
        </a:p>
      </dsp:txBody>
      <dsp:txXfrm>
        <a:off x="7702454" y="572200"/>
        <a:ext cx="280008" cy="383102"/>
      </dsp:txXfrm>
    </dsp:sp>
    <dsp:sp modelId="{43D8953D-59DA-4BCC-A312-0002685CB66E}">
      <dsp:nvSpPr>
        <dsp:cNvPr id="0" name=""/>
        <dsp:cNvSpPr/>
      </dsp:nvSpPr>
      <dsp:spPr>
        <a:xfrm>
          <a:off x="8192552" y="146422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300" kern="1200"/>
        </a:p>
      </dsp:txBody>
      <dsp:txXfrm>
        <a:off x="8307101" y="1464225"/>
        <a:ext cx="280008" cy="383102"/>
      </dsp:txXfrm>
    </dsp:sp>
    <dsp:sp modelId="{4D8D89DA-4FBF-43BD-8065-7FEA8E0BE2B1}">
      <dsp:nvSpPr>
        <dsp:cNvPr id="0" name=""/>
        <dsp:cNvSpPr/>
      </dsp:nvSpPr>
      <dsp:spPr>
        <a:xfrm>
          <a:off x="8797199" y="2343195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300" kern="1200"/>
        </a:p>
      </dsp:txBody>
      <dsp:txXfrm>
        <a:off x="8911748" y="2343195"/>
        <a:ext cx="280008" cy="383102"/>
      </dsp:txXfrm>
    </dsp:sp>
    <dsp:sp modelId="{AA4C0CCC-14A0-479F-B940-21D9701E68C5}">
      <dsp:nvSpPr>
        <dsp:cNvPr id="0" name=""/>
        <dsp:cNvSpPr/>
      </dsp:nvSpPr>
      <dsp:spPr>
        <a:xfrm>
          <a:off x="9401846" y="3243922"/>
          <a:ext cx="509106" cy="50910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2300" kern="1200"/>
        </a:p>
      </dsp:txBody>
      <dsp:txXfrm>
        <a:off x="9516395" y="3243922"/>
        <a:ext cx="280008" cy="38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161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53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2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60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53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26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305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708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3858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819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1AA80-AA48-4AC1-BF1F-5043E12B8185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84123-3624-4A8C-B895-E736D560B0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45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crash-course/linear-regression?hl=pt-b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crash-course/linear-regression?hl=pt-b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velopers.google.com/machine-learning/crash-course/linear-regression?hl=pt-br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oogle.com/machine-learning/crash-course/linear-regression?hl=pt-br" TargetMode="External"/><Relationship Id="rId2" Type="http://schemas.openxmlformats.org/officeDocument/2006/relationships/hyperlink" Target="https://developers.google.com/machine-learning/crash-course/linear-regression/parameters-exercise?hl=pt-b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google.com/machine-learning/crash-course/linear-regression?hl=pt-b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APRENDIZAGEM DE MÁQUINA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MAQ-04</a:t>
            </a:r>
          </a:p>
        </p:txBody>
      </p:sp>
    </p:spTree>
    <p:extLst>
      <p:ext uri="{BB962C8B-B14F-4D97-AF65-F5344CB8AC3E}">
        <p14:creationId xmlns:p14="http://schemas.microsoft.com/office/powerpoint/2010/main" val="42880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PROJETOS DE APRENDIZAGEM DE MÁQUINA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738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“Treinamento” de um 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Processo de ensinar um sistema computacional a realizar tarefa específicas.</a:t>
            </a:r>
          </a:p>
          <a:p>
            <a:pPr marL="0" indent="0">
              <a:buNone/>
            </a:pPr>
            <a:r>
              <a:rPr lang="pt-BR" dirty="0" smtClean="0"/>
              <a:t>Ajuste de parâmetros internos (pesos) para minimizar erros nas previsões.</a:t>
            </a:r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885" y="3955914"/>
            <a:ext cx="5071821" cy="222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4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“Treinamento” de um 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O contexto do exercício de regressão linear (consumo de combustível em função do peso de um veículo):</a:t>
            </a:r>
          </a:p>
          <a:p>
            <a:r>
              <a:rPr lang="pt-BR" dirty="0"/>
              <a:t>A regressão linear é uma técnica estatística usada para encontrar a relação entre variáveis. Em um contexto de ML, a regressão linear encontra a relação entre </a:t>
            </a:r>
            <a:r>
              <a:rPr lang="pt-BR" b="1" dirty="0"/>
              <a:t>atributos</a:t>
            </a:r>
            <a:r>
              <a:rPr lang="pt-BR" dirty="0"/>
              <a:t> e um </a:t>
            </a:r>
            <a:r>
              <a:rPr lang="pt-BR" b="1" dirty="0"/>
              <a:t>rótulo</a:t>
            </a:r>
            <a:r>
              <a:rPr lang="pt-BR" dirty="0" smtClean="0"/>
              <a:t>.</a:t>
            </a:r>
          </a:p>
          <a:p>
            <a:r>
              <a:rPr lang="pt-BR" b="1" dirty="0" smtClean="0"/>
              <a:t>Atributo</a:t>
            </a:r>
            <a:r>
              <a:rPr lang="pt-BR" dirty="0" smtClean="0"/>
              <a:t>: é a variável de entrada para o modelo (e.g. peso do veículo)</a:t>
            </a:r>
          </a:p>
          <a:p>
            <a:r>
              <a:rPr lang="pt-BR" b="1" dirty="0" smtClean="0"/>
              <a:t>Rótulo</a:t>
            </a:r>
            <a:r>
              <a:rPr lang="pt-BR" dirty="0" smtClean="0"/>
              <a:t>: é a “resposta” ou “resultado” do modelo (e.g. consumo de combustível)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854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Equação linear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termos algébricos, o modelo seria definido </a:t>
            </a:r>
            <a:r>
              <a:rPr lang="pt-BR" dirty="0" smtClean="0"/>
              <a:t>como: </a:t>
            </a:r>
            <a:r>
              <a:rPr lang="pt-BR" i="1" dirty="0" smtClean="0"/>
              <a:t>y = b + </a:t>
            </a:r>
            <a:r>
              <a:rPr lang="pt-BR" i="1" dirty="0" err="1" smtClean="0"/>
              <a:t>ax</a:t>
            </a:r>
            <a:r>
              <a:rPr lang="pt-BR" dirty="0" smtClean="0"/>
              <a:t>, </a:t>
            </a:r>
            <a:r>
              <a:rPr lang="pt-BR" dirty="0"/>
              <a:t>em </a:t>
            </a:r>
            <a:r>
              <a:rPr lang="pt-BR" dirty="0" smtClean="0"/>
              <a:t>que:</a:t>
            </a:r>
          </a:p>
          <a:p>
            <a:pPr lvl="1"/>
            <a:r>
              <a:rPr lang="pt-BR" i="1" dirty="0" smtClean="0"/>
              <a:t>x</a:t>
            </a:r>
            <a:r>
              <a:rPr lang="pt-BR" dirty="0" smtClean="0"/>
              <a:t> é o </a:t>
            </a:r>
            <a:r>
              <a:rPr lang="pt-BR" b="1" dirty="0" smtClean="0"/>
              <a:t>atributo</a:t>
            </a:r>
            <a:r>
              <a:rPr lang="pt-BR" dirty="0" smtClean="0"/>
              <a:t> de entrada (e.g. peso do veículo)</a:t>
            </a:r>
            <a:endParaRPr lang="pt-BR" i="1" dirty="0" smtClean="0"/>
          </a:p>
          <a:p>
            <a:pPr lvl="1"/>
            <a:r>
              <a:rPr lang="pt-BR" i="1" dirty="0" smtClean="0"/>
              <a:t>y </a:t>
            </a:r>
            <a:r>
              <a:rPr lang="pt-BR" dirty="0" smtClean="0"/>
              <a:t>é o </a:t>
            </a:r>
            <a:r>
              <a:rPr lang="pt-BR" b="1" dirty="0" smtClean="0"/>
              <a:t>rótulo</a:t>
            </a:r>
            <a:r>
              <a:rPr lang="pt-BR" dirty="0" smtClean="0"/>
              <a:t>, i.e., o valor que queremos prever (e.g. consumo de combustível)</a:t>
            </a:r>
          </a:p>
          <a:p>
            <a:pPr lvl="1"/>
            <a:r>
              <a:rPr lang="pt-BR" dirty="0" smtClean="0"/>
              <a:t>A equação tem dois parâmetros que precisam ser ajustados (</a:t>
            </a:r>
            <a:r>
              <a:rPr lang="pt-BR" i="1" dirty="0" err="1" smtClean="0"/>
              <a:t>fit</a:t>
            </a:r>
            <a:r>
              <a:rPr lang="pt-BR" dirty="0" smtClean="0"/>
              <a:t>):</a:t>
            </a:r>
          </a:p>
          <a:p>
            <a:pPr lvl="2"/>
            <a:r>
              <a:rPr lang="pt-BR" i="1" dirty="0" smtClean="0"/>
              <a:t>b </a:t>
            </a:r>
            <a:r>
              <a:rPr lang="pt-BR" dirty="0" smtClean="0"/>
              <a:t>é o coeficiente linear da reta e neste caso chamado de viés </a:t>
            </a:r>
            <a:r>
              <a:rPr lang="pt-BR" i="1" dirty="0" smtClean="0"/>
              <a:t>(bias).</a:t>
            </a:r>
          </a:p>
          <a:p>
            <a:pPr lvl="2"/>
            <a:r>
              <a:rPr lang="pt-BR" i="1" dirty="0" smtClean="0"/>
              <a:t>a </a:t>
            </a:r>
            <a:r>
              <a:rPr lang="pt-BR" dirty="0" smtClean="0"/>
              <a:t>é o coeficiente angular e neste caso o peso do atributo.</a:t>
            </a:r>
            <a:endParaRPr lang="pt-BR" i="1" dirty="0"/>
          </a:p>
        </p:txBody>
      </p:sp>
      <p:pic>
        <p:nvPicPr>
          <p:cNvPr id="1026" name="Picture 2" descr="Figura 3. A equação y&amp;#39; = b + w1x1, com cada componente anotado com a finalidade dele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535" y="4694547"/>
            <a:ext cx="3612562" cy="201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6658466" y="612229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545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t="13175"/>
          <a:stretch/>
        </p:blipFill>
        <p:spPr>
          <a:xfrm>
            <a:off x="838200" y="4168878"/>
            <a:ext cx="10469436" cy="24979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Modelos com vários atributos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 smtClean="0"/>
              <a:t>Prever a </a:t>
            </a:r>
            <a:r>
              <a:rPr lang="pt-BR" dirty="0"/>
              <a:t>quilometragem por litro de gasolina também pode usar </a:t>
            </a:r>
            <a:r>
              <a:rPr lang="pt-BR" dirty="0" smtClean="0"/>
              <a:t>atributos </a:t>
            </a:r>
            <a:r>
              <a:rPr lang="pt-BR" dirty="0"/>
              <a:t>como:</a:t>
            </a:r>
          </a:p>
          <a:p>
            <a:pPr lvl="1"/>
            <a:r>
              <a:rPr lang="pt-BR" dirty="0"/>
              <a:t>Cilindrada do motor</a:t>
            </a:r>
          </a:p>
          <a:p>
            <a:pPr lvl="1"/>
            <a:r>
              <a:rPr lang="pt-BR" dirty="0"/>
              <a:t>Aceleração</a:t>
            </a:r>
          </a:p>
          <a:p>
            <a:pPr lvl="1"/>
            <a:r>
              <a:rPr lang="pt-BR" dirty="0"/>
              <a:t>Número de cilindros</a:t>
            </a:r>
          </a:p>
          <a:p>
            <a:pPr lvl="1"/>
            <a:r>
              <a:rPr lang="pt-BR" dirty="0"/>
              <a:t>Cavalos de </a:t>
            </a:r>
            <a:r>
              <a:rPr lang="pt-BR" dirty="0" smtClean="0"/>
              <a:t>potência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089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de custo (ou função de perda)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0" y="1569468"/>
            <a:ext cx="10460015" cy="451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400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Função de custo (ou função de perda)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 smtClean="0"/>
              <a:t>O treinamento consiste em ajustar os parâmetros do modelo, visando minimizar a função custo:</a:t>
            </a:r>
          </a:p>
          <a:p>
            <a:pPr lvl="1"/>
            <a:r>
              <a:rPr lang="pt-BR" dirty="0" smtClean="0"/>
              <a:t>Erro médio absoluto</a:t>
            </a:r>
          </a:p>
          <a:p>
            <a:pPr lvl="1"/>
            <a:r>
              <a:rPr lang="pt-BR" dirty="0" smtClean="0"/>
              <a:t>Erro quadrático médio</a:t>
            </a:r>
          </a:p>
          <a:p>
            <a:r>
              <a:rPr lang="pt-BR" dirty="0" smtClean="0"/>
              <a:t>Esse ajuste é feito de maneira iterativa ao longo de vários ciclos de aprendizagem, chamado de </a:t>
            </a:r>
            <a:r>
              <a:rPr lang="pt-BR" b="1" dirty="0" smtClean="0"/>
              <a:t>épocas de treinamento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r>
              <a:rPr lang="pt-BR" dirty="0" smtClean="0">
                <a:hlinkClick r:id="rId2"/>
              </a:rPr>
              <a:t>https</a:t>
            </a:r>
            <a:r>
              <a:rPr lang="pt-BR" dirty="0">
                <a:hlinkClick r:id="rId2"/>
              </a:rPr>
              <a:t>://</a:t>
            </a:r>
            <a:r>
              <a:rPr lang="pt-BR" dirty="0" smtClean="0">
                <a:hlinkClick r:id="rId2"/>
              </a:rPr>
              <a:t>developers.google.com/machine-learning/crash-course/linear-regression/parameters-exercise?hl=pt-br</a:t>
            </a:r>
            <a:r>
              <a:rPr lang="pt-BR" dirty="0" smtClean="0"/>
              <a:t> 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3"/>
              </a:rPr>
              <a:t>https://</a:t>
            </a:r>
            <a:r>
              <a:rPr lang="pt-BR" dirty="0" smtClean="0">
                <a:hlinkClick r:id="rId3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003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Hiperparâmetros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4351338"/>
          </a:xfrm>
        </p:spPr>
        <p:txBody>
          <a:bodyPr>
            <a:normAutofit/>
          </a:bodyPr>
          <a:lstStyle/>
          <a:p>
            <a:r>
              <a:rPr lang="pt-BR" dirty="0" smtClean="0"/>
              <a:t>Os parâmetros do modelo são as variáveis que fazem parte do modelo (e.g. ‘a’ e ‘b’)</a:t>
            </a:r>
          </a:p>
          <a:p>
            <a:r>
              <a:rPr lang="pt-BR" dirty="0" smtClean="0"/>
              <a:t>Já os </a:t>
            </a:r>
            <a:r>
              <a:rPr lang="pt-BR" dirty="0" err="1" smtClean="0"/>
              <a:t>hiperparâmetros</a:t>
            </a:r>
            <a:r>
              <a:rPr lang="pt-BR" dirty="0" smtClean="0"/>
              <a:t> são variáveis que controlam diferentes aspectos do treinamento. Exemplo:</a:t>
            </a:r>
          </a:p>
          <a:p>
            <a:pPr lvl="1"/>
            <a:r>
              <a:rPr lang="pt-BR" dirty="0" smtClean="0"/>
              <a:t>Taxa de aprendizado</a:t>
            </a:r>
          </a:p>
          <a:p>
            <a:pPr lvl="1"/>
            <a:r>
              <a:rPr lang="pt-BR" dirty="0" smtClean="0"/>
              <a:t>Tamanho do lote</a:t>
            </a:r>
          </a:p>
          <a:p>
            <a:pPr lvl="1"/>
            <a:r>
              <a:rPr lang="pt-BR" dirty="0" smtClean="0"/>
              <a:t>Épocas</a:t>
            </a:r>
          </a:p>
        </p:txBody>
      </p:sp>
      <p:sp>
        <p:nvSpPr>
          <p:cNvPr id="5" name="Retângulo 4"/>
          <p:cNvSpPr/>
          <p:nvPr/>
        </p:nvSpPr>
        <p:spPr>
          <a:xfrm>
            <a:off x="6658466" y="624027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developers.google.com/machine-learning/crash-course/linear-regression?hl=pt-br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92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Projeto de aprendizagem de máquina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Obter os dados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Identificar e visualizar os dados para extrair informações úteis.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Preparar os dados para os algoritmos do aprendizado de máquina</a:t>
            </a:r>
            <a:r>
              <a:rPr lang="pt-BR" dirty="0"/>
              <a:t> </a:t>
            </a:r>
            <a:r>
              <a:rPr lang="pt-BR" dirty="0" smtClean="0"/>
              <a:t>(converter tipos e formatos dos dados, dividir conjuntos de treinamento e teste, ....)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Selecionar e treinar um modelo (</a:t>
            </a:r>
            <a:r>
              <a:rPr lang="pt-BR" dirty="0" err="1" smtClean="0"/>
              <a:t>fit</a:t>
            </a:r>
            <a:r>
              <a:rPr lang="pt-BR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Avaliar e Aperfeiçoar o modelo (</a:t>
            </a:r>
            <a:r>
              <a:rPr lang="pt-BR" dirty="0" err="1" smtClean="0"/>
              <a:t>predict</a:t>
            </a:r>
            <a:r>
              <a:rPr lang="pt-BR" dirty="0" smtClean="0"/>
              <a:t>, métricas...)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Disponibilizar em produção e dar manutenção.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7933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Projeto de aprendizagem de máquina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76470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00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Obter os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838199" y="1403002"/>
            <a:ext cx="10709635" cy="53245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tarfile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DOWNLOAD_ROOT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"https://raw.githubusercontent.com/ageron/handson-ml2/master/"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HOUSING_URL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DOWNLOAD_ROOT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/housing.tgz"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fetch_housing_data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housing_url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HOUSING_URL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housing_path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569CD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isdir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makedirs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tgz_path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"housing.tgz"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urlretrieve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housing_url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tgz_path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housing_tgz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smtClean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 smtClean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 smtClean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tarfile</a:t>
            </a:r>
            <a:r>
              <a:rPr lang="pt-BR" sz="2000" dirty="0" err="1" smtClean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 smtClean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pt-BR" sz="2000" dirty="0" smtClean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err="1" smtClean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tgz_path</a:t>
            </a:r>
            <a:r>
              <a:rPr lang="pt-BR" sz="2000" dirty="0" smtClean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2000" dirty="0" err="1" smtClean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housing_tgz</a:t>
            </a:r>
            <a:r>
              <a:rPr lang="pt-BR" sz="2000" dirty="0" err="1" smtClean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 smtClean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extractall</a:t>
            </a:r>
            <a:r>
              <a:rPr lang="pt-BR" sz="2000" dirty="0" smtClean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smtClean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pt-BR" sz="2000" dirty="0" smtClean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pt-BR" sz="2000" dirty="0" err="1" smtClean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housing_path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housing_tgz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BR" sz="20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28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Identificar e visualizar os dados para obter informações </a:t>
            </a:r>
            <a:r>
              <a:rPr lang="pt-BR" dirty="0" smtClean="0"/>
              <a:t>úteis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080547" y="1690688"/>
            <a:ext cx="10030905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pandas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load_housing_data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housing_path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4FC1FF"/>
                </a:solidFill>
                <a:latin typeface="Consolas" panose="020B0609020204030204" pitchFamily="49" charset="0"/>
              </a:rPr>
              <a:t>HOUSING_PATH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csv_path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os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path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join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housing_path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"housing.csv"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read_csv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csv_path</a:t>
            </a:r>
            <a:r>
              <a:rPr lang="en-US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 smtClean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housing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load_housing_data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housing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head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37" y="4278081"/>
            <a:ext cx="10545647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37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Identificar e visualizar os dados para obter informações </a:t>
            </a:r>
            <a:r>
              <a:rPr lang="pt-BR" dirty="0" smtClean="0"/>
              <a:t>úteis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0" y="2300139"/>
            <a:ext cx="5466975" cy="410693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326" y="2389051"/>
            <a:ext cx="5739454" cy="39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2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Identificar e visualizar os dados para obter informações </a:t>
            </a:r>
            <a:r>
              <a:rPr lang="pt-BR" dirty="0" smtClean="0"/>
              <a:t>úteis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104" y="1690688"/>
            <a:ext cx="6887802" cy="509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Preparar os dados para os algoritmos do aprendizado de máquina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6490"/>
          </a:xfrm>
        </p:spPr>
        <p:txBody>
          <a:bodyPr/>
          <a:lstStyle/>
          <a:p>
            <a:r>
              <a:rPr lang="pt-BR" dirty="0" smtClean="0"/>
              <a:t>Criar um conjunto de testes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1602557" y="2648932"/>
            <a:ext cx="9549352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 smtClean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pt-BR" dirty="0" smtClean="0">
              <a:solidFill>
                <a:srgbClr val="4EC9B0"/>
              </a:solidFill>
              <a:latin typeface="Consolas" panose="020B0609020204030204" pitchFamily="49" charset="0"/>
            </a:endParaRPr>
          </a:p>
          <a:p>
            <a:endParaRPr lang="pt-BR" dirty="0">
              <a:solidFill>
                <a:srgbClr val="4EC9B0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random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seed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# For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illustration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only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.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Sklearn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has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6A9955"/>
                </a:solidFill>
                <a:latin typeface="Consolas" panose="020B0609020204030204" pitchFamily="49" charset="0"/>
              </a:rPr>
              <a:t>train_test_split</a:t>
            </a:r>
            <a:r>
              <a:rPr lang="pt-BR" dirty="0">
                <a:solidFill>
                  <a:srgbClr val="6A9955"/>
                </a:solidFill>
                <a:latin typeface="Consolas" panose="020B0609020204030204" pitchFamily="49" charset="0"/>
              </a:rPr>
              <a:t>()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split_train_test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test_ratio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shuffled_indices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random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permutation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test_set_size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test_ratio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test_indices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shuffled_indices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[: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test_set_size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train_indices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shuffled_indices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test_set_size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:]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.iloc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train_indices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data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.iloc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test_indices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train_set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test_set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split_train_test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housing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0.2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t-BR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48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Preparar os dados para os algoritmos do aprendizado de máquina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Limpar os dados (valores faltantes para alguns atributos)</a:t>
            </a:r>
          </a:p>
          <a:p>
            <a:pPr lvl="1"/>
            <a:r>
              <a:rPr lang="pt-BR" dirty="0" smtClean="0"/>
              <a:t>Opção 1: abrir mão da amostra (linha)</a:t>
            </a:r>
          </a:p>
          <a:p>
            <a:pPr lvl="1"/>
            <a:r>
              <a:rPr lang="pt-BR" dirty="0" smtClean="0"/>
              <a:t>Opção 2: abrir mão de todo o atributo</a:t>
            </a:r>
          </a:p>
          <a:p>
            <a:pPr lvl="1"/>
            <a:r>
              <a:rPr lang="pt-BR" dirty="0" smtClean="0"/>
              <a:t>Opção 3: Definir os valores para algum valor (zero, a média, a mediana, etc...)</a:t>
            </a:r>
          </a:p>
          <a:p>
            <a:pPr lvl="1"/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533426" y="3752166"/>
            <a:ext cx="9125147" cy="18895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housing.dropna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subset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=[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total_bedrooms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])    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# option 1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housing.drop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total_bedrooms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9CDCFE"/>
                </a:solidFill>
                <a:latin typeface="Consolas" panose="020B0609020204030204" pitchFamily="49" charset="0"/>
              </a:rPr>
              <a:t>axis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      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# option 2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median = housing[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total_bedrooms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].median()  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# option 3</a:t>
            </a:r>
            <a:endParaRPr lang="en-US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housing[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total_bedrooms</a:t>
            </a:r>
            <a:r>
              <a:rPr lang="en-US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].</a:t>
            </a:r>
            <a:r>
              <a:rPr lang="en-US" sz="2000" dirty="0" err="1">
                <a:solidFill>
                  <a:srgbClr val="D4D4D4"/>
                </a:solidFill>
                <a:latin typeface="Consolas" panose="020B0609020204030204" pitchFamily="49" charset="0"/>
              </a:rPr>
              <a:t>fillna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(median, </a:t>
            </a:r>
            <a:r>
              <a:rPr lang="en-US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inplace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US" sz="20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533425" y="5853797"/>
            <a:ext cx="9125147" cy="7078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</a:rPr>
              <a:t>sklearn</a:t>
            </a:r>
            <a:r>
              <a:rPr lang="pt-BR" sz="2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</a:rPr>
              <a:t>impute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 smtClean="0">
                <a:solidFill>
                  <a:srgbClr val="4EC9B0"/>
                </a:solidFill>
                <a:latin typeface="Consolas" panose="020B0609020204030204" pitchFamily="49" charset="0"/>
              </a:rPr>
              <a:t>SimpleImputer</a:t>
            </a:r>
            <a:r>
              <a:rPr lang="pt-BR" sz="2000" dirty="0" smtClean="0">
                <a:solidFill>
                  <a:srgbClr val="4EC9B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6A9955"/>
                </a:solidFill>
                <a:latin typeface="Consolas" panose="020B0609020204030204" pitchFamily="49" charset="0"/>
              </a:rPr>
              <a:t># option </a:t>
            </a:r>
            <a:r>
              <a:rPr lang="en-US" sz="2000" dirty="0" smtClean="0">
                <a:solidFill>
                  <a:srgbClr val="6A9955"/>
                </a:solidFill>
                <a:latin typeface="Consolas" panose="020B0609020204030204" pitchFamily="49" charset="0"/>
              </a:rPr>
              <a:t>3</a:t>
            </a:r>
            <a:r>
              <a:rPr lang="en-US" sz="2000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(alt)</a:t>
            </a:r>
            <a:endParaRPr lang="pt-BR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imputer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4EC9B0"/>
                </a:solidFill>
                <a:latin typeface="Consolas" panose="020B0609020204030204" pitchFamily="49" charset="0"/>
              </a:rPr>
              <a:t>SimpleImputer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rgbClr val="9CDCFE"/>
                </a:solidFill>
                <a:latin typeface="Consolas" panose="020B0609020204030204" pitchFamily="49" charset="0"/>
              </a:rPr>
              <a:t>strategy</a:t>
            </a:r>
            <a:r>
              <a:rPr lang="pt-BR" sz="2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 err="1">
                <a:solidFill>
                  <a:srgbClr val="CE9178"/>
                </a:solidFill>
                <a:latin typeface="Consolas" panose="020B0609020204030204" pitchFamily="49" charset="0"/>
              </a:rPr>
              <a:t>median</a:t>
            </a:r>
            <a:r>
              <a:rPr lang="pt-BR" sz="20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sz="2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t-B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58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Preparar os dados para os algoritmos do aprendizado de máquina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Amostragem de dados</a:t>
            </a:r>
          </a:p>
          <a:p>
            <a:r>
              <a:rPr lang="pt-BR" dirty="0" smtClean="0"/>
              <a:t>Balanceamento de dados</a:t>
            </a:r>
          </a:p>
          <a:p>
            <a:r>
              <a:rPr lang="pt-BR" dirty="0" smtClean="0"/>
              <a:t>Redução da dimensionalidade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780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Selecionar e treinar um </a:t>
            </a:r>
            <a:r>
              <a:rPr lang="pt-BR" dirty="0" smtClean="0"/>
              <a:t>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Treinar (</a:t>
            </a:r>
            <a:r>
              <a:rPr lang="pt-BR" dirty="0" err="1" smtClean="0"/>
              <a:t>fit</a:t>
            </a:r>
            <a:r>
              <a:rPr lang="pt-BR" dirty="0" smtClean="0"/>
              <a:t>)</a:t>
            </a:r>
          </a:p>
          <a:p>
            <a:pPr lvl="1"/>
            <a:r>
              <a:rPr lang="pt-BR" dirty="0" smtClean="0"/>
              <a:t>Épocas de treinamento: quantidade de ciclos em cada qual o conjunto de dados de treinamento é utilizado para ajustar os parâmetros do modelo</a:t>
            </a:r>
          </a:p>
          <a:p>
            <a:r>
              <a:rPr lang="pt-BR" dirty="0" smtClean="0"/>
              <a:t>Testar (</a:t>
            </a:r>
            <a:r>
              <a:rPr lang="pt-BR" dirty="0" err="1" smtClean="0"/>
              <a:t>predict</a:t>
            </a:r>
            <a:r>
              <a:rPr lang="pt-BR" dirty="0" smtClean="0"/>
              <a:t>)</a:t>
            </a:r>
          </a:p>
          <a:p>
            <a:pPr lvl="1"/>
            <a:r>
              <a:rPr lang="pt-BR" dirty="0" smtClean="0"/>
              <a:t>Avaliar da qualidade do treinamento (taxa de erro, capacidade de generalização), com base no conjunto de testes.</a:t>
            </a:r>
          </a:p>
        </p:txBody>
      </p:sp>
    </p:spTree>
    <p:extLst>
      <p:ext uri="{BB962C8B-B14F-4D97-AF65-F5344CB8AC3E}">
        <p14:creationId xmlns:p14="http://schemas.microsoft.com/office/powerpoint/2010/main" val="317524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Curva de aprendizado (com base no tamanho do conjunto de dados)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14" y="1644779"/>
            <a:ext cx="8167379" cy="521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48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Curva de aprendizado (com base no número de épocas)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598" y="2180254"/>
            <a:ext cx="6707547" cy="446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70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Validação cruzada (Cross </a:t>
            </a:r>
            <a:r>
              <a:rPr lang="pt-BR" dirty="0" err="1" smtClean="0"/>
              <a:t>validation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How-To: Cross Validation with Time Series Data | Towards Data Sci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63" y="1690688"/>
            <a:ext cx="11161337" cy="485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540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Validação cruzada (Cross </a:t>
            </a:r>
            <a:r>
              <a:rPr lang="pt-BR" dirty="0" err="1" smtClean="0"/>
              <a:t>validation</a:t>
            </a:r>
            <a:r>
              <a:rPr lang="pt-BR" dirty="0" smtClean="0"/>
              <a:t>)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700725" y="2052217"/>
            <a:ext cx="10950803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pt-BR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display_scores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"Scores:"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Mean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:"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.mean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"Standard 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deviation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:"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scores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.std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endParaRPr lang="pt-BR" dirty="0" smtClean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pt-BR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lin_scores</a:t>
            </a:r>
            <a:r>
              <a:rPr lang="pt-BR" dirty="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cross_val_score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lin_reg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housing_prepared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housing_labels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        </a:t>
            </a:r>
            <a:r>
              <a:rPr lang="pt-BR" dirty="0" err="1" smtClean="0">
                <a:solidFill>
                  <a:srgbClr val="9CDCFE"/>
                </a:solidFill>
                <a:latin typeface="Consolas" panose="020B0609020204030204" pitchFamily="49" charset="0"/>
              </a:rPr>
              <a:t>scoring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 err="1">
                <a:solidFill>
                  <a:srgbClr val="CE9178"/>
                </a:solidFill>
                <a:latin typeface="Consolas" panose="020B0609020204030204" pitchFamily="49" charset="0"/>
              </a:rPr>
              <a:t>neg_mean_squared_error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cv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lin_rmse_scores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pt-BR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sqrt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lin_scores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 err="1">
                <a:solidFill>
                  <a:srgbClr val="DCDCAA"/>
                </a:solidFill>
                <a:latin typeface="Consolas" panose="020B0609020204030204" pitchFamily="49" charset="0"/>
              </a:rPr>
              <a:t>display_scores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pt-BR" dirty="0" err="1">
                <a:solidFill>
                  <a:srgbClr val="9CDCFE"/>
                </a:solidFill>
                <a:latin typeface="Consolas" panose="020B0609020204030204" pitchFamily="49" charset="0"/>
              </a:rPr>
              <a:t>lin_rmse_scores</a:t>
            </a:r>
            <a:r>
              <a:rPr lang="pt-BR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13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Aperfeiçoar o </a:t>
            </a:r>
            <a:r>
              <a:rPr lang="pt-BR" dirty="0" smtClean="0"/>
              <a:t>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Qual a melhor combinação de </a:t>
            </a:r>
            <a:r>
              <a:rPr lang="pt-BR" dirty="0" err="1" smtClean="0"/>
              <a:t>hiperparâmetros</a:t>
            </a:r>
            <a:r>
              <a:rPr lang="pt-BR" dirty="0" smtClean="0"/>
              <a:t>?</a:t>
            </a:r>
          </a:p>
          <a:p>
            <a:r>
              <a:rPr lang="pt-BR" dirty="0" smtClean="0"/>
              <a:t>Grid </a:t>
            </a:r>
            <a:r>
              <a:rPr lang="pt-BR" dirty="0" err="1" smtClean="0"/>
              <a:t>search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05" y="2818758"/>
            <a:ext cx="8825009" cy="403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8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Aperfeiçoar o </a:t>
            </a:r>
            <a:r>
              <a:rPr lang="pt-BR" dirty="0" smtClean="0"/>
              <a:t>modelo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Melhor combinação de parâmetros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241" y="801544"/>
            <a:ext cx="5468113" cy="204816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1" y="3661747"/>
            <a:ext cx="12028602" cy="251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94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86838258D66E4AB5189C9A3CE00C2C" ma:contentTypeVersion="3" ma:contentTypeDescription="Criar um novo documento." ma:contentTypeScope="" ma:versionID="b53376f63c01403a8d4a9ab3f52aabc1">
  <xsd:schema xmlns:xsd="http://www.w3.org/2001/XMLSchema" xmlns:xs="http://www.w3.org/2001/XMLSchema" xmlns:p="http://schemas.microsoft.com/office/2006/metadata/properties" xmlns:ns2="21bea34f-6356-4af9-948b-dbeabad382ee" targetNamespace="http://schemas.microsoft.com/office/2006/metadata/properties" ma:root="true" ma:fieldsID="373b35961286563bc8d121b1db525053" ns2:_="">
    <xsd:import namespace="21bea34f-6356-4af9-948b-dbeabad382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ea34f-6356-4af9-948b-dbeabad382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DB799D-4B7E-4B86-9746-1DA4777A5E1D}"/>
</file>

<file path=customXml/itemProps2.xml><?xml version="1.0" encoding="utf-8"?>
<ds:datastoreItem xmlns:ds="http://schemas.openxmlformats.org/officeDocument/2006/customXml" ds:itemID="{F410FF1C-6C4B-46C8-B7FA-9EDAA8FA3F89}"/>
</file>

<file path=customXml/itemProps3.xml><?xml version="1.0" encoding="utf-8"?>
<ds:datastoreItem xmlns:ds="http://schemas.openxmlformats.org/officeDocument/2006/customXml" ds:itemID="{FE28299E-9FC1-48FE-A3E7-60C62E6EDAAA}"/>
</file>

<file path=docProps/app.xml><?xml version="1.0" encoding="utf-8"?>
<Properties xmlns="http://schemas.openxmlformats.org/officeDocument/2006/extended-properties" xmlns:vt="http://schemas.openxmlformats.org/officeDocument/2006/docPropsVTypes">
  <TotalTime>5736</TotalTime>
  <Words>794</Words>
  <Application>Microsoft Office PowerPoint</Application>
  <PresentationFormat>Widescreen</PresentationFormat>
  <Paragraphs>136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Times New Roman</vt:lpstr>
      <vt:lpstr>Tema do Office</vt:lpstr>
      <vt:lpstr>APRENDIZAGEM DE MÁQUINA</vt:lpstr>
      <vt:lpstr>PROJETOS DE APRENDIZAGEM DE MÁQUINA</vt:lpstr>
      <vt:lpstr>“Treinamento” de um modelo</vt:lpstr>
      <vt:lpstr>“Treinamento” de um modelo</vt:lpstr>
      <vt:lpstr>Equação linear</vt:lpstr>
      <vt:lpstr>Modelos com vários atributos</vt:lpstr>
      <vt:lpstr>Função de custo (ou função de perda)</vt:lpstr>
      <vt:lpstr>Função de custo (ou função de perda)</vt:lpstr>
      <vt:lpstr>Hiperparâmetros</vt:lpstr>
      <vt:lpstr>Projeto de aprendizagem de máquina</vt:lpstr>
      <vt:lpstr>Projeto de aprendizagem de máquina</vt:lpstr>
      <vt:lpstr>Obter os dados</vt:lpstr>
      <vt:lpstr>Identificar e visualizar os dados para obter informações úteis</vt:lpstr>
      <vt:lpstr>Identificar e visualizar os dados para obter informações úteis</vt:lpstr>
      <vt:lpstr>Identificar e visualizar os dados para obter informações úteis</vt:lpstr>
      <vt:lpstr>Preparar os dados para os algoritmos do aprendizado de máquina</vt:lpstr>
      <vt:lpstr>Preparar os dados para os algoritmos do aprendizado de máquina</vt:lpstr>
      <vt:lpstr>Preparar os dados para os algoritmos do aprendizado de máquina</vt:lpstr>
      <vt:lpstr>Selecionar e treinar um modelo</vt:lpstr>
      <vt:lpstr>Curva de aprendizado (com base no tamanho do conjunto de dados)</vt:lpstr>
      <vt:lpstr>Curva de aprendizado (com base no número de épocas)</vt:lpstr>
      <vt:lpstr>Validação cruzada (Cross validation)</vt:lpstr>
      <vt:lpstr>Validação cruzada (Cross validation)</vt:lpstr>
      <vt:lpstr>Aperfeiçoar o modelo</vt:lpstr>
      <vt:lpstr>Aperfeiçoar o modelo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LEANDRO TOSS HOFFMANN</cp:lastModifiedBy>
  <cp:revision>75</cp:revision>
  <dcterms:created xsi:type="dcterms:W3CDTF">2025-05-19T21:00:10Z</dcterms:created>
  <dcterms:modified xsi:type="dcterms:W3CDTF">2026-03-26T20:01:24Z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0x0101000086838258D66E4AB5189C9A3CE00C2C</vt:lpwstr>
  </property>
</Properties>
</file>