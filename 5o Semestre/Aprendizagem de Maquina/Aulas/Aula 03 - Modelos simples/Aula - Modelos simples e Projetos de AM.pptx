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9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67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07.xml" ContentType="application/vnd.openxmlformats-officedocument.presentationml.slide+xml"/>
  <Override PartName="/ppt/slides/slide106.xml" ContentType="application/vnd.openxmlformats-officedocument.presentationml.slide+xml"/>
  <Override PartName="/ppt/slides/slide105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97.xml" ContentType="application/vnd.openxmlformats-officedocument.presentationml.slide+xml"/>
  <Override PartName="/ppt/slides/slide96.xml" ContentType="application/vnd.openxmlformats-officedocument.presentationml.slide+xml"/>
  <Override PartName="/ppt/slides/slide95.xml" ContentType="application/vnd.openxmlformats-officedocument.presentationml.slide+xml"/>
  <Override PartName="/ppt/slides/slide87.xml" ContentType="application/vnd.openxmlformats-officedocument.presentationml.slide+xml"/>
  <Override PartName="/ppt/slides/slide86.xml" ContentType="application/vnd.openxmlformats-officedocument.presentationml.slide+xml"/>
  <Override PartName="/ppt/slides/slide85.xml" ContentType="application/vnd.openxmlformats-officedocument.presentationml.slide+xml"/>
  <Override PartName="/ppt/slides/slide84.xml" ContentType="application/vnd.openxmlformats-officedocument.presentationml.slide+xml"/>
  <Override PartName="/ppt/slides/slide83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4.xml" ContentType="application/vnd.openxmlformats-officedocument.presentationml.slide+xml"/>
  <Override PartName="/ppt/slides/slide93.xml" ContentType="application/vnd.openxmlformats-officedocument.presentationml.slide+xml"/>
  <Override PartName="/ppt/slides/slide92.xml" ContentType="application/vnd.openxmlformats-officedocument.presentationml.slide+xml"/>
  <Override PartName="/ppt/slides/slide91.xml" ContentType="application/vnd.openxmlformats-officedocument.presentationml.slide+xml"/>
  <Override PartName="/ppt/slides/slide98.xml" ContentType="application/vnd.openxmlformats-officedocument.presentationml.slide+xml"/>
  <Override PartName="/ppt/slides/slide51.xml" ContentType="application/vnd.openxmlformats-officedocument.presentationml.slide+xml"/>
  <Override PartName="/ppt/slides/slide4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5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38.xml" ContentType="application/vnd.openxmlformats-officedocument.presentationml.slide+xml"/>
  <Override PartName="/ppt/slides/slide43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7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03" r:id="rId3"/>
    <p:sldId id="504" r:id="rId4"/>
    <p:sldId id="275" r:id="rId5"/>
    <p:sldId id="272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86" r:id="rId16"/>
    <p:sldId id="411" r:id="rId17"/>
    <p:sldId id="412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424" r:id="rId29"/>
    <p:sldId id="425" r:id="rId30"/>
    <p:sldId id="426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38" r:id="rId42"/>
    <p:sldId id="439" r:id="rId43"/>
    <p:sldId id="440" r:id="rId44"/>
    <p:sldId id="441" r:id="rId45"/>
    <p:sldId id="442" r:id="rId46"/>
    <p:sldId id="443" r:id="rId47"/>
    <p:sldId id="444" r:id="rId48"/>
    <p:sldId id="470" r:id="rId49"/>
    <p:sldId id="445" r:id="rId50"/>
    <p:sldId id="446" r:id="rId51"/>
    <p:sldId id="447" r:id="rId52"/>
    <p:sldId id="448" r:id="rId53"/>
    <p:sldId id="449" r:id="rId54"/>
    <p:sldId id="450" r:id="rId55"/>
    <p:sldId id="451" r:id="rId56"/>
    <p:sldId id="452" r:id="rId57"/>
    <p:sldId id="453" r:id="rId58"/>
    <p:sldId id="454" r:id="rId59"/>
    <p:sldId id="455" r:id="rId60"/>
    <p:sldId id="456" r:id="rId61"/>
    <p:sldId id="457" r:id="rId62"/>
    <p:sldId id="458" r:id="rId63"/>
    <p:sldId id="459" r:id="rId64"/>
    <p:sldId id="460" r:id="rId65"/>
    <p:sldId id="461" r:id="rId66"/>
    <p:sldId id="462" r:id="rId67"/>
    <p:sldId id="463" r:id="rId68"/>
    <p:sldId id="464" r:id="rId69"/>
    <p:sldId id="465" r:id="rId70"/>
    <p:sldId id="466" r:id="rId71"/>
    <p:sldId id="467" r:id="rId72"/>
    <p:sldId id="468" r:id="rId73"/>
    <p:sldId id="469" r:id="rId74"/>
    <p:sldId id="485" r:id="rId75"/>
    <p:sldId id="471" r:id="rId76"/>
    <p:sldId id="472" r:id="rId77"/>
    <p:sldId id="473" r:id="rId78"/>
    <p:sldId id="474" r:id="rId79"/>
    <p:sldId id="475" r:id="rId80"/>
    <p:sldId id="476" r:id="rId81"/>
    <p:sldId id="477" r:id="rId82"/>
    <p:sldId id="478" r:id="rId83"/>
    <p:sldId id="479" r:id="rId84"/>
    <p:sldId id="480" r:id="rId85"/>
    <p:sldId id="481" r:id="rId86"/>
    <p:sldId id="482" r:id="rId87"/>
    <p:sldId id="483" r:id="rId88"/>
    <p:sldId id="484" r:id="rId89"/>
    <p:sldId id="487" r:id="rId90"/>
    <p:sldId id="488" r:id="rId91"/>
    <p:sldId id="489" r:id="rId92"/>
    <p:sldId id="490" r:id="rId93"/>
    <p:sldId id="491" r:id="rId94"/>
    <p:sldId id="325" r:id="rId95"/>
    <p:sldId id="326" r:id="rId96"/>
    <p:sldId id="327" r:id="rId97"/>
    <p:sldId id="397" r:id="rId98"/>
    <p:sldId id="388" r:id="rId99"/>
    <p:sldId id="398" r:id="rId100"/>
    <p:sldId id="492" r:id="rId101"/>
    <p:sldId id="328" r:id="rId102"/>
    <p:sldId id="497" r:id="rId103"/>
    <p:sldId id="498" r:id="rId104"/>
    <p:sldId id="499" r:id="rId105"/>
    <p:sldId id="500" r:id="rId106"/>
    <p:sldId id="496" r:id="rId107"/>
    <p:sldId id="501" r:id="rId108"/>
    <p:sldId id="502" r:id="rId109"/>
    <p:sldId id="493" r:id="rId110"/>
    <p:sldId id="494" r:id="rId111"/>
    <p:sldId id="495" r:id="rId112"/>
    <p:sldId id="393" r:id="rId1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customXml" Target="../customXml/item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19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5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6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3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2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70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8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1AA80-AA48-4AC1-BF1F-5043E12B818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45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ata-explorer.oecd.org/vis?tenant=archive&amp;df%5bds%5d=DisseminateArchiveDMZ&amp;df%5bid%5d=DF_BLI&amp;df%5bag%5d=OECD&amp;dq=...&amp;to%5bTIME%5d=fal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imf.org/en/Publications/SPROLLS/world-economic-outlook-databases#sort=%40imfdate%20descend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urworldindata.org/grapher/life-expectancy-vs-gdp-per-capita?time=202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linear-regression?hl=pt-b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linear-regression?hl=pt-b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I6fqIsUszc&amp;t=3s" TargetMode="Externa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FTOwL3-m4_c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chine-learning/crash-course/linear-regression?hl=pt-br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chine-learning/crash-course/linear-regression?hl=pt-br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chine-learning/crash-course/linear-regression/hyperparameters?hl=pt-br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hyperlink" Target="https://www.google.com/url?q=https://pt.wikipedia.org/wiki/Banco_de_dados_MNIST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t.wikipedia.org/wiki/Raster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overfitting/overfitting?hl=pt-br" TargetMode="Externa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hyperlink" Target="https://developers.google.com/machine-learning/crash-course/overfitting/overfitting?hl=pt-br" TargetMode="Externa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58/lenses" TargetMode="External"/><Relationship Id="rId2" Type="http://schemas.openxmlformats.org/officeDocument/2006/relationships/hyperlink" Target="https://developers.google.com/machine-learning/crash-course/overfitting/interpreting-loss-curves?hl=pt-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APRENDIZAGEM DE MÁQUINA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MAQ-04</a:t>
            </a:r>
          </a:p>
        </p:txBody>
      </p:sp>
    </p:spTree>
    <p:extLst>
      <p:ext uri="{BB962C8B-B14F-4D97-AF65-F5344CB8AC3E}">
        <p14:creationId xmlns:p14="http://schemas.microsoft.com/office/powerpoint/2010/main" val="4288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“Treinamento” de um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Processo de ensinar um sistema computacional a realizar tarefa específicas.</a:t>
            </a:r>
          </a:p>
          <a:p>
            <a:pPr marL="0" indent="0">
              <a:buNone/>
            </a:pPr>
            <a:r>
              <a:rPr lang="pt-BR" dirty="0" smtClean="0"/>
              <a:t>Ajuste de parâmetros internos (pesos) para minimizar erros nas previsões.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885" y="3955914"/>
            <a:ext cx="5071821" cy="222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52" y="1825625"/>
            <a:ext cx="8602275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SIMPLES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5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Regressão Linear</a:t>
            </a:r>
          </a:p>
          <a:p>
            <a:r>
              <a:rPr lang="pt-BR" dirty="0" smtClean="0"/>
              <a:t>Classificador Binário</a:t>
            </a:r>
          </a:p>
          <a:p>
            <a:r>
              <a:rPr lang="pt-BR" dirty="0"/>
              <a:t>Regressão Logística</a:t>
            </a:r>
          </a:p>
          <a:p>
            <a:r>
              <a:rPr lang="pt-BR" dirty="0" smtClean="0"/>
              <a:t>Regressão Polinomial</a:t>
            </a:r>
          </a:p>
          <a:p>
            <a:r>
              <a:rPr lang="pt-BR" dirty="0" smtClean="0"/>
              <a:t>Modelos Lineares Regularizados</a:t>
            </a:r>
          </a:p>
        </p:txBody>
      </p:sp>
    </p:spTree>
    <p:extLst>
      <p:ext uri="{BB962C8B-B14F-4D97-AF65-F5344CB8AC3E}">
        <p14:creationId xmlns:p14="http://schemas.microsoft.com/office/powerpoint/2010/main" val="31364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3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Indicadores de qualidade de vida da OCDE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https://data-explorer.oecd.org/vis?tenant=archive&amp;df[ds]=DisseminateArchiveDMZ&amp;df[id]=DF_BLI&amp;df[ag]=OECD&amp;dq=...&amp;to[TIME]=</a:t>
            </a:r>
            <a:r>
              <a:rPr lang="pt-BR" dirty="0" smtClean="0">
                <a:hlinkClick r:id="rId2"/>
              </a:rPr>
              <a:t>false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77" y="2683322"/>
            <a:ext cx="10317155" cy="417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9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PIB das nações (FMI)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3950616" cy="4368151"/>
          </a:xfrm>
        </p:spPr>
        <p:txBody>
          <a:bodyPr/>
          <a:lstStyle/>
          <a:p>
            <a:r>
              <a:rPr lang="pt-BR" dirty="0">
                <a:hlinkClick r:id="rId2"/>
              </a:rPr>
              <a:t>https://www.imf.org/en/Publications/SPROLLS/world-economic-outlook-databases#sort=%</a:t>
            </a:r>
            <a:r>
              <a:rPr lang="pt-BR" dirty="0" smtClean="0">
                <a:hlinkClick r:id="rId2"/>
              </a:rPr>
              <a:t>40imfdate%20descending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315" y="1367973"/>
            <a:ext cx="6649825" cy="482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0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PIB x Expectativa de vida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7750" y="6341063"/>
            <a:ext cx="12293338" cy="3708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>
                <a:hlinkClick r:id="rId2"/>
              </a:rPr>
              <a:t>https://ourworldindata.org/grapher/life-expectancy-vs-gdp-per-capita?time=2022</a:t>
            </a:r>
            <a:r>
              <a:rPr lang="pt-BR" dirty="0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18" y="1417311"/>
            <a:ext cx="7387515" cy="45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4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Life expectancy vs. GDP per capita, 1934 - Google Chrome 2025-05-26 13-52-33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4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1024" y="-230360"/>
            <a:ext cx="9700180" cy="7274472"/>
          </a:xfrm>
        </p:spPr>
      </p:pic>
    </p:spTree>
    <p:extLst>
      <p:ext uri="{BB962C8B-B14F-4D97-AF65-F5344CB8AC3E}">
        <p14:creationId xmlns:p14="http://schemas.microsoft.com/office/powerpoint/2010/main" val="31852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PIB x Expectativa de vida</a:t>
            </a:r>
            <a:endParaRPr lang="pt-BR" dirty="0"/>
          </a:p>
        </p:txBody>
      </p:sp>
      <p:pic>
        <p:nvPicPr>
          <p:cNvPr id="16386" name="Picture 2" descr="Scatterplot of life expectancy and log GDP per capita | Download Scientific 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533" y="1545122"/>
            <a:ext cx="7244466" cy="519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33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“Treinamento” de um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35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O contexto do exercício de regressão linear (e.g. expectativa de vida em função do PIB per capita de um país):</a:t>
            </a:r>
          </a:p>
          <a:p>
            <a:r>
              <a:rPr lang="pt-BR" dirty="0"/>
              <a:t>A regressão linear é uma técnica estatística usada para encontrar a relação entre variáveis. Em um contexto de ML, a regressão linear encontra a relação entre </a:t>
            </a:r>
            <a:r>
              <a:rPr lang="pt-BR" b="1" dirty="0"/>
              <a:t>atributos</a:t>
            </a:r>
            <a:r>
              <a:rPr lang="pt-BR" dirty="0"/>
              <a:t> e um </a:t>
            </a:r>
            <a:r>
              <a:rPr lang="pt-BR" b="1" dirty="0"/>
              <a:t>rótulo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838200" y="4433559"/>
            <a:ext cx="10972800" cy="19645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>
                <a:solidFill>
                  <a:srgbClr val="C00000"/>
                </a:solidFill>
              </a:rPr>
              <a:t>CONCEITOS-CHAVE:</a:t>
            </a:r>
          </a:p>
          <a:p>
            <a:pPr>
              <a:lnSpc>
                <a:spcPct val="150000"/>
              </a:lnSpc>
            </a:pPr>
            <a:r>
              <a:rPr lang="pt-BR" sz="2800" b="1" dirty="0"/>
              <a:t>Atributo</a:t>
            </a:r>
            <a:r>
              <a:rPr lang="pt-BR" sz="2800" dirty="0"/>
              <a:t>: é a variável de entrada para o modelo (e.g. PIB/</a:t>
            </a:r>
            <a:r>
              <a:rPr lang="pt-BR" sz="2800" dirty="0" err="1"/>
              <a:t>pax</a:t>
            </a:r>
            <a:r>
              <a:rPr lang="pt-BR" sz="28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800" b="1" dirty="0"/>
              <a:t>Rótulo</a:t>
            </a:r>
            <a:r>
              <a:rPr lang="pt-BR" sz="2800" dirty="0"/>
              <a:t>: é a “resposta” ou “resultado” do modelo (e.g. expectativa de vida)</a:t>
            </a:r>
          </a:p>
        </p:txBody>
      </p:sp>
    </p:spTree>
    <p:extLst>
      <p:ext uri="{BB962C8B-B14F-4D97-AF65-F5344CB8AC3E}">
        <p14:creationId xmlns:p14="http://schemas.microsoft.com/office/powerpoint/2010/main" val="220769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Equação linear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termos algébricos, o modelo seria definido </a:t>
            </a:r>
            <a:r>
              <a:rPr lang="pt-BR" dirty="0" smtClean="0"/>
              <a:t>como: </a:t>
            </a:r>
            <a:r>
              <a:rPr lang="pt-BR" i="1" dirty="0" smtClean="0"/>
              <a:t>y = b + </a:t>
            </a:r>
            <a:r>
              <a:rPr lang="pt-BR" i="1" dirty="0" err="1" smtClean="0"/>
              <a:t>ax</a:t>
            </a:r>
            <a:r>
              <a:rPr lang="pt-BR" dirty="0" smtClean="0"/>
              <a:t>, </a:t>
            </a:r>
            <a:r>
              <a:rPr lang="pt-BR" dirty="0"/>
              <a:t>em </a:t>
            </a:r>
            <a:r>
              <a:rPr lang="pt-BR" dirty="0" smtClean="0"/>
              <a:t>que:</a:t>
            </a:r>
          </a:p>
          <a:p>
            <a:pPr lvl="1"/>
            <a:r>
              <a:rPr lang="pt-BR" i="1" dirty="0" smtClean="0"/>
              <a:t>x</a:t>
            </a:r>
            <a:r>
              <a:rPr lang="pt-BR" dirty="0" smtClean="0"/>
              <a:t> é o </a:t>
            </a:r>
            <a:r>
              <a:rPr lang="pt-BR" b="1" dirty="0" smtClean="0"/>
              <a:t>atributo</a:t>
            </a:r>
            <a:r>
              <a:rPr lang="pt-BR" dirty="0" smtClean="0"/>
              <a:t> de entrada (e.g. PIB/</a:t>
            </a:r>
            <a:r>
              <a:rPr lang="pt-BR" dirty="0" err="1" smtClean="0"/>
              <a:t>pax</a:t>
            </a:r>
            <a:r>
              <a:rPr lang="pt-BR" dirty="0" smtClean="0"/>
              <a:t>)</a:t>
            </a:r>
            <a:endParaRPr lang="pt-BR" i="1" dirty="0" smtClean="0"/>
          </a:p>
          <a:p>
            <a:pPr lvl="1"/>
            <a:r>
              <a:rPr lang="pt-BR" i="1" dirty="0" smtClean="0"/>
              <a:t>y </a:t>
            </a:r>
            <a:r>
              <a:rPr lang="pt-BR" dirty="0" smtClean="0"/>
              <a:t>é o </a:t>
            </a:r>
            <a:r>
              <a:rPr lang="pt-BR" b="1" dirty="0" smtClean="0"/>
              <a:t>rótulo</a:t>
            </a:r>
            <a:r>
              <a:rPr lang="pt-BR" dirty="0" smtClean="0"/>
              <a:t>, i.e., o valor que queremos prever (e.g. expectativa de vida)</a:t>
            </a:r>
          </a:p>
          <a:p>
            <a:pPr lvl="1"/>
            <a:r>
              <a:rPr lang="pt-BR" dirty="0" smtClean="0"/>
              <a:t>A equação tem dois parâmetros que precisam ser ajustados (</a:t>
            </a:r>
            <a:r>
              <a:rPr lang="pt-BR" i="1" dirty="0" err="1" smtClean="0"/>
              <a:t>fit</a:t>
            </a:r>
            <a:r>
              <a:rPr lang="pt-BR" dirty="0" smtClean="0"/>
              <a:t>):</a:t>
            </a:r>
          </a:p>
          <a:p>
            <a:pPr lvl="2"/>
            <a:r>
              <a:rPr lang="pt-BR" i="1" dirty="0" smtClean="0"/>
              <a:t>b </a:t>
            </a:r>
            <a:r>
              <a:rPr lang="pt-BR" dirty="0" smtClean="0"/>
              <a:t>é o coeficiente linear da reta e neste caso chamado de viés </a:t>
            </a:r>
            <a:r>
              <a:rPr lang="pt-BR" i="1" dirty="0" smtClean="0"/>
              <a:t>(bias).</a:t>
            </a:r>
          </a:p>
          <a:p>
            <a:pPr lvl="2"/>
            <a:r>
              <a:rPr lang="pt-BR" i="1" dirty="0" smtClean="0"/>
              <a:t>a </a:t>
            </a:r>
            <a:r>
              <a:rPr lang="pt-BR" dirty="0" smtClean="0"/>
              <a:t>é o coeficiente angular e neste caso o peso do atributo.</a:t>
            </a:r>
            <a:endParaRPr lang="pt-BR" i="1" dirty="0"/>
          </a:p>
        </p:txBody>
      </p:sp>
      <p:pic>
        <p:nvPicPr>
          <p:cNvPr id="1026" name="Picture 2" descr="Figura 3. A equação y&amp;#39; = b + w1x1, com cada componente anotado com a finalidade dele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535" y="4694547"/>
            <a:ext cx="3612562" cy="20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658466" y="61222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611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de custo (ou função de perda)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https://developers.google.com/machine-learning/crash-course/linear-regression/parameters-exercise?hl=pt-br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1569468"/>
            <a:ext cx="10460015" cy="451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8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t="13175"/>
          <a:stretch/>
        </p:blipFill>
        <p:spPr>
          <a:xfrm>
            <a:off x="838200" y="4168878"/>
            <a:ext cx="10469436" cy="24979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com vários atributos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Prever a </a:t>
            </a:r>
            <a:r>
              <a:rPr lang="pt-BR" dirty="0"/>
              <a:t>quilometragem por litro de gasolina também pode usar </a:t>
            </a:r>
            <a:r>
              <a:rPr lang="pt-BR" dirty="0" smtClean="0"/>
              <a:t>atributos </a:t>
            </a:r>
            <a:r>
              <a:rPr lang="pt-BR" dirty="0"/>
              <a:t>como:</a:t>
            </a:r>
          </a:p>
          <a:p>
            <a:pPr lvl="1"/>
            <a:r>
              <a:rPr lang="pt-BR" dirty="0"/>
              <a:t>Cilindrada do motor</a:t>
            </a:r>
          </a:p>
          <a:p>
            <a:pPr lvl="1"/>
            <a:r>
              <a:rPr lang="pt-BR" dirty="0"/>
              <a:t>Aceleração</a:t>
            </a:r>
          </a:p>
          <a:p>
            <a:pPr lvl="1"/>
            <a:r>
              <a:rPr lang="pt-BR" dirty="0"/>
              <a:t>Número de cilindros</a:t>
            </a:r>
          </a:p>
          <a:p>
            <a:pPr lvl="1"/>
            <a:r>
              <a:rPr lang="pt-BR" dirty="0"/>
              <a:t>Cavalos de </a:t>
            </a:r>
            <a:r>
              <a:rPr lang="pt-BR" dirty="0" smtClean="0"/>
              <a:t>potência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312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96" y="1605248"/>
            <a:ext cx="7136090" cy="514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3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y = b + </a:t>
            </a:r>
            <a:r>
              <a:rPr lang="pt-BR" dirty="0" err="1" smtClean="0"/>
              <a:t>ax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23" y="1906380"/>
            <a:ext cx="6312773" cy="48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8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Técnicas para encontrar os parâmetros da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Algébrica a partir de dois pontos</a:t>
            </a:r>
          </a:p>
          <a:p>
            <a:r>
              <a:rPr lang="pt-BR" dirty="0" smtClean="0"/>
              <a:t>Forma fechada</a:t>
            </a:r>
          </a:p>
          <a:p>
            <a:r>
              <a:rPr lang="pt-BR" dirty="0" smtClean="0"/>
              <a:t>Mínimos quadrados</a:t>
            </a:r>
          </a:p>
          <a:p>
            <a:r>
              <a:rPr lang="pt-BR" dirty="0" smtClean="0"/>
              <a:t>Gradiente Descendente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336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P1(2, 1)</a:t>
            </a:r>
          </a:p>
          <a:p>
            <a:pPr marL="0" indent="0">
              <a:buNone/>
            </a:pPr>
            <a:r>
              <a:rPr lang="pt-BR" dirty="0" smtClean="0"/>
              <a:t>P2(10, 5)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Qual são os valores de </a:t>
            </a:r>
            <a:r>
              <a:rPr lang="pt-BR" b="1" i="1" dirty="0" smtClean="0"/>
              <a:t>a</a:t>
            </a:r>
            <a:r>
              <a:rPr lang="pt-BR" dirty="0" smtClean="0"/>
              <a:t> e </a:t>
            </a:r>
            <a:r>
              <a:rPr lang="pt-BR" b="1" i="1" dirty="0" smtClean="0"/>
              <a:t>b</a:t>
            </a:r>
            <a:r>
              <a:rPr lang="pt-BR" dirty="0" smtClean="0"/>
              <a:t> na</a:t>
            </a:r>
          </a:p>
          <a:p>
            <a:pPr marL="0" indent="0">
              <a:buNone/>
            </a:pPr>
            <a:r>
              <a:rPr lang="pt-BR" dirty="0" smtClean="0"/>
              <a:t>equação y = b + </a:t>
            </a:r>
            <a:r>
              <a:rPr lang="pt-BR" dirty="0" err="1" smtClean="0"/>
              <a:t>a.x</a:t>
            </a:r>
            <a:r>
              <a:rPr lang="pt-BR" dirty="0" smtClean="0"/>
              <a:t>?</a:t>
            </a:r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23" y="1906380"/>
            <a:ext cx="6312773" cy="4809731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6004874" y="5788058"/>
            <a:ext cx="301658" cy="2733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11033288" y="2037762"/>
            <a:ext cx="301658" cy="2733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5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P1(2, 1)</a:t>
            </a:r>
          </a:p>
          <a:p>
            <a:pPr marL="0" indent="0">
              <a:buNone/>
            </a:pPr>
            <a:r>
              <a:rPr lang="pt-BR" dirty="0" smtClean="0"/>
              <a:t>P2(10, 5)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Qual são os valores de </a:t>
            </a:r>
            <a:r>
              <a:rPr lang="pt-BR" b="1" i="1" dirty="0" smtClean="0"/>
              <a:t>a</a:t>
            </a:r>
            <a:r>
              <a:rPr lang="pt-BR" dirty="0" smtClean="0"/>
              <a:t> e </a:t>
            </a:r>
            <a:r>
              <a:rPr lang="pt-BR" b="1" i="1" dirty="0" smtClean="0"/>
              <a:t>b</a:t>
            </a:r>
            <a:r>
              <a:rPr lang="pt-BR" dirty="0" smtClean="0"/>
              <a:t> na</a:t>
            </a:r>
          </a:p>
          <a:p>
            <a:pPr marL="0" indent="0">
              <a:buNone/>
            </a:pPr>
            <a:r>
              <a:rPr lang="pt-BR" dirty="0" smtClean="0"/>
              <a:t>equação y = b + </a:t>
            </a:r>
            <a:r>
              <a:rPr lang="pt-BR" dirty="0" err="1" smtClean="0"/>
              <a:t>a.x</a:t>
            </a:r>
            <a:r>
              <a:rPr lang="pt-BR" dirty="0" smtClean="0"/>
              <a:t>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1 = b + a.2</a:t>
            </a:r>
          </a:p>
          <a:p>
            <a:pPr marL="0" indent="0">
              <a:buNone/>
            </a:pPr>
            <a:endParaRPr lang="pt-BR" sz="1200" dirty="0" smtClean="0"/>
          </a:p>
          <a:p>
            <a:pPr marL="0" indent="0">
              <a:buNone/>
            </a:pPr>
            <a:r>
              <a:rPr lang="pt-BR" dirty="0" smtClean="0"/>
              <a:t>5 = b + a.10</a:t>
            </a:r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23" y="1906380"/>
            <a:ext cx="6312773" cy="4809731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6004874" y="5788058"/>
            <a:ext cx="301658" cy="2733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11033288" y="2037762"/>
            <a:ext cx="301658" cy="2733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have Esquerda 8"/>
          <p:cNvSpPr/>
          <p:nvPr/>
        </p:nvSpPr>
        <p:spPr>
          <a:xfrm>
            <a:off x="555429" y="4838357"/>
            <a:ext cx="292231" cy="133860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19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a = (y2 – y1) / (x2-x1)</a:t>
            </a:r>
          </a:p>
          <a:p>
            <a:pPr marL="0" indent="0">
              <a:buNone/>
            </a:pPr>
            <a:r>
              <a:rPr lang="pt-BR" dirty="0" smtClean="0"/>
              <a:t>a = 4 / 8 = 0,5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b = 1 – 0,5*2 = 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 smtClean="0"/>
              <a:t>y = 0 + 0,5 * x</a:t>
            </a:r>
            <a:endParaRPr lang="pt-BR" b="1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23" y="1906380"/>
            <a:ext cx="6312773" cy="48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7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x = [2, 4, 6, 8, 10]</a:t>
            </a:r>
          </a:p>
          <a:p>
            <a:pPr marL="0" indent="0">
              <a:buNone/>
            </a:pPr>
            <a:r>
              <a:rPr lang="es-ES" dirty="0"/>
              <a:t>y = [1, 2.3, 2.7, 3.8, 5</a:t>
            </a:r>
            <a:r>
              <a:rPr lang="es-ES" dirty="0" smtClean="0"/>
              <a:t>]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r>
              <a:rPr lang="es-ES" dirty="0" err="1" smtClean="0"/>
              <a:t>Não</a:t>
            </a:r>
            <a:r>
              <a:rPr lang="es-ES" dirty="0" smtClean="0"/>
              <a:t> existe </a:t>
            </a:r>
            <a:r>
              <a:rPr lang="es-ES" dirty="0" err="1" smtClean="0"/>
              <a:t>uma</a:t>
            </a:r>
            <a:r>
              <a:rPr lang="es-ES" dirty="0" smtClean="0"/>
              <a:t> reta que</a:t>
            </a:r>
          </a:p>
          <a:p>
            <a:pPr marL="0" indent="0">
              <a:buNone/>
            </a:pPr>
            <a:r>
              <a:rPr lang="es-ES" dirty="0" err="1" smtClean="0"/>
              <a:t>passe</a:t>
            </a:r>
            <a:r>
              <a:rPr lang="es-ES" dirty="0" smtClean="0"/>
              <a:t> por todos os pontos.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 smtClean="0"/>
              <a:t>Qual</a:t>
            </a:r>
            <a:r>
              <a:rPr lang="es-ES" dirty="0" smtClean="0"/>
              <a:t> é a </a:t>
            </a:r>
            <a:r>
              <a:rPr lang="es-ES" dirty="0" err="1" smtClean="0"/>
              <a:t>melhor</a:t>
            </a:r>
            <a:r>
              <a:rPr lang="es-ES" dirty="0" smtClean="0"/>
              <a:t> reta</a:t>
            </a:r>
          </a:p>
          <a:p>
            <a:pPr marL="0" indent="0">
              <a:buNone/>
            </a:pPr>
            <a:r>
              <a:rPr lang="es-ES" dirty="0" err="1" smtClean="0"/>
              <a:t>possível</a:t>
            </a:r>
            <a:r>
              <a:rPr lang="es-ES" dirty="0" smtClean="0"/>
              <a:t>?</a:t>
            </a:r>
            <a:endParaRPr lang="es-ES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45" y="1371381"/>
            <a:ext cx="7362332" cy="560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7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 da qualidade do meu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52247"/>
            <a:ext cx="10515600" cy="235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É necessário definir uma métrica para avaliar a qualidade das possíveis equações lineares que interpolam o meu conjunto de dados.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593102" y="2944123"/>
            <a:ext cx="11353800" cy="34163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CONCEITOS-CHAVE:</a:t>
            </a:r>
          </a:p>
          <a:p>
            <a:pPr>
              <a:lnSpc>
                <a:spcPct val="150000"/>
              </a:lnSpc>
            </a:pPr>
            <a:r>
              <a:rPr lang="pt-BR" sz="2400" b="1" dirty="0" smtClean="0"/>
              <a:t>Função custo </a:t>
            </a:r>
            <a:r>
              <a:rPr lang="pt-BR" sz="2400" dirty="0" smtClean="0"/>
              <a:t>(ou</a:t>
            </a:r>
            <a:r>
              <a:rPr lang="pt-BR" sz="2400" b="1" dirty="0" smtClean="0"/>
              <a:t> função de perda </a:t>
            </a:r>
            <a:r>
              <a:rPr lang="pt-BR" sz="2400" dirty="0" smtClean="0"/>
              <a:t>- </a:t>
            </a:r>
            <a:r>
              <a:rPr lang="pt-BR" sz="2400" i="1" dirty="0" err="1" smtClean="0"/>
              <a:t>loss</a:t>
            </a:r>
            <a:r>
              <a:rPr lang="pt-BR" sz="2400" i="1" dirty="0" smtClean="0"/>
              <a:t> </a:t>
            </a:r>
            <a:r>
              <a:rPr lang="pt-BR" sz="2400" i="1" dirty="0" err="1" smtClean="0"/>
              <a:t>function</a:t>
            </a:r>
            <a:r>
              <a:rPr lang="pt-BR" sz="2400" dirty="0" smtClean="0"/>
              <a:t>): mede o erro entre o valor que o computador previu e o valor real.</a:t>
            </a: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 smtClean="0"/>
              <a:t>Idealmente seria zero, mas geralmente não é possível.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O objetivo de um algoritmo de ajuste do modelo é </a:t>
            </a:r>
            <a:r>
              <a:rPr lang="pt-BR" sz="2400" b="1" dirty="0" smtClean="0"/>
              <a:t>minimizar a função custo</a:t>
            </a:r>
            <a:r>
              <a:rPr lang="pt-BR" sz="2400" dirty="0" smtClean="0"/>
              <a:t>, ou seja, encontrar os parâmetros de um modelo de maneira que o erro seja o menor possível.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9721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Medidas de desempenho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Erro </a:t>
            </a:r>
            <a:r>
              <a:rPr lang="es-ES" dirty="0" err="1" smtClean="0"/>
              <a:t>Quadrático</a:t>
            </a:r>
            <a:r>
              <a:rPr lang="es-ES" dirty="0" smtClean="0"/>
              <a:t> </a:t>
            </a:r>
            <a:r>
              <a:rPr lang="es-ES" dirty="0" err="1" smtClean="0"/>
              <a:t>Médio</a:t>
            </a:r>
            <a:r>
              <a:rPr lang="es-ES" dirty="0" smtClean="0"/>
              <a:t> (MSE)</a:t>
            </a:r>
            <a:endParaRPr lang="es-ES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2" descr="A Practical Guide to Root Mean Square Error (RMSE) | Coralogix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338" name="Picture 2" descr="Aprendizagem da máquina: uma introdução ao erro quadrático médio e linhas  de regress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079" y="3049972"/>
            <a:ext cx="4275022" cy="117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80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Medidas de desempenho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Raíz do Erro </a:t>
            </a:r>
            <a:r>
              <a:rPr lang="es-ES" dirty="0" err="1" smtClean="0"/>
              <a:t>Quadrático</a:t>
            </a:r>
            <a:r>
              <a:rPr lang="es-ES" dirty="0" smtClean="0"/>
              <a:t> </a:t>
            </a:r>
            <a:r>
              <a:rPr lang="es-ES" dirty="0" err="1" smtClean="0"/>
              <a:t>Médio</a:t>
            </a:r>
            <a:r>
              <a:rPr lang="es-ES" dirty="0" smtClean="0"/>
              <a:t> (RMSE)</a:t>
            </a:r>
            <a:endParaRPr lang="es-ES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2" descr="A Practical Guide to Root Mean Square Error (RMSE) | Coralogix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417" y="2670078"/>
            <a:ext cx="4684760" cy="193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Medidas de desempenho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Raíz do Erro </a:t>
            </a:r>
            <a:r>
              <a:rPr lang="es-ES" dirty="0" err="1" smtClean="0"/>
              <a:t>Quadrático</a:t>
            </a:r>
            <a:r>
              <a:rPr lang="es-ES" dirty="0" smtClean="0"/>
              <a:t> </a:t>
            </a:r>
            <a:r>
              <a:rPr lang="es-ES" dirty="0" err="1" smtClean="0"/>
              <a:t>Médio</a:t>
            </a:r>
            <a:r>
              <a:rPr lang="es-ES" dirty="0" smtClean="0"/>
              <a:t> (RMSE)</a:t>
            </a:r>
            <a:endParaRPr lang="es-ES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2" descr="A Practical Guide to Root Mean Square Error (RMSE) | Coralogix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/>
          </p:nvPr>
        </p:nvGraphicFramePr>
        <p:xfrm>
          <a:off x="612775" y="2643073"/>
          <a:ext cx="4788816" cy="3458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6272">
                  <a:extLst>
                    <a:ext uri="{9D8B030D-6E8A-4147-A177-3AD203B41FA5}">
                      <a16:colId xmlns:a16="http://schemas.microsoft.com/office/drawing/2014/main" val="2061866493"/>
                    </a:ext>
                  </a:extLst>
                </a:gridCol>
                <a:gridCol w="1596272">
                  <a:extLst>
                    <a:ext uri="{9D8B030D-6E8A-4147-A177-3AD203B41FA5}">
                      <a16:colId xmlns:a16="http://schemas.microsoft.com/office/drawing/2014/main" val="2129913485"/>
                    </a:ext>
                  </a:extLst>
                </a:gridCol>
                <a:gridCol w="1596272">
                  <a:extLst>
                    <a:ext uri="{9D8B030D-6E8A-4147-A177-3AD203B41FA5}">
                      <a16:colId xmlns:a16="http://schemas.microsoft.com/office/drawing/2014/main" val="781392433"/>
                    </a:ext>
                  </a:extLst>
                </a:gridCol>
              </a:tblGrid>
              <a:tr h="3442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 dirty="0">
                          <a:effectLst/>
                        </a:rPr>
                        <a:t>y1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 dirty="0">
                          <a:effectLst/>
                        </a:rPr>
                        <a:t>y2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 dirty="0">
                          <a:effectLst/>
                        </a:rPr>
                        <a:t>(y2-y1)^2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219293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0,00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0999301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2,3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0,09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78993978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2,7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0,09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24798255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3,8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4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0,04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83196449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5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5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0,00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03784848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algn="l" fontAlgn="b"/>
                      <a:r>
                        <a:rPr lang="pt-BR" sz="3200" u="none" strike="noStrike">
                          <a:effectLst/>
                        </a:rPr>
                        <a:t> 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RMSE=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0,47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55003178"/>
                  </a:ext>
                </a:extLst>
              </a:tr>
            </a:tbl>
          </a:graphicData>
        </a:graphic>
      </p:graphicFrame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385" y="2480263"/>
            <a:ext cx="5358346" cy="408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7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Medidas de desempenho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Raíz do Erro </a:t>
            </a:r>
            <a:r>
              <a:rPr lang="es-ES" dirty="0" err="1" smtClean="0"/>
              <a:t>Quadrático</a:t>
            </a:r>
            <a:r>
              <a:rPr lang="es-ES" dirty="0" smtClean="0"/>
              <a:t> </a:t>
            </a:r>
            <a:r>
              <a:rPr lang="es-ES" dirty="0" err="1" smtClean="0"/>
              <a:t>Médio</a:t>
            </a:r>
            <a:r>
              <a:rPr lang="es-ES" dirty="0" smtClean="0"/>
              <a:t> (RMSE)</a:t>
            </a:r>
            <a:endParaRPr lang="es-ES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2" descr="A Practical Guide to Root Mean Square Error (RMSE) | Coralogix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3073"/>
            <a:ext cx="5696889" cy="4340486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7718923" y="169068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y = </a:t>
            </a:r>
            <a:r>
              <a:rPr lang="es-ES" dirty="0" smtClean="0"/>
              <a:t>0,1 + 0,45 * X	</a:t>
            </a:r>
            <a:endParaRPr lang="es-ES" dirty="0"/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/>
          </p:nvPr>
        </p:nvGraphicFramePr>
        <p:xfrm>
          <a:off x="612775" y="2577083"/>
          <a:ext cx="5211420" cy="3458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140">
                  <a:extLst>
                    <a:ext uri="{9D8B030D-6E8A-4147-A177-3AD203B41FA5}">
                      <a16:colId xmlns:a16="http://schemas.microsoft.com/office/drawing/2014/main" val="2027614625"/>
                    </a:ext>
                  </a:extLst>
                </a:gridCol>
                <a:gridCol w="1737140">
                  <a:extLst>
                    <a:ext uri="{9D8B030D-6E8A-4147-A177-3AD203B41FA5}">
                      <a16:colId xmlns:a16="http://schemas.microsoft.com/office/drawing/2014/main" val="962550321"/>
                    </a:ext>
                  </a:extLst>
                </a:gridCol>
                <a:gridCol w="1737140">
                  <a:extLst>
                    <a:ext uri="{9D8B030D-6E8A-4147-A177-3AD203B41FA5}">
                      <a16:colId xmlns:a16="http://schemas.microsoft.com/office/drawing/2014/main" val="4257628514"/>
                    </a:ext>
                  </a:extLst>
                </a:gridCol>
              </a:tblGrid>
              <a:tr h="349629"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>
                          <a:effectLst/>
                        </a:rPr>
                        <a:t>y1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>
                          <a:effectLst/>
                        </a:rPr>
                        <a:t>y2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 dirty="0">
                          <a:effectLst/>
                        </a:rPr>
                        <a:t>(y2-y1)^2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0156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1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0,00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78270896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2,3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1,9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0,16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6101590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2,7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2,8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9875812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3,8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3,7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38689325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5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4,6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0,16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6587935"/>
                  </a:ext>
                </a:extLst>
              </a:tr>
              <a:tr h="349629">
                <a:tc>
                  <a:txBody>
                    <a:bodyPr/>
                    <a:lstStyle/>
                    <a:p>
                      <a:pPr algn="l" fontAlgn="b"/>
                      <a:r>
                        <a:rPr lang="pt-BR" sz="3200" u="none" strike="noStrike">
                          <a:effectLst/>
                        </a:rPr>
                        <a:t> 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RMSE=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0,58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094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70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Linear = Medidas de desempenho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Erro </a:t>
            </a:r>
            <a:r>
              <a:rPr lang="es-ES" dirty="0" err="1" smtClean="0"/>
              <a:t>Médio</a:t>
            </a:r>
            <a:r>
              <a:rPr lang="es-ES" dirty="0" smtClean="0"/>
              <a:t> Absoluto (MAE)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pPr marL="0" indent="0">
              <a:buNone/>
            </a:pPr>
            <a:r>
              <a:rPr lang="es-ES" sz="2000" dirty="0" smtClean="0"/>
              <a:t>* </a:t>
            </a:r>
            <a:r>
              <a:rPr lang="es-ES" sz="2000" dirty="0" err="1" smtClean="0"/>
              <a:t>preferível</a:t>
            </a:r>
            <a:r>
              <a:rPr lang="es-ES" sz="2000" dirty="0" smtClean="0"/>
              <a:t>, caso </a:t>
            </a:r>
            <a:r>
              <a:rPr lang="es-ES" sz="2000" dirty="0" err="1" smtClean="0"/>
              <a:t>haja</a:t>
            </a:r>
            <a:r>
              <a:rPr lang="es-ES" sz="2000" dirty="0" smtClean="0"/>
              <a:t> </a:t>
            </a:r>
            <a:r>
              <a:rPr lang="es-ES" sz="2000" dirty="0" err="1" smtClean="0"/>
              <a:t>muitos</a:t>
            </a:r>
            <a:r>
              <a:rPr lang="es-ES" sz="2000" dirty="0" smtClean="0"/>
              <a:t> </a:t>
            </a:r>
            <a:r>
              <a:rPr lang="es-ES" sz="2000" i="1" dirty="0" err="1" smtClean="0"/>
              <a:t>outliers</a:t>
            </a:r>
            <a:r>
              <a:rPr lang="es-ES" sz="2000" dirty="0" smtClean="0"/>
              <a:t> no conjunto de dados.</a:t>
            </a:r>
            <a:endParaRPr lang="es-ES" sz="2000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png;base64,iVBORw0KGgoAAAANSUhEUgAAAjcAAAGwCAYAAABVdURTAAAAOnRFWHRTb2Z0d2FyZQBNYXRwbG90bGliIHZlcnNpb24zLjEwLjAsIGh0dHBzOi8vbWF0cGxvdGxpYi5vcmcvlHJYcgAAAAlwSFlzAAAPYQAAD2EBqD+naQAAK9xJREFUeJzt3X9UVPed//HXiMMgyvgjRgcUWBON+AsVzQ9Mt5oqGnWt7J7DZtEWGzXn7C6e1bg1rWnTQIxikxhj18RozFHXXWKieyS7rkYnpsB6wASM9KDdWE2tuApY9ygjUsdZmO8f+YZK+aHEGe7Mx+fjnDlm7nzuZ96vCSe+cmcAm9/v9wsAAMAQ3aweAAAAIJAoNwAAwCiUGwAAYBTKDQAAMArlBgAAGIVyAwAAjEK5AQAARulu9QBdrampSRcvXlRMTIxsNpvV4wAAgDvg9/t17do1xcXFqVu3jq/N3HPl5uLFi4qPj7d6DAAA8A2cP39egwcP7nDNPVduYmJiJH314jidzoDu7fP5dOjQIU2fPl12uz2ge4cC0/NJ5mckX/gzPSP5wl+wMno8HsXHxzf/Pd6Re67cfP1WlNPpDEq5iY6OltPpNPKL1vR8kvkZyRf+TM9IvvAX7Ix38pESPlAMAACMQrkBAABGodwAAACjUG4AAIBRKDcAAMAolBsAAGAUyg0AADAK5QYAABiFcgMAAIxCuQEAAEaxtNzk5OTIZrO1uCUlJXV4zu7du5WUlKSoqCiNGTNG+/fv76JpAQDAbVVXa/h770nV1ZaNYPmVm1GjRqm6urr5duTIkXbXlpSUKDMzU4sWLdLx48eVnp6u9PR0nThxogsnBgAA7aqpUdL770s1NZaNYHm56d69u1wuV/Otf//+7a7dsGGDnnzySa1YsUIjRozQqlWrlJKSoo0bN3bhxAAAIJRZ/lvBT58+rbi4OEVFRSk1NVV5eXlKSEhoc21paamWL1/e4tiMGTNUUFDQ7v5er1der7f5vsfjkfTVby31+Xx3H+AWX+8X6H1Dhen5JPMzki/8mZ6RfGGqurr5Sk1TeXnzn80pXS4pNvaunqIzr5nN7/f77+rZ7sKBAwdUX1+v4cOHq7q6Wrm5ubpw4YJOnDihmJiYVusjIyO1Y8cOZWZmNh976623lJubq9ra2jafIycnR7m5ua2O5+fnKzo6OnBhAAC4Rw1/772v3opqxxdPPaVTt/zd/U00NDRo3rx5qqurk9Pp7HCtpeXmT129elWJiYl6/fXXtWjRolaPf5Ny09aVm/j4eF2+fPm2L05n+Xw+ud1upaWlyW63B3TvUGB6Psn8jOQLf6ZnJF+Y+pMrN47sbHnffFPdJk786vEAXLnxeDzq37//HZUby9+WulWfPn300EMP6cyZM20+7nK5WpWY2tpauVyudvd0OBxyOBytjtvt9qB9YQVz71Bgej7J/IzkC3+mZyRfmElI+OomNb8V1W3iRNkfeSRgT9GZ18vyDxTfqr6+Xl9++aVi22l3qampOnz4cItjbrdbqampXTEeAAAIA5aWmx/+8IcqKirS7373O5WUlOgv//IvFRER0fy2U1ZWllauXNm8funSpfroo4+0bt06ffHFF8rJyVF5ebmWLFliVQQAAHArl0tfPPXUV29FWcTSt6X+53/+R5mZmfrf//1f3X///frWt76lo0eP6v7775ckVVVVqVu3P/avSZMmKT8/Xz/96U/1/PPPa9iwYSooKNDo0aOtigAAAG4VG6tTmZl68C4/Y3M3LC03u3bt6vDxwsLCVscyMjKUkZERpIkAAEC4C6nP3AAAANwtyg0AADAK5QYAABiFcgMAAIxCuQEAAEah3AAAAKNQbgAAgFEoNwAAwCiUGwAAYBTKDQAAMArlBgAAGIVyAwAAjEK5AQAARqHcAAAAo1BuAACAUSg3AADAKJQbAABgFMoNAAAwCuUGAAAYhXIDAACMQrkBAABGodwAAACjUG4AAIBRKDcAAMAolBsAAGAUyg0AADAK5QYAABiFcgMAAIxCuQEAAEah3AAAAKNQbgAAgFFCptysXbtWNptNy5Yta3fN9u3bZbPZWtyioqK6bkgAABDyuls9gCSVlZVp8+bNSk5Ovu1ap9OpU6dONd+32WzBHA0AAIQZy6/c1NfXa/78+XrnnXfUt2/f26632WxyuVzNt4EDB3bBlAAAIFxYfuUmOztbs2fP1rRp0/Tyyy/fdn19fb0SExPV1NSklJQUrVmzRqNGjWp3vdfrldfrbb7v8XgkST6fTz6f7+4D3OLr/QK9b6gwPZ9kfkbyhT/TM5Iv/AUrY2f2s/n9fn9An70Tdu3apdWrV6usrExRUVGaMmWKxo0bpzfeeKPN9aWlpTp9+rSSk5NVV1en1157TcXFxTp58qQGDx7c5jk5OTnKzc1tdTw/P1/R0dGBjAMAAIKkoaFB8+bNU11dnZxOZ4drLSs358+f18SJE+V2u5s/a3O7cvOnfD6fRowYoczMTK1atarNNW1duYmPj9fly5dv++J0ls/nk9vtVlpamux2e0D3DgWm55PMz0i+8Gd6RvKFv2Bl9Hg86t+//x2VG8veljp27JguXbqklJSU5mONjY0qLi7Wxo0b5fV6FRER0eEedrtd48eP15kzZ9pd43A45HA42jw3WF9Ywdw7FJieTzI/I/nCn+kZyRf+Ap2xM3tZVm6mTp2qysrKFseefvppJSUl6Uc/+tFti430VRmqrKzUrFmzgjUmAAAIM5aVm5iYGI0ePbrFsZ49e+q+++5rPp6VlaVBgwYpLy9PkvTSSy/pscce09ChQ3X16lW9+uqrOnfunBYvXtzl8wMAgNBk+XdLdaSqqkrduv3xu9WvXLmiZ555RjU1Nerbt68mTJigkpISjRw50sIpAQBAKAmpclNYWNjh/fXr12v9+vVdNxAAAAg7lv8QPwAAgECi3AAAAKNQbgAAgFEoNwAAwCiUGwAAYBTKDQAAMArlBgAAGIVyAwAAjEK5AQAARqHcAAAAo1BuAACAUSg3AADAKJQbAABgFMoNAAAwCuUGAAAYhXIDAACMQrkBAABGodwAAACjUG4AAIBRKDcAAMAolBsAAGAUyg0AADAK5QYAABiFcgMAAIxCuQEAAEah3AAAAKNQbgAAgFEoNwAAwCiUGwAAYBTKDQAAMArlBgAAGCVkys3atWtls9m0bNmyDtft3r1bSUlJioqK0pgxY7R///6uGRAAAISFkCg3ZWVl2rx5s5KTkztcV1JSoszMTC1atEjHjx9Xenq60tPTdeLEiS6aFAAAhDrLy019fb3mz5+vd955R3379u1w7YYNG/Tkk09qxYoVGjFihFatWqWUlBRt3Lixi6YFAAChrrvVA2RnZ2v27NmaNm2aXn755Q7XlpaWavny5S2OzZgxQwUFBe2e4/V65fV6m+97PB5Jks/nk8/n++aDt+Hr/QK9b6gwPZ9kfkbyhT/TM5Iv/AUrY2f2s7Tc7Nq1S59//rnKysruaH1NTY0GDhzY4tjAgQNVU1PT7jl5eXnKzc1tdfzQoUOKjo7u3MB3yO12B2XfUGF6Psn8jOQLf6ZnJF/4C3TGhoaGO15rWbk5f/68li5dKrfbraioqKA9z8qVK1tc7fF4PIqPj9f06dPldDoD+lw+n09ut1tpaWmy2+0B3TsUmJ5PMj8j+cKf6RnJF/6ClfHrd17uhGXl5tixY7p06ZJSUlKajzU2Nqq4uFgbN26U1+tVREREi3NcLpdqa2tbHKutrZXL5Wr3eRwOhxwOR6vjdrs9aF9Ywdw7FJieTzI/I/nCn+kZyRf+Ap2xM3tZ9oHiqVOnqrKyUhUVFc23iRMnav78+aqoqGhVbCQpNTVVhw8fbnHM7XYrNTW1q8YGAAAhzrIrNzExMRo9enSLYz179tR9993XfDwrK0uDBg1SXl6eJGnp0qWaPHmy1q1bp9mzZ2vXrl0qLy/Xli1bunx+AAAQmiz/VvCOVFVVqbq6uvn+pEmTlJ+fry1btmjs2LHas2ePCgoKWpUkAABw77L8W8FvVVhY2OF9ScrIyFBGRkbXDAQAAMJOSF+5AQAA6CzKDQAAMArlBgAAGIVyAwAAjEK5AQAARqHcAAAAo1BuAACAUSg3AADAKJQbAABgFMoNAAAwCuUGAAAYhXIDAACMQrkBAABGodwAAACjUG4AAIBRKDcAAMAolBsAAGAUyg0AADAK5QYAABiFcgMAAIxCuQEAAEah3AAAAKNQbgAAgFEoNwAAwCiUGwAAYBTKDQAAMArlBgAAGIVyAwAAjEK5AQAARqHcAAAAo1BuAACAUSwtN5s2bVJycrKcTqecTqdSU1N14MCBdtdv375dNputxS0qKqoLJwYAAKGuu5VPPnjwYK1du1bDhg2T3+/Xjh07NHfuXB0/flyjRo1q8xyn06lTp04137fZbF01LgAACAOWlps5c+a0uL969Wpt2rRJR48ebbfc2Gw2uVyurhgPAACEIUvLza0aGxu1e/duXb9+Xampqe2uq6+vV2JiopqampSSkqI1a9a0W4Qkyev1yuv1Nt/3eDySJJ/PJ5/PF7gA/3/PW/80jen5JPMzki/8mZ6RfOEvWBk7s5/N7/f7A/rsnVRZWanU1FTduHFDvXr1Un5+vmbNmtXm2tLSUp0+fVrJycmqq6vTa6+9puLiYp08eVKDBw9u85ycnBzl5ua2Op6fn6/o6OiAZgEAAMHR0NCgefPmqa6uTk6ns8O1lpebmzdvqqqqSnV1ddqzZ4+2bt2qoqIijRw58rbn+nw+jRgxQpmZmVq1alWba9q6chMfH6/Lly/f9sXpLJ/PJ7fbrbS0NNnt9oDuHQpMzyeZn5F84c/0jOQLf8HK6PF41L9//zsqN5a/LRUZGamhQ4dKkiZMmKCysjJt2LBBmzdvvu25drtd48eP15kzZ9pd43A45HA42jw3WF9Ywdw7FJieTzI/I/nCn+kZyRf+Ap2xM3uF3M+5aWpqanGlpSONjY2qrKxUbGxskKcCAADhwtIrNytXrtTMmTOVkJCga9euKT8/X4WFhTp48KAkKSsrS4MGDVJeXp4k6aWXXtJjjz2moUOH6urVq3r11Vd17tw5LV682MoYAAAghFhabi5duqSsrCxVV1erd+/eSk5O1sGDB5WWliZJqqqqUrduf7y4dOXKFT3zzDOqqalR3759NWHCBJWUlNzR53MAAMC9wdJy8+6773b4eGFhYYv769ev1/r164M4EQAACHch95kbAACAu0G5AQAARqHcAAAAo1BuAACAUSg3AADAKJQbAABgFMoNAAAwCuUGAAAYhXIDAACMQrkBAABGodwAAACjUG4AAIBRKDcAAMAolBsAAGAUyg0AADAK5QYAABiFcgMAAIxCuQEAAEah3AAAAKNQbgAAgFEoNwAAwCiUGwAAYBTKDQAAMArlBgAAGIVyAwAAjEK5AQAARqHcAAAAo1BuAACAUSg3AADAKJQbAABgFMoNAAAwiqXlZtOmTUpOTpbT6ZTT6VRqaqoOHDjQ4Tm7d+9WUlKSoqKiNGbMGO3fv7+LpgUAAOHA0nIzePBgrV27VseOHVN5ebm+853vaO7cuTp58mSb60tKSpSZmalFixbp+PHjSk9PV3p6uk6cONHFkwMAgFDV6XKzYMECFRcXB+TJ58yZo1mzZmnYsGF66KGHtHr1avXq1UtHjx5tc/2GDRv05JNPasWKFRoxYoRWrVqllJQUbdy4MSDzAACA8Ne9syfU1dVp2rRpSkxM1NNPP60FCxZo0KBBdz1IY2Ojdu/erevXrys1NbXNNaWlpVq+fHmLYzNmzFBBQUG7+3q9Xnm93ub7Ho9HkuTz+eTz+e567lt9vV+g9w0VpueTzM9IvvBnekbyhb9gZezMfja/3+/v7BP8/ve/186dO7Vjxw79+te/1rRp07Ro0SLNnTtXdru9U3tVVlYqNTVVN27cUK9evZSfn69Zs2a1uTYyMlI7duxQZmZm87G33npLubm5qq2tbfOcnJwc5ebmtjqen5+v6OjoTs0KAACs0dDQoHnz5qmurk5Op7PDtd+o3Nzq888/17Zt27R161b16tVL3/ve9/T3f//3GjZs2B2df/PmTVVVVamurk579uzR1q1bVVRUpJEjR7Za+03KTVtXbuLj43X58uXbvjid5fP55Ha7lZaW1umSFw5MzyeZn5F84c/0jOQLf8HK6PF41L9//zsqN51+W+pW1dXVcrvdcrvdioiI0KxZs1RZWamRI0fqlVde0bPPPnvbPSIjIzV06FBJ0oQJE1RWVqYNGzZo8+bNrda6XK5WJaa2tlYul6vd/R0OhxwOR6vjdrs9aF9Ywdw7FJieTzI/I/nCn+kZyRf+Ap2xM3t1+gPFPp9P//Zv/6a/+Iu/UGJionbv3q1ly5bp4sWL2rFjhz7++GN98MEHeumllzq7tSSpqampxZWWW6Wmpurw4cMtjrnd7nY/owMAAO49nb5yExsbq6amJmVmZuqzzz7TuHHjWq154okn1KdPn9vutXLlSs2cOVMJCQm6du2a8vPzVVhYqIMHD0qSsrKyNGjQIOXl5UmSli5dqsmTJ2vdunWaPXu2du3apfLycm3ZsqWzMQAAgKE6XW7Wr1+vjIwMRUVFtbumT58+Onv27G33unTpkrKyslRdXa3evXsrOTlZBw8eVFpamiSpqqpK3br98eLSpEmTlJ+fr5/+9Kd6/vnnNWzYMBUUFGj06NGdjQEAAAzV6XLz/e9/P2BP/u6773b4eGFhYatjGRkZysjICNgMAADALPxuKQAAYBTKDQAAMArlBgAAGIVyAwAAjEK5AQAARqHcAAAAo1BuAACAUSg3AADAKJQbAABgFMoNAAAwCuUGAAAYhXIDAACMQrkBAABGodwAAACjUG4AAIBRKDcAAMAolBsAAGAUyg0AADAK5QYAABiFcgMAAIxCuQEAAEah3AAAAKNQbgAAgFEoNwAAwCiUGwAAYBTKDQAAMArlBgAAGIVyAwAAjEK5AQAARqHcAAAAo1BuAACAUSwtN3l5eXr44YcVExOjAQMGKD09XadOnerwnO3bt8tms7W4RUVFddHEAAAg1FlaboqKipSdna2jR4/K7XbL5/Np+vTpun79eofnOZ1OVVdXN9/OnTvXRRMDAIBQ193KJ//oo49a3N++fbsGDBigY8eO6dvf/na759lsNrlcrmCPBwAAwpCl5eZP1dXVSZL69evX4br6+nolJiaqqalJKSkpWrNmjUaNGtXmWq/XK6/X23zf4/FIknw+n3w+X4AmV/Oet/5pGtPzSeZnJF/4Mz0j+cJfsDJ2Zj+b3+/3B/TZv6GmpiZ997vf1dWrV3XkyJF215WWlur06dNKTk5WXV2dXnvtNRUXF+vkyZMaPHhwq/U5OTnKzc1tdTw/P1/R0dEBzQAAAIKjoaFB8+bNU11dnZxOZ4drQ6bc/N3f/Z0OHDigI0eOtFlS2uPz+TRixAhlZmZq1apVrR5v68pNfHy8Ll++fNsXp7N8Pp/cbrfS0tJkt9sDuncoMD2fZH5G8oU/0zOSL/wFK6PH41H//v3vqNyExNtSS5Ys0b59+1RcXNypYiNJdrtd48eP15kzZ9p83OFwyOFwtHlesL6wgrl3KDA9n2R+RvKFP9Mzki/8BTpjZ/ay9Lul/H6/lixZor179+qTTz7RkCFDOr1HY2OjKisrFRsbG4QJAQBAuLH0yk12drby8/P14YcfKiYmRjU1NZKk3r17q0ePHpKkrKwsDRo0SHl5eZKkl156SY899piGDh2qq1ev6tVXX9W5c+e0ePFiy3IAAIDQYWm52bRpkyRpypQpLY5v27ZNP/jBDyRJVVVV6tbtjxeYrly5omeeeUY1NTXq27evJkyYoJKSEo0cObKrxgYAACHM0nJzJ59lLiwsbHF//fr1Wr9+fZAmAgAA4Y7fLQUAAIxCuQEAAEah3AAAAKNQbgAAgFEoNwAAwCiUGwAAYBTKDQAAMArlBgAAGIVyAwAAjEK5AQAARqHcAAAAo1BuAACAUSg3AADAKJQbAABgFMoNAAAwCuUGAAAYhXIDAACMQrkBAABGodwAAACjUG4AAIBRKDcAAMAolBsAAGAUyg0AADAK5QYAABiFcgMAAIxCuQEAAEah3AAAAKNQbgAAgFEoNwAAwCiUGwAAYBTKDQAAMIql5SYvL08PP/ywYmJiNGDAAKWnp+vUqVO3PW/37t1KSkpSVFSUxowZo/3793fBtAAAIBxYWm6KioqUnZ2to0ePyu12y+fzafr06bp+/Xq755SUlCgzM1OLFi3S8ePHlZ6ervT0dJ04caILJwcAAKGqu5VP/tFHH7W4v337dg0YMEDHjh3Tt7/97TbP2bBhg5588kmtWLFCkrRq1Sq53W5t3LhRb7/9dtBnBgAAoc3ScvOn6urqJEn9+vVrd01paamWL1/e4tiMGTNUUFDQ5nqv1yuv19t83+PxSJJ8Pp98Pt9dTtzS1/sFet9QYXo+yfyM5At/pmckX/gLVsbO7Gfz+/3+gD77N9TU1KTvfve7unr1qo4cOdLuusjISO3YsUOZmZnNx9566y3l5uaqtra21fqcnBzl5ua2Op6fn6/o6OjADA8AAIKqoaFB8+bNU11dnZxOZ4drQ+bKTXZ2tk6cONFhsfkmVq5c2eJKj8fjUXx8vKZPn37bF6ezfD6f3G630tLSZLfbA7p3KDA9n2R+RvKFP9Mzki/8BSvj1++83ImQKDdLlizRvn37VFxcrMGDB3e41uVytbpCU1tbK5fL1eZ6h8Mhh8PR6rjdbg/aF1Yw9w4FpueTzM9IvvBnekbyhb9AZ+zMXpZ+t5Tf79eSJUu0d+9effLJJxoyZMhtz0lNTdXhw4dbHHO73UpNTQ3WmAAAIIxYeuUmOztb+fn5+vDDDxUTE6OamhpJUu/evdWjRw9JUlZWlgYNGqS8vDxJ0tKlSzV58mStW7dOs2fP1q5du1ReXq4tW7ZYlgMAAIQOS6/cbNq0SXV1dZoyZYpiY2Obb++//37zmqqqKlVXVzffnzRpkvLz87VlyxaNHTtWe/bsUUFBgUaPHm1FBAAAEGIsvXJzJ9+oVVhY2OpYRkaGMjIygjARAAAId/xuKQAAYBTKDQAAMArlBgAAGIVyAwAAjEK5AQAARqHcAAAAo1BuAACAUSg3AADAKJQbAABgFMoNAAAwCuUGAAAYhXIDAACMQrkBAABGodwAAACjUG4AAIBRKDcAAMAolBsAAGAUyg0AADAK5QYAABiFcgMAAIxCuQEAAEah3AAAAKNQbgAAgFEoNwAAwCiUGwAAYBTKDQAAMArlBgAAGIVyAwAAjEK5AQAARqHcAAAAo1BuAACAUSwtN8XFxZozZ47i4uJks9lUUFDQ4frCwkLZbLZWt5qamq4ZGAAAhDxLy83169c1duxYvfnmm50679SpU6qurm6+DRgwIEgTAgCAcNPdyiefOXOmZs6c2enzBgwYoD59+gR+IAAAEPYsLTff1Lhx4+T1ejV69Gjl5OTo8ccfb3et1+uV1+ttvu/xeCRJPp9PPp8voHN9vV+g9w0VpueTzM9IvvBnekbyhb9gZezMfja/3+8P6LN/QzabTXv37lV6enq7a06dOqXCwkJNnDhRXq9XW7du1c6dO/Xpp58qJSWlzXNycnKUm5vb6nh+fr6io6MDNT4AAAiihoYGzZs3T3V1dXI6nR2uDaty05bJkycrISFBO3fubPPxtq7cxMfH6/Lly7d9cTrL5/PJ7XYrLS1Ndrs9oHuHAtPzSeZnJF/4Mz0j+cJfsDJ6PB7179//jspNWL4tdatHHnlER44cafdxh8Mhh8PR6rjdbg/aF1Yw9w4FpueTzM9IvvBnekbyhb9AZ+zMXmH/c24qKioUGxtr9RgAACBEWHrlpr6+XmfOnGm+f/bsWVVUVKhfv35KSEjQypUrdeHCBf3zP/+zJOmNN97QkCFDNGrUKN24cUNbt27VJ598okOHDlkVAQAAhBhLy015ebmeeOKJ5vvLly+XJC1YsEDbt29XdXW1qqqqmh+/efOm/vEf/1EXLlxQdHS0kpOT9fHHH7fYAwAA3NssLTdTpkxRR59n3r59e4v7zz33nJ577rkgTwUAAMJZ2H/mBgAA4FaUGwAAYBTKDQAAMArlBgAAGIVyAwAAjEK5AQAARqHcAAAAo1BuAACAUSg3AADAKJQbAABgFMoNAAAwCuUGAAAYhXIDAACMQrkBAABGodwAAACjUG4AAIBRKDcAAMAolBsAAGAUyg0AADAK5QYAABiFcgMAAIxCuQEAAEah3AAAAKNQbgAAgFEoNwAAwCiUGwAAYBTKDQAAMArlBgAAGIVyAwAAjEK5AQAARqHcAAAAo1haboqLizVnzhzFxcXJZrOpoKDgtucUFhYqJSVFDodDQ4cO1fbt24M+5x2rrtbw996TqqutngQAgHuWpeXm+vXrGjt2rN588807Wn/27FnNnj1bTzzxhCoqKrRs2TItXrxYBw8eDPKkd6imRknvvy/V1Fg9CQAA96zuVj75zJkzNXPmzDte//bbb2vIkCFat26dJGnEiBE6cuSI1q9frxkzZgRrTAAAEEYsLTedVVpaqmnTprU4NmPGDC1btqzdc7xer7xeb/N9j8cjSfL5fPL5fHc/VHV185WapvLy5j+bd3a5pNjYu3+eEPD16xWQ1y1EmZ6RfOHP9IzkC3/BytiZ/cKq3NTU1GjgwIEtjg0cOFAej0d/+MMf1KNHj1bn5OXlKTc3t9XxQ4cOKTo6+q5nGv7ee1+9FXULR3Z28z9/8dRTOpWZedfPE0rcbrfVIwSd6RnJF/5Mz0i+8BfojA0NDXe8NqzKzTexcuVKLV++vPm+x+NRfHy8pk+fLqfTefdPMH68fP9//6bycjmys+V98011mzhRkvSgy6UHDbpy43a7lZaWJrvdbvU4QWF6RvKFP9Mzki/8BSvj1++83ImwKjcul0u1tbUtjtXW1srpdLZ51UaSHA6HHA5Hq+N2uz0wL3pCwlc3qfmtqG4TJ8r+yCN3v3eICthrF8JMz0i+8Gd6RvKFv0Bn7MxeYfVzblJTU3X48OEWx9xut1JTUy2aCAAAhBpLy019fb0qKipUUVEh6atv9a6oqFBVVZWkr95SysrKal7/t3/7t/rtb3+r5557Tl988YXeeustffDBB3r22WetGL81l0tfPPXUVx8iBgAAlrC03JSXl2v8+PEaP368JGn58uUaP368fvazn0mSqqurm4uOJA0ZMkT/+Z//KbfbrbFjx2rdunXaunVr6HwbeGzsVx8eNuQzNgAAhCNLP3MzZcoU+f3+dh9v66cPT5kyRcePHw/iVAAAIJyF1WduAAAAbodyAwAAjEK5AQAARqHcAAAAo1BuAACAUSg3AADAKJQbAABgFMoNAAAwCuUGAAAYJax+K3ggfP0TkTvzq9PvlM/nU0NDgzwej5G/7dX0fJL5GckX/kzPSL7wF6yMX/+93dFvNvjaPVdurl27JkmKj4+3eBIAANBZ165dU+/evTtcY/PfSQUySFNTky5evKiYmBjZbLaA7u3xeBQfH6/z58/L6XQGdO9QYHo+yfyM5At/pmckX/gLVka/369r164pLi5O3bp1/Kmae+7KTbdu3TR48OCgPofT6TT2i1YyP59kfkbyhT/TM5Iv/AUj4+2u2HyNDxQDAACjUG4AAIBRKDcB5HA49OKLL8rhcFg9SlCYnk8yPyP5wp/pGckX/kIh4z33gWIAAGA2rtwAAACjUG4AAIBRKDcAAMAolBsAAGAUys1dysvL08MPP6yYmBgNGDBA6enpOnXqlNVjBdSmTZuUnJzc/AOZUlNTdeDAAavHCpq1a9fKZrNp2bJlVo8SMDk5ObLZbC1uSUlJVo8VUBcuXND3vvc93XffferRo4fGjBmj8vJyq8cKiD/7sz9r9e/PZrMpOzvb6tECprGxUS+88IKGDBmiHj166MEHH9SqVavu6PcIhYtr165p2bJlSkxMVI8ePTRp0iSVlZVZPdY3UlxcrDlz5iguLk42m00FBQUtHvf7/frZz36m2NhY9ejRQ9OmTdPp06e7bD7KzV0qKipSdna2jh49KrfbLZ/Pp+nTp+v69etWjxYwgwcP1tq1a3Xs2DGVl5frO9/5jubOnauTJ09aPVrAlZWVafPmzUpOTrZ6lIAbNWqUqqurm29HjhyxeqSAuXLlih5//HHZ7XYdOHBAv/71r7Vu3Tr17dvX6tECoqysrMW/O7fbLUnKyMiweLLA+fnPf65NmzZp48aN+u///m/9/Oc/1yuvvKJ/+qd/snq0gFm8eLHcbrd27typyspKTZ8+XdOmTdOFCxesHq3Trl+/rrFjx+rNN99s8/FXXnlFv/jFL/T222/r008/Vc+ePTVjxgzduHGjawb0I6AuXbrkl+QvKiqyepSg6tu3r3/r1q1WjxFQ165d8w8bNszvdrv9kydP9i9dutTqkQLmxRdf9I8dO9bqMYLmRz/6kf9b3/qW1WN0maVLl/offPBBf1NTk9WjBMzs2bP9CxcubHHsr/7qr/zz58+3aKLAamho8EdERPj37dvX4nhKSor/Jz/5iUVTBYYk/969e5vvNzU1+V0ul//VV19tPnb16lW/w+Hwv/fee10yE1duAqyurk6S1K9fP4snCY7Gxkbt2rVL169fV2pqqtXjBFR2drZmz56tadOmWT1KUJw+fVpxcXF64IEHNH/+fFVVVVk9UsD8+7//uyZOnKiMjAwNGDBA48eP1zvvvGP1WEFx8+ZN/cu//IsWLlwY8F/+a6VJkybp8OHD+s1vfiNJ+tWvfqUjR45o5syZFk8WGP/3f/+nxsZGRUVFtTjeo0cPo66iStLZs2dVU1PT4r+lvXv31qOPPqrS0tIumeGe+8WZwdTU1KRly5bp8ccf1+jRo60eJ6AqKyuVmpqqGzduqFevXtq7d69Gjhxp9VgBs2vXLn3++edh+/737Tz66KPavn27hg8frurqauXm5urP//zPdeLECcXExFg93l377W9/q02bNmn58uV6/vnnVVZWpn/4h39QZGSkFixYYPV4AVVQUKCrV6/qBz/4gdWjBNSPf/xjeTweJSUlKSIiQo2NjVq9erXmz59v9WgBERMTo9TUVK1atUojRozQwIED9d5776m0tFRDhw61eryAqqmpkSQNHDiwxfGBAwc2PxZslJsAys7O1okTJ4xr4ZI0fPhwVVRUqK6uTnv27NGCBQtUVFRkRME5f/68li5dKrfb3er/qkxx6//9Jicn69FHH1ViYqI++OADLVq0yMLJAqOpqUkTJ07UmjVrJEnjx4/XiRMn9PbbbxtXbt59913NnDlTcXFxVo8SUB988IH+9V//Vfn5+Ro1apQqKiq0bNkyxcXFGfPvcOfOnVq4cKEGDRqkiIgIpaSkKDMzU8eOHbN6NOPwtlSALFmyRPv27dMvf/lLDR482OpxAi4yMlJDhw7VhAkTlJeXp7Fjx2rDhg1WjxUQx44d06VLl5SSkqLu3bure/fuKioq0i9+8Qt1795djY2NVo8YcH369NFDDz2kM2fOWD1KQMTGxrYq2iNGjDDqrTdJOnfunD7++GMtXrzY6lECbsWKFfrxj3+sv/mbv9GYMWP0/e9/X88++6zy8vKsHi1gHnzwQRUVFam+vl7nz5/XZ599Jp/PpwceeMDq0QLK5XJJkmpra1scr62tbX4s2Cg3d8nv92vJkiXau3evPvnkEw0ZMsTqkbpEU1OTvF6v1WMExNSpU1VZWamKiorm28SJEzV//nxVVFQoIiLC6hEDrr6+Xl9++aViY2OtHiUgHn/88VY/guE3v/mNEhMTLZooOLZt26YBAwZo9uzZVo8ScA0NDerWreVfSREREWpqarJoouDp2bOnYmNjdeXKFR08eFBz5861eqSAGjJkiFwulw4fPtx8zOPx6NNPP+2yz2ryttRdys7OVn5+vj788EPFxMQ0v5/Yu3dv9ejRw+LpAmPlypWaOXOmEhISdO3aNeXn56uwsFAHDx60erSAiImJafUZqZ49e+q+++4z5rNTP/zhDzVnzhwlJibq4sWLevHFFxUREaHMzEyrRwuIZ599VpMmTdKaNWv013/91/rss8+0ZcsWbdmyxerRAqapqUnbtm3TggUL1L27ef/pnjNnjlavXq2EhASNGjVKx48f1+uvv66FCxdaPVrAHDx4UH6/X8OHD9eZM2e0YsUKJSUl6emnn7Z6tE6rr69vceX37NmzqqioUL9+/ZSQkKBly5bp5Zdf1rBhwzRkyBC98MILiouLU3p6etcM2CXfk2UwSW3etm3bZvVoAbNw4UJ/YmKiPzIy0n///ff7p06d6j906JDVYwWVad8K/tRTT/ljY2P9kZGR/kGDBvmfeuop/5kzZ6weK6D+4z/+wz969Gi/w+HwJyUl+bds2WL1SAF18OBBvyT/qVOnrB4lKDwej3/p0qX+hIQEf1RUlP+BBx7w/+QnP/F7vV6rRwuY999/3//AAw/4IyMj/S6Xy5+dne2/evWq1WN9I7/85S/b/LtvwYIFfr//q28Hf+GFF/wDBw70OxwO/9SpU7v0a9fm9xv04x8BAMA9j8/cAAAAo1BuAACAUSg3AADAKJQbAABgFMoNAAAwCuUGAAAYhXIDAACMQrkBAABGodwAAACjUG4AAIBRKDcAAMAolBsAYe/3v/+9XC6X1qxZ03yspKREkZGROnz4sIWTAbACvzgTgBH279+v9PR0lZSUaPjw4Ro3bpzmzp2r119/3erRAHQxyg0AY2RnZ+vjjz/WxIkTVVlZqbKyMjkcDqvHAtDFKDcAjPGHP/xBo0eP1vnz53Xs2DGNGTPG6pEAWIDP3AAwxpdffqmLFy+qqalJv/vd76weB4BFuHIDwAg3b97UI488onHjxmn48OF64403VFlZqQEDBlg9GoAuRrkBYIQVK1Zoz549+tWvfqVevXpp8uTJ6t27t/bt22f1aAC6GG9LAQh7hYWFeuONN7Rz5045nU5169ZNO3fu1H/9139p06ZNVo8HoItx5QYAABiFKzcAAMAolBsAAGAUyg0AADAK5QYAABiFcgMAAIxCuQEAAEah3AAAAKNQbgAAgFEoNwAAwCiUGwAAYBTKDQAAMMr/AxnVgMQvyY7b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2" descr="A Practical Guide to Root Mean Square Error (RMSE) | Coralogix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827" y="2754522"/>
            <a:ext cx="5041936" cy="17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8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RMSE corresponde à norma euclidiana (distância euclidiana)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MAE corresponde a norma Manhattan 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221" y="2429194"/>
            <a:ext cx="3946706" cy="1127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0020692" y="1833104"/>
                <a:ext cx="17628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692" y="1833104"/>
                <a:ext cx="1762813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4" descr="Manhattan Distance Calcula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095" y="3949831"/>
            <a:ext cx="4045410" cy="2595985"/>
          </a:xfrm>
          <a:prstGeom prst="rect">
            <a:avLst/>
          </a:prstGeom>
        </p:spPr>
      </p:pic>
      <p:pic>
        <p:nvPicPr>
          <p:cNvPr id="38918" name="Picture 6" descr="Euclidean Distance vs. Manhattan Distance (Machine Learning) | by Pawan  Yadav | Medium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5" t="46960" r="14039" b="40166"/>
          <a:stretch/>
        </p:blipFill>
        <p:spPr bwMode="auto">
          <a:xfrm>
            <a:off x="2592635" y="4788817"/>
            <a:ext cx="4892249" cy="78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93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25" y="96136"/>
            <a:ext cx="9952090" cy="441185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16" y="3065859"/>
            <a:ext cx="8786088" cy="4002453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16125" y="4466920"/>
            <a:ext cx="31312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MSE</a:t>
            </a:r>
            <a:r>
              <a:rPr lang="pt-BR" dirty="0"/>
              <a:t>. O modelo está mais perto dos </a:t>
            </a:r>
            <a:r>
              <a:rPr lang="pt-BR" dirty="0" err="1"/>
              <a:t>outliers</a:t>
            </a:r>
            <a:r>
              <a:rPr lang="pt-BR" dirty="0"/>
              <a:t>, mas mais longe da maioria dos outros pontos de dados.</a:t>
            </a:r>
          </a:p>
          <a:p>
            <a:r>
              <a:rPr lang="pt-BR" b="1" dirty="0"/>
              <a:t>MAE</a:t>
            </a:r>
            <a:r>
              <a:rPr lang="pt-BR" dirty="0"/>
              <a:t>. O modelo está mais distante dos </a:t>
            </a:r>
            <a:r>
              <a:rPr lang="pt-BR" dirty="0" err="1"/>
              <a:t>outliers</a:t>
            </a:r>
            <a:r>
              <a:rPr lang="pt-BR" dirty="0"/>
              <a:t>, mas mais próximo da maioria dos outros pontos de dados.</a:t>
            </a:r>
          </a:p>
        </p:txBody>
      </p:sp>
    </p:spTree>
    <p:extLst>
      <p:ext uri="{BB962C8B-B14F-4D97-AF65-F5344CB8AC3E}">
        <p14:creationId xmlns:p14="http://schemas.microsoft.com/office/powerpoint/2010/main" val="131625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Técnicas para encontrar os parâmetros da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Algébrica a partir de dois pontos</a:t>
            </a:r>
          </a:p>
          <a:p>
            <a:r>
              <a:rPr lang="pt-BR" b="1" dirty="0" smtClean="0"/>
              <a:t>Forma fechada (algébrica)</a:t>
            </a:r>
          </a:p>
          <a:p>
            <a:r>
              <a:rPr lang="pt-BR" dirty="0" smtClean="0"/>
              <a:t>Mínimos quadrados</a:t>
            </a:r>
          </a:p>
          <a:p>
            <a:r>
              <a:rPr lang="pt-BR" dirty="0" smtClean="0"/>
              <a:t>Gradiente Descendente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445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Notação vetorial para regressão linear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675597" y="1690688"/>
                <a:ext cx="8135915" cy="47651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pt-BR" sz="3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.1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pt-BR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pt-BR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pt-BR" sz="32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/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3200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3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3200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3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sz="3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/>
                      </m:sSup>
                    </m:oMath>
                  </m:oMathPara>
                </a14:m>
                <a:endParaRPr lang="pt-BR" sz="3200" dirty="0"/>
              </a:p>
              <a:p>
                <a:endParaRPr lang="pt-BR" sz="3200" b="0" i="1" dirty="0" smtClean="0">
                  <a:latin typeface="Cambria Math" panose="02040503050406030204" pitchFamily="18" charset="0"/>
                </a:endParaRPr>
              </a:p>
              <a:p>
                <a:endParaRPr lang="pt-BR" sz="32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597" y="1690688"/>
                <a:ext cx="8135915" cy="47651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o Explicativo Retangular com Cantos Arredondados 4"/>
          <p:cNvSpPr/>
          <p:nvPr/>
        </p:nvSpPr>
        <p:spPr>
          <a:xfrm>
            <a:off x="6060467" y="4864231"/>
            <a:ext cx="2461576" cy="1296186"/>
          </a:xfrm>
          <a:prstGeom prst="wedgeRoundRectCallout">
            <a:avLst>
              <a:gd name="adj1" fmla="val -157703"/>
              <a:gd name="adj2" fmla="val -16488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Vetor de atributos de entrada</a:t>
            </a:r>
            <a:endParaRPr lang="pt-BR" sz="2400" dirty="0"/>
          </a:p>
        </p:txBody>
      </p:sp>
      <p:sp>
        <p:nvSpPr>
          <p:cNvPr id="6" name="Texto Explicativo Retangular com Cantos Arredondados 5"/>
          <p:cNvSpPr/>
          <p:nvPr/>
        </p:nvSpPr>
        <p:spPr>
          <a:xfrm>
            <a:off x="3082955" y="5561814"/>
            <a:ext cx="2461576" cy="1296186"/>
          </a:xfrm>
          <a:prstGeom prst="wedgeRoundRectCallout">
            <a:avLst>
              <a:gd name="adj1" fmla="val -71920"/>
              <a:gd name="adj2" fmla="val -6303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Vetor de parâmetros do modelo a ajustar</a:t>
            </a:r>
            <a:endParaRPr lang="pt-BR" sz="2400" dirty="0"/>
          </a:p>
        </p:txBody>
      </p:sp>
      <p:sp>
        <p:nvSpPr>
          <p:cNvPr id="7" name="Texto Explicativo Retangular com Cantos Arredondados 6"/>
          <p:cNvSpPr/>
          <p:nvPr/>
        </p:nvSpPr>
        <p:spPr>
          <a:xfrm>
            <a:off x="372364" y="5561814"/>
            <a:ext cx="1522424" cy="1150071"/>
          </a:xfrm>
          <a:prstGeom prst="wedgeRoundRectCallout">
            <a:avLst>
              <a:gd name="adj1" fmla="val -9115"/>
              <a:gd name="adj2" fmla="val -68851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Rótulos de saída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2163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 por solução de forma fechada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12311" y="2883062"/>
                <a:ext cx="7270533" cy="513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11" y="2883062"/>
                <a:ext cx="7270533" cy="513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859497"/>
          </a:xfrm>
        </p:spPr>
        <p:txBody>
          <a:bodyPr>
            <a:normAutofit/>
          </a:bodyPr>
          <a:lstStyle/>
          <a:p>
            <a:r>
              <a:rPr lang="pt-BR" dirty="0" smtClean="0"/>
              <a:t>Equação normal: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641382" y="6142982"/>
            <a:ext cx="5289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www.youtube.com/watch?v=zI6fqIsUszc&amp;t=3s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732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 por solução de forma fechada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12311" y="2883062"/>
                <a:ext cx="7270533" cy="513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11" y="2883062"/>
                <a:ext cx="7270533" cy="513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9126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Equação normal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x = [2, 4, 6, 8, </a:t>
            </a:r>
            <a:r>
              <a:rPr lang="pt-BR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10]</a:t>
            </a:r>
            <a:r>
              <a:rPr lang="pt-BR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theta</a:t>
            </a:r>
            <a:endParaRPr lang="pt-BR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y = [1, 2.3, 2.7, 3.8, 5]</a:t>
            </a:r>
          </a:p>
          <a:p>
            <a:pPr marL="0" indent="0">
              <a:buNone/>
            </a:pP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_[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((5,1)), x] # adiciona x0 = 1 em cada instância</a:t>
            </a:r>
          </a:p>
          <a:p>
            <a:pPr marL="0" indent="0">
              <a:buNone/>
            </a:pP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theta_best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np.linalg.inv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(x_b.T.dot(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)).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x_b.T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pt-BR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</a:t>
            </a:r>
            <a:r>
              <a:rPr lang="pt-BR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(y</a:t>
            </a:r>
            <a:r>
              <a:rPr lang="pt-BR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pt-BR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809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/>
          </p:nvPr>
        </p:nvGraphicFramePr>
        <p:xfrm>
          <a:off x="460375" y="2659186"/>
          <a:ext cx="4886226" cy="3458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742">
                  <a:extLst>
                    <a:ext uri="{9D8B030D-6E8A-4147-A177-3AD203B41FA5}">
                      <a16:colId xmlns:a16="http://schemas.microsoft.com/office/drawing/2014/main" val="637313479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696999492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102826927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>
                          <a:effectLst/>
                        </a:rPr>
                        <a:t>y1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>
                          <a:effectLst/>
                        </a:rPr>
                        <a:t>y2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3200" u="none" strike="noStrike" dirty="0">
                          <a:effectLst/>
                        </a:rPr>
                        <a:t>(y2-y1)^2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394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1,06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0,00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31167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2,3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2,01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0,08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9185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2,7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2,96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0,07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66748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3,8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3,91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0,01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30883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5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4,86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>
                          <a:effectLst/>
                        </a:rPr>
                        <a:t>0,02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01344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3200" u="none" strike="noStrike">
                          <a:effectLst/>
                        </a:rPr>
                        <a:t> 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RMSE=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3200" u="none" strike="noStrike" dirty="0">
                          <a:effectLst/>
                        </a:rPr>
                        <a:t>0,43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6678436"/>
                  </a:ext>
                </a:extLst>
              </a:tr>
            </a:tbl>
          </a:graphicData>
        </a:graphic>
      </p:graphicFrame>
      <p:sp>
        <p:nvSpPr>
          <p:cNvPr id="4" name="AutoShape 2" descr="data:image/png;base64,iVBORw0KGgoAAAANSUhEUgAAAjcAAAGwCAYAAABVdURTAAAAOnRFWHRTb2Z0d2FyZQBNYXRwbG90bGliIHZlcnNpb24zLjEwLjAsIGh0dHBzOi8vbWF0cGxvdGxpYi5vcmcvlHJYcgAAAAlwSFlzAAAPYQAAD2EBqD+naQAASWxJREFUeJzt3Xl8VNX9//HXJGRhSViFhFUUZA8QQAi2gpVFpCptf5SGVVkqNSiLouJSAwjBBREFWZUgEhBQYkUQRxAQAQlI/IILBUVRSUCtJCwShsz9/XFKhBKWwEzuzM37+XjkgefOnTufT8Ly8XPOvcdlWZaFiIiIiEOE2B2AiIiIiC+puBERERFHUXEjIiIijqLiRkRERBxFxY2IiIg4ioobERERcRQVNyIiIuIopewOoLh5vV4OHDhAVFQULpfL7nBERETkEliWxZEjR6hevTohIRfuzZS44ubAgQPUqlXL7jBERETkMnz33XfUrFnzgueUuOImKioKMN+c6Ohon17b4/Hw3nvv0aVLF8LCwnx67UDg9PzA+Tkqv+Dn9ByVX/DzV465ubnUqlWr4N/xCylxxc3pqajo6Gi/FDdlypQhOjrakb9pnZ4fOD9H5Rf8nJ6j8gt+/s7xUpaUaEGxiIiIOIqKGxEREXEUFTciIiLiKCpuRERExFFU3IiIiIijqLgRERERR1FxIyIiIo6i4kZEREQcRcWNiIiIOIqKGxEREXEUW4ub5ORkXC7XWV8NGza84HuWLl1Kw4YNiYyMpFmzZqxcubKYohUREZGLysqiwaJFkJVlWwi2d26aNGlCVlZWwdfGjRvPe+6mTZtITExk0KBB7Nixgx49etCjRw927dpVjBGLiIjIeWVn0/D11yE727YQbC9uSpUqRUxMTMFXlSpVznvu1KlTueWWWxg9ejSNGjVi/PjxxMfHM23atGKMWERERAKZ7buC79mzh+rVqxMZGUlCQgIpKSnUrl270HM3b97MqFGjzjrWtWtX0tPTz3v9vLw88vLyCsa5ubmA2bXU4/FceQJnOH09X183UDg9P3B+jsov+Dk9R+UXpLKyCjo13m3bCn4tyDImBmJjr+gjivI9c1mWZV3Rp12BVatWcfToURo0aEBWVhZjx47lhx9+YNeuXURFRZ1zfnh4OPPnzycxMbHg2EsvvcTYsWM5ePBgoZ+RnJzM2LFjzzmelpZGmTJlfJeMiIhICdVg0SIzFXUeX/bqxe4z/u2+HMePH6d3797k5OQQHR19wXNtLW7+1+HDh6lTpw7PPfccgwYNOuf1yyluCuvc1KpVi59++umi35yi8ng8uN1uOnfuTFhYmE+vHQicnh84P0flF/ycnqPyC1L/07mJSEoib/p0Qlq3Nq/7oHOTm5tLlSpVLqm4sX1a6kwVKlTguuuuY+/evYW+HhMTc04Rc/DgQWJiYs57zYiICCIiIs45HhYW5rffWP68diBwen7g/ByVX/Bzeo7KL8jUrm2+oGAqKqR1a8Kuv95nH1GU75ftC4rPdPToUb766itiz1PdJSQksGbNmrOOud1uEhISiiM8ERERCQK2FjcPPPAA69ev55tvvmHTpk386U9/IjQ0tGDaqX///owZM6bg/OHDh/Puu+8yefJkvvzyS5KTk9m2bRvDhg2zKwURERE5U0wMX/bqZaaibGLrtNT3339PYmIiP//8M1dddRW/+93v2LJlC1dddRUA+/fvJyTkt/qrffv2pKWl8dhjj/HII49Qv3590tPTadq0qV0piIiIyJliY9mdmMi1V7jG5krYWtwsXrz4gq+vW7funGM9e/akZ8+efopIREREgl1ArbkRERERuVIqbkRERMRRVNyIiIiIowTUc25EREQkeHm98OKLIUB5W+NQcSMiIiJXLCsL7rwT3nsvlBo1WjF4MNj1nEJNS4mIiMgVSU+HZs3gvfegdGmLP/7xayIj7YtHxY2IiIhclmPH4O9/hz/9CX7+GVq2hC1bTtGt2ze4XPbFpeJGREREiiwjwxQzc+aAywUPPghbtkCjRnZHpuJGREREiiA/HyZMgPbtYc8eqFkT1qyBp56C8HC7ozO0oFhEREQuyTffQL9+sHGjGf/1rzBzJlSsaGtY51DnRkRERC5q4UJo3twUNlFRMH8+LF4ceIUNqHMjIiIiF3D4MNxzDyxaZMbt28Nrr0HduraGdUHq3IiIiEihNmww3ZpFiyA0FMaOhfXrA7uwAXVuRERE5H+cPAnJyTBpElgWXHut6da0a2d3ZJdGxY2IiIgU2L0b+vSB7dvNeOBAeP55s84mWGhaSkRERLAsmD0b4uNNYVOxIixbBi+/HFyFDahzIyIiUuL9+CMMGQJvvWXGN99s7oaqUcPeuC6XOjciIiIl2LvvQlycKWzCw+HZZ80eUcFa2IA6NyIiIiXSr7/Cww/DCy+YcePGkJZm7o4KdipuRERESpj/+z/o3Rs++8yM773XbJ9QurS9cfmKpqVERERKCK8XnnsO2rQxhU21arBypeneOKWwAXVuRERESoQffoA774T33zfj22+HuXPhqqtsDcsv1LkRERFxuDffNIuG33/fdGhmzoT0dGcWNqDOjYiIiGMdPQrDh8Mrr5hxq1ZmA8wGDeyNy9/UuREREXGgjz+GFi1MYeNywZgxsGmT8wsbUOdGRETEUU6dgpQUs8llfj7UqgULFkCHDnZHVnxU3IiIiDjEvn3Qt6/p0AAkJsJLL0GFCraGVew0LSUiIhLkLAtefdU8gG/TJoiONrt4p6WVvMIG1LkREREJar/8AkOHwpIlZvy735lpqKuvtjUsW6lzIyIiEqTWrTO3eC9ZAqVKwZNPmmMlubABdW5ERESCzsmT8Pjj8MwzZkqqfn1zi3ebNnZHFhgCpnMzadIkXC4XI0aMOO85qampuFyus74iIyOLL0gRERGbffEFtGsHTz9tCpvBg+GTT1TYnCkgOjcZGRnMmjWLuLi4i54bHR3N7t27C8Yul8ufoYmIiAQEyzJPFr7/frOjd+XKMGcO/OlPdkcWeGzv3Bw9epQ+ffowZ84cKlaseNHzXS4XMTExBV/VqlUrhihFRETsc+iQ2QvqnntMYdOli9nZW4VN4Wzv3CQlJdG9e3c6derEk08+edHzjx49Sp06dfB6vcTHxzNx4kSaNGly3vPz8vLIy8srGOfm5gLg8XjweDxXnsAZTl/P19cNFE7PD5yfo/ILfk7PUfmda9UqF0OGhHLokIuICIsJE7wMG+YlJAQC8dvkr59hUa7nsizL8umnF8HixYuZMGECGRkZREZG0rFjR1q0aMHzzz9f6PmbN29mz549xMXFkZOTw7PPPsuGDRv47LPPqFmzZqHvSU5OZuzYseccT0tLo0yZMr5MR0RExGfy8kKYP78JK1deA0Dt2rmMGrWNq68+YnNk9jh+/Di9e/cmJyeH6OjoC55rW3Hz3Xff0bp1a9xud8Fam4sVN//L4/HQqFEjEhMTGT9+fKHnFNa5qVWrFj/99NNFvzlF5fF4cLvddO7cmbCwMJ9eOxA4PT9wfo7KL/g5PUflZ2RmQv/+pfjyS7Ou9N5785kwwUsw3EPjr59hbm4uVapUuaTixrZpqe3bt3Po0CHi4+MLjuXn57NhwwamTZtGXl4eoaGhF7xGWFgYLVu2ZO/evec9JyIigoiIiELf668/OP68diBwen7g/ByVX/Bzeo4lNT+vF557Dh55xEw5xcTA/PnQpUsocOF/EwONr3+GRbmWbcXNzTffzM6dO886dtddd9GwYUMeeuihixY2YIqhnTt3cuutt/orTBERkWLx/fcwYACsXWvGPXqYu6GqVLE1rKBkW3ETFRVF06ZNzzpWtmxZKleuXHC8f//+1KhRg5SUFADGjRtHu3btqFevHocPH+aZZ57h22+/ZfDgwcUev4iIiK8sXQp33222UihTBqZOhUGDQE87uTy23y11Ifv37yck5Le71X/55ReGDBlCdnY2FStWpFWrVmzatInGjRvbGKWIiMjlOXIE7r3XTD2BeRDfwoXmicNy+QKquFm3bt0Fx1OmTGHKlCnFF5CIiIifbN4MffvC119DSAiMGQNPPAEOXmpUbAKquBEREXG6/HwX48aFkJIC+flQp47Zxfv3v7c7MudQcSMiIlJMvvoKHnnkd+zebW6a6dMHpk+H8uVtDsxhbN9+QURExOksC1JToU2bUuzeXYny5S3S0uC111TY+IM6NyIiIn70n/+YO6GWLQNw0aTJT6Snl6dePS2u8RcVNyIiIn6ydi307w8//AClSkFycj6NGn1EnTp6Pps/aVpKRETEx/Ly4IEH4OabTWFz3XXm7qgHH/RyCc+olSukzo2IiIgPff459O4Nn35qxnffDZMnQ9mygbmLtxOpcyMiIuIDlgXTpkGrVqawqVIF3noLZs40hY0UH3VuRERErlB2NgwcCKtWmfEtt8C8eWbjSyl+6tyIiIhcgRUrIC7OFDYREfDCC7BypQobO6lzIyIichmOH4f77zfTTmAKnIUL4X/2hBYbqHMjIiJSRJ98AvHxvxU2o0bB1q0qbAKFihsREZFLlJ8PTz0F7drB7t1QvTq43eZuqIgIu6OT0zQtJSIicgn27zcP5Fu/3oz//GeYPRsqV7Y3LjmXOjciIiIX8frrZk3N+vXmtu6XXzbbKaiwCUzq3IiIiJxHbi4MGwYLFphx27Zms8t69eyNSy5MnRsREZFCfPQRNG9uCpuQEPjnP+HDD1XYBAN1bkRERM7g8cC4cTBxIni9cPXVpltzww12RyaXSsWNiIjIf+3dC336mNu6wSwgfvFFiI62Ny4pGk1LiYhIiWdZZpFwixamsKlQwSwinj9fhU0wUudGRERKtJ9/hr//Hd5804w7doRXX4VatWwNS66AOjciIlJiud3mFu8334SwMPOAvvffV2ET7NS5ERGREufECXjkEZgyxYwbNjT7QsXH2xuX+IaKGxERKVF27YLevWHnTjO+5x545hkoU8beuMR3NC0lIiIlgtcLU6dC69amsLnqKnj7bZg+XYWN06hzIyIijpeVBXfdBatXm/Gtt8Irr0C1avbGJf6hzo2IiDjaW2+ZRcOrV0NkpOnUrFihwsbJ1LkRERFHOnYMRo6EOXPMuEULs2i4cWNbw5JioM6NiIg4zrZt5s6nOXPA5YLRo2HLFhU2JYWKGxERcYz8fLMnVEIC/PvfUKOGeW7N009DRITd0Ulx0bSUiIg4wrffQr9+ZudugJ49YeZMqFTJ3rik+AVM52bSpEm4XC5GjBhxwfOWLl1Kw4YNiYyMpFmzZqxcubJ4AhQRkYCVlgbNm5vCplw5SE01e0OpsCmZAqK4ycjIYNasWcTFxV3wvE2bNpGYmMigQYPYsWMHPXr0oEePHuzatauYIhURkUBy+LDZxbtPH8jJMdNRmZkwYIBZayMlk+3FzdGjR+nTpw9z5syhYsWKFzx36tSp3HLLLYwePZpGjRoxfvx44uPjmTZtWjFFKyIigeLDD023Ji0NQkMhORk2bIBrr7U7MrGb7WtukpKS6N69O506deLJJ5+84LmbN29m1KhRZx3r2rUr6enp531PXl4eeXl5BePc3FwAPB4PHo/n8gMvxOnr+fq6gcLp+YHzc1R+wc/pOV5Kfh4PjBsXwjPPhOD1urjmGov58/Np29bCsszrgcrpPz/wX45FuZ6txc3ixYv55JNPyMjIuKTzs7OzqfY/T12qVq0a2dnZ531PSkoKY8eOPef4e++9Rxk/PW/b7Xb75bqBwun5gfNzVH7Bz+k5ni+/H34oy5Qprdi713T6b775WwYP3sXPP58imJZgOv3nB77P8fjx45d8rm3FzXfffcfw4cNxu91ERkb67XPGjBlzVrcnNzeXWrVq0aVLF6Kjo336WR6PB7fbTefOnQkLC/PptQOB0/MD5+eo/IKf03M8X36WBa+84mL06FCOH3dRsaLFSy/l85e/VAeq2xdwETn95wf+y/H0zMulsK242b59O4cOHSL+jP3l8/Pz2bBhA9OmTSMvL4/Q0NCz3hMTE8PBgwfPOnbw4EFiYmLO+zkRERFEFPJwg7CwML/9xvLntQOB0/MD5+eo/IKf03M8M7+ffoLBg802CgB/+APMn++iZk3bV1ZcNqf//MD3ORblWrYtKL755pvZuXMnmZmZBV+tW7emT58+ZGZmnlPYACQkJLBmzZqzjrndbhISEoorbBERKUarV0OzZqawCQ+HZ58Ftxtq1rQ7MglktpW9UVFRNG3a9KxjZcuWpXLlygXH+/fvT40aNUhJSQFg+PDhdOjQgcmTJ9O9e3cWL17Mtm3bmD17drHHLyIi/nPiBDzwALzwghk3amTuimrRwtawJEjYfiv4hezfv5+srKyCcfv27UlLS2P27Nk0b96cZcuWkZ6efk6RJCIiweubb6JJSChVUNgMGwbbt6uwkUsXUBOW69atu+AYoGfPnvTs2bN4AhIRkWLj9cLUqSGMGXMjp065qFYN5s2Dbt3sjkyCTUAVNyIiUjIdOAB33glut1lv2b27l1deCaFqVXvjkuAU0NNSIiLifG++aRYNu91QurTF0KGf8uab+Sps5LKpuBEREVscPWpu8f7LX+A//4H4ePj441Pccss32hdKroiKGxERKXZbt0LLlvDyy2aDy4cegs2boWFDuyMTJ1BxIyIixebUKRg/Htq3h717oVYtWLsWJk0yz7ER8QUtKBYRkWKxbx/06wcffWTGvXrBjBlQsaK9cYnzqHMjIiJ+ZVmwYAE0b24Km6goePVVWLSokMImK4sGixbBGc84EykqFTciIuI3hw9D797Qvz8cOQI33ACffmo6OIUuGs7OpuHrr0N2dnGHKg6i4kZERPxi/XqIi4PFiyE01Ky1WbcO6ta1OzJxOq25ERERnzp5Ev75T3j6aTMlVa8evPYatG17njdkZRVMQ7l27Pjt11L//ScqNtZ8iVwiFTciIuIzX34JffrAJ5+Y8aBB8PzzUK7cBd40axaMHQv89o9SqaFDf3v9iScgOdkP0YpTqbgREZErZlmmRhk1Cn79FSpVgjlz4M9/voQ333033H47AKcyMig1dCinZs6kVJs25nV1baSIVNyIiMgVOXTIPGn47bfNuHNnSE2F6tUv8QJnTDtZp06ZX1u2NI8sFrkMWlAsIiKXbdUqsy/U22+bh/BNmQLvvluEwkbED1TciIhIkf36K9x7L9x6q+ncNG0KGRkwYgSEXMm/LDExfNmrF8TE+CpUKYFU3IiISJFkZkLr1jBtmhkPH24Km7g4H1w8NpbdiYlaZyNXRMWNiIhcEq8Xnn0Wrr8ePv/cNFfefdfcDRUZaXd0Ir/RgmIREbmo77+HAQPMJpcAd9xh7oa66ip74xIpjDo3IiJyQcuWmSmntWuhTBmYPRuWL1dhI4FLnRsRESnUkSNw333mtm4w62wWLoTrrrM1LJGLUudGRETOsXkztGhhChuXCx55BDZtUmEjwUGdGxERKXDqFEyYYDa5zM+H2rXNvlC//73dkYlcOhU3IiICwNdfQ9++pmsD0Ls3TJ8OFSrYGpZIkWlaSkSkhLMsM/3UvLkpbKKjzdqahQtV2EhwUudGRKQE+89/YOhQWLrUjH//e1iwAOrUsTcukSuhzo2ISAm1dq25xXvpUihVyqy1+eADFTYS/NS5EREpYfLy4PHHzdOGLcvcAbVwobnVW8QJVNyIiJQgX3xhFgpnZprx3/8Ozz0HZcvaGpaIT2laSkSkBLAsc+dTfLwpbCpXhvR0mDVLhY04jzo3IiIOd/AgDBwIK1eacdeuMG+eNt4W51LnRkTEwVasgGbNTGETEQFTp5r/VmEjTmZrcTNjxgzi4uKIjo4mOjqahIQEVq1add7zU1NTcblcZ31FRkYWY8QiIsHh+HG45x647Tb48UdzV9S2bWavqBD9b604nK3TUjVr1mTSpEnUr18fy7KYP38+d9xxBzt27KBJkyaFvic6Oprdu3cXjF0uV3GFKyISFD75BPr0gS+/NOORI2HiRND/C0pJYWtxc9ttt501njBhAjNmzGDLli3nLW5cLhcxMTHFEZ6ISFDJz4fJk+Gxx8DjMVNP8+dD5852RyZSvAJmQXF+fj5Lly7l2LFjJCQknPe8o0ePUqdOHbxeL/Hx8UycOPG8hRBAXl4eeXl5BePc3FwAPB4PHo/Hdwn895pn/uo0Ts8PnJ+j8gt+58vxu+9g4MBQ1q83c049eniZMSOfypVNoRMsnP4zdHp+4L8ci3I9l2VZlk8/vYh27txJQkICJ06coFy5cqSlpXHrrbcWeu7mzZvZs2cPcXFx5OTk8Oyzz7JhwwY+++wzatasWeh7kpOTGTt27DnH09LSKFOmjE9zERGxw8aN1ZkxoznHjoUTGXmKwYN3cvPN+9GsvTjJ8ePH6d27Nzk5OURHR1/wXNuLm5MnT7J//35ycnJYtmwZc+fOZf369TRu3Pii7/V4PDRq1IjExETGjx9f6DmFdW5q1arFTz/9dNFvTlF5PB7cbjedO3cmLCzMp9cOBE7PD5yfo/ILfmfm+OuvYQwfHsrChaZb06aNl9TUfOrXtznIK+D0n6HT8wP/5Zibm0uVKlUuqbixfVoqPDycevXqAdCqVSsyMjKYOnUqs2bNuuh7w8LCaNmyJXv37j3vOREREURERBT6Xn/9xvLntQOB0/MD5+eo/ILftm3h3HlnKfbtM3c/PfooPP54CGFhzrgVyuk/Q6fnB77PsSjXCrg/BV6v96xOy4Xk5+ezc+dOYvXABhEpITweSEtryE03hbJvH1x9NaxfD+PGgcP/rRS5ZLZ2bsaMGUO3bt2oXbs2R44cIS0tjXXr1rF69WoA+vfvT40aNUhJSQFg3LhxtGvXjnr16nH48GGeeeYZvv32WwYPHmxnGiIixWLvXujTJ5StWxsA0K8fvPgilC9vc2AiAcbW4ubQoUP079+frKwsypcvT1xcHKtXr6bzf+9b3L9/PyFnPG3ql19+YciQIWRnZ1OxYkVatWrFpk2bLml9johIsLIss13CfffBsWMhlCnjYfZsF3362L6yQCQg2fon4+WXX77g6+vWrTtrPGXKFKZMmeLHiEREAsvPP5udu99804xvvNFLv34f8Ne/3mRvYCIBLODW3IiIiPH++2bbhDffNOtpJk2C1avzueqqX+0OTSSgqacpIhJg8vLgkUfguefMuEEDSEuD+PjgeiCfiF1U3IiIBJDPPoPeveH//s+Mhw41WyromaMil07TUiIiAcCy4IUXoFUrU9hcdRX8618wY4YKG5GiUudGRMRm2dlw113w7rtm3K0bvPIKaI9gkcujzo2IiI3+9S9o1swUNpGRMG0avPOOChuRK6HOjYiIDY4dg/vvh9M7zTRvbhYN67FdIldOnRsRkWK2fbu58+l0YfPAA/DxxypsRHxFxY2ISDHJz4eUFGjXDv79b6hRA9asgWeegUL29xWRy6RpKRGRYvDtt9C/P2zYYMb/7/+Zzk2lSvbGJeJE6tyIiPjZokVmTc2GDVCunNknaskSFTYi/qLOjYiIn+TkQFISLFxoxu3awWuvwbXX2huXiNOpcyMi4gcffmi6NQsXQkgIJCebYypsRPxPnRsRER/yeEwhM2kSeL1wzTWmW5OQYHdkIiWHihsRER/Zswf69IGMDDO+806zpUJUlK1hiZQ4mpYSEblClgVz5kCLFqawqVjRLBieN0+FjYgd1LkREbkCP/0EQ4ZAeroZ/+EPMH8+1Kxpa1giJZo6NyIil+m998y+UOnpEBZmHsbndquwEbGbOjciIkV04gQ8/DBMnWrGjRqZu6JatrQ3LhExVNyIiBTBzp3Quzfs2mXGSUnw9NNQpoy9cYnIbzQtJSJyCbxeeP55aN3aFDZVq8I778C0aSpsRAKNOjciIhdx4IC5rdvtNuPu3eGVV0yBIyKBR50bEZELWL4c4uJMYVO6NLz0Erz9tgobkUCmzo2ISCGOHoWRI2HuXDNu2dIsGm7UyN64ROTi1LkREfkfW7eaYmbuXHC54KGHYMsWFTYiwUKdGxGR/8rPN3tCPfGE+e+aNWHBAujY0e7IRKQoVNyIiADffAP9+sHGjWbcqxfMmGG2UhCR4KJpKREp0SzL7NrdvLkpbKKi4NVXYdEiFTYiwUqdGxEpsQ4fhn/8AxYvNuP27U2hU7eurWGJyBVS50ZESqT16023ZvFiCA2FcePMMRU2IsFPnRsRKVFOnjQLhp96ykxJXXutucW7bVu7IxMRX7G1czNjxgzi4uKIjo4mOjqahIQEVq1adcH3LF26lIYNGxIZGUmzZs1YuXJlMUUrIsFu925ISDB3RFkWDBwIO3aosBFxGluLm5o1azJp0iS2b9/Otm3b+MMf/sAdd9zBZ599Vuj5mzZtIjExkUGDBrFjxw569OhBjx492HV6BzsRkUJYFsycaZ5d88knUKkSvPEGvPyyWUAsIs5S5OJmwIABbNiwwScfftttt3HrrbdSv359rrvuOiZMmEC5cuXYsmVLoedPnTqVW265hdGjR9OoUSPGjx9PfHw806ZN80k8IuI8P/4Id9xhFg7/+it06gT/93/w5z/bHZmI+EuR19zk5OTQqVMn6tSpw1133cWAAQOoUaPGFQeSn5/P0qVLOXbsGAkJCYWes3nzZkaNGnXWsa5du5Kenn7e6+bl5ZGXl1cwzs3NBcDj8eDxeK447jOdvp6vrxsonJ4fOD/Hkpbfu++6GDIklIMHXYSHWzz5pJf77vMSEgLB+i0oaT9Dp3F6fuC/HItyPZdlWVZRP+DHH39kwYIFzJ8/n88//5xOnToxaNAg7rjjDsLCwop0rZ07d5KQkMCJEycoV64caWlp3HrrrYWeGx4ezvz580lMTCw49tJLLzF27FgOHjxY6HuSk5MZO3bsOcfT0tIoU6ZMkWIVkeCQlxfC/PlNWLnyGgBq185l5Mjt1K2ba3NkInK5jh8/Tu/evcnJySE6OvqC515WcXOmTz75hHnz5jF37lzKlStH3759ueeee6hfv/4lvf/kyZPs37+fnJwcli1bxty5c1m/fj2NGzc+59zLKW4K69zUqlWLn3766aLfnKLyeDy43W46d+5c5CIvGDg9P3B+jiUhv9mzP2b27A588YWZdR82LJ8JE7yULm1zcD5SEn6Gyi+4+SvH3NxcqlSpcknFzRXdCp6VlYXb7cbtdhMaGsqtt97Kzp07ady4MU8//TQjR4686DXCw8OpV68eAK1atSIjI4OpU6cya9asc86NiYk5p4g5ePAgMTEx571+REQEERER5xwPCwvz228sf147EDg9P3B+jk7Mz+uFKVNCePTRGzl1KoRq1SA1FW65JRQItTs8n3Piz/BMyi/4+TrHolyryAuKPR4Pb7zxBn/84x+pU6cOS5cuZcSIERw4cID58+fz/vvvs2TJEsaNG1fUSwPg9XrP6rScKSEhgTVr1px1zO12n3eNjoiUDD/8AF26wEMPhXLqVCh//KOXnTvhllvsjkxE7FDkzk1sbCxer5fExES2bt1KixYtzjnnpptuokKFChe91pgxY+jWrRu1a9fmyJEjpKWlsW7dOlavXg1A//79qVGjBikpKQAMHz6cDh06MHnyZLp3787ixYvZtm0bs2fPLmoaIuIQb7wBQ4bAL79A6dIWd975Kc8/34TwcD2AXaSkKnJxM2XKFHr27ElkZOR5z6lQoQL79u276LUOHTpE//79ycrKonz58sTFxbF69Wo6d+4MwP79+wkJ+e0vqPbt25OWlsZjjz3GI488Qv369UlPT6dp06ZFTUNEgtyRIzB8OMybZ8atWkFq6im++upbXK4m9gYnIrYqcnHTr18/n334yy+/fMHX161bd86xnj170rNnT5/FICLBZ8sW6NsXvvoKXC54+GFITjb//dVXdkcnInbT3lIiEjROnYKJE80ml/n5ULs2LFgAN95oXnfwo0NEpAhU3IhIUPj6a+jXDzZtMuPevWH6dLiE5X0iUsJoxZ2IBDTLgldfhRYtTGETHQ2vvWZ28lZhIyKFUedGRALWL7/A0KGwZIkZ/+53Zhrq6qttDUtEApw6NyISkD74AOLiTGFTqhRMmADr1qmwEZGLU+dGRALKyZPw2GPw7LNmSqp+fTMF1aaN3ZGJSLBQcSMiAeOLL6BPH9ixw4yHDIHnnoNy5eyNS0SCi6alRMR2lgUvvQTx8aawqVwZli+H2bNV2IhI0alzIyK2OngQBg2Cd94x4y5dzFOHq1e3Ny4RCV7q3IiIbd55xywafucdiIiA55+HVatU2IjIlVHnRkSK3fHjMHq0mYoCaNbMLBpu1szeuETEGdS5EZFitWOH2eTydGEzYgRs3arCRkR8R8WNiBQLrxeefhratoUvv4TYWFi9GqZMgchIu6MTESfRtJSI+N1338GAAebBfAB/+pO5E6pKFXvjEhFnUudGRPxqyRKzaPiDD6BMGZgzB954w0+FTVYWDRYtgqwsP1xcRIKFihsR8YvcXNOt6dULDh82TxjOzITBg8Hl8tOHZmfT8PXXITvbTx8gIsFAxY2I+NymTWYX71dfhZAQePRR+Ogjs5WCiIi/ac2NiPjMqVMwfjw8+aRZQFynDrz2mtnN22+ysgqmoVz/3bfBtWOH2W0TzMrl2Fg/BiAigUbFjYj4xN690LcvfPyxGfftC9OmQfnyfv7gWbNg7Fjgt7/QSg0d+tvrTzwBycl+DkJEAomKGxG5IpYFqalw771w7JgpZmbOhL/9rZgCuPtuuP12AE5lZFBq6FBOzZxJqdPbiKtrI1LiqLgRkcv288+mtnjjDTPu0MGss6lduxiDOGPayTp1yvzasqXZhVNESiQtKBaRy7JmjbnF+403zPKWlBRzrFgLGxGRQqi4EZEiycuDBx6ATp3gwAFo0AC2bIGHH4bQUJuDi4nhy169ICbG5kBExE4qbkTkkn32mdk+YfJkMx46FLZvN3tFBYTYWHYnJmqdjUgJp+JGRC7KsuDFF6F1a/j0U/N04bfeghkzoGxZu6MTETmbFhSLyAVlZ8PAgbBqlRnfcgvMm6eZHxEJXOrciMh5vf02NGtmCpuICNO9WblShY2IBDZ1bkTkHMeOwf33m+fjgbkrKi0NmjSxNy4RkUuhzo2InOX0AuHThc3998PWrSpsRCR4qLgREQDy82HSJGjXDnbvhurVwe2GZ581U1IiIsFC01Iiwv790K8fbNhgxn/5i+ncVK5sb1wiIpfD1s5NSkoKbdq0ISoqiqpVq9KjRw927959wfekpqbicrnO+oqMjCymiEWcZ9Eis6ZmwwZzW/crr8DSpSpsRCR42VrcrF+/nqSkJLZs2YLb7cbj8dClSxeOHTt2wfdFR0eTlZVV8PXtt98WU8QizpGTY7o1vXub/27bFjIz4a67wOWyOzoRkctn67TUu+++e9Y4NTWVqlWrsn37dm688cbzvs/lchGje1FFLttHH7m480749lsICYHHHjNfYWF2RyYicuUCas1NTk4OAJUqVbrgeUePHqVOnTp4vV7i4+OZOHEiTc5zK0deXh55eXkF49zcXAA8Hg8ej8dHkVNwzTN/dRqn5wfOz/H4cQ8LFzbkjTdC8Xqhbl2L1NR8EhIsAII9baf//MD5OSq/4OevHItyPZdlWZZPP/0yeb1ebr/9dg4fPszGjRvPe97mzZvZs2cPcXFx5OTk8Oyzz7JhwwY+++wzatasec75ycnJjB079pzjaWlplClTxqc5iASyAwfKMmVKK/bsqQjATTftZ8iQnZQpc8rmyERELu748eP07t2bnJwcoqOjL3huwBQ3//jHP1i1ahUbN24stEg5H4/HQ6NGjUhMTGT8+PHnvF5Y56ZWrVr89NNPF/3mFJXH48HtdtO5c2fCHNjfd3p+4MwcLQvmzXNx//2hHDvmomzZk8yYYfG3vznvSRBO/Pn9L6fnqPyCn79yzM3NpUqVKpdU3ATEtNSwYcNYsWIFGzZsKFJhAxAWFkbLli3Zu3dvoa9HREQQUchDOsLCwvz2G8uf1w4ETs8PnJPjTz/BkCGQnm7GHTp46dv3A/72tz84Ir/zccrP70KcnqPyC36+zrEo17L1f90sy2LYsGEsX76ctWvXUrdu3SJfIz8/n507dxIbG+uHCEWC13vvmVu809PNQuGnn4bVq/O56qoTdocmIuJXtnZukpKSSEtL46233iIqKors7GwAypcvT+nSpQHo378/NWrUICUlBYBx48bRrl076tWrx+HDh3nmmWf49ttvGTx4sG15iASSEydgzBh4/nkzbtjQ7AvVsmXwLxgWEbkUthY3M2bMAKBjx45nHZ83bx533nknAPv37yck5LcG0y+//MKQIUPIzs6mYsWKtGrVik2bNtG4cePiClskYO3cCX36mF8B7rkHnnkGtHZeREoSW4ubS1nLvG7durPGU6ZMYcqUKX6KSCQ4eb3w4ovw0EOQlwdVq5onDXfvbndkIiLFLyAWFIvI5cvKgjvvNGtsAG691RQ21arZGpaIiG2cdy+oSAmSng7NmpnCJjISpk+HFStU2IhIyabOjUgQOnYMRo6EOXPMuGVLWLgQGjWyNy4RkUCgzo1IkMnIMMXMnDlmg8sHH4QtW1TYiIicpuJGJEjk58OECdC+PezZAzVrwpo18NRTEB5ud3QiIoFD01IiQeCbb6BfPzi97dpf/wozZ0LFiraGJSISkNS5ETlTVhYNFi0ytyAFiIULoXlzU9iUKwfz58PixSpsRETOR8WNyJmys2n4+uvw36dl2+nwYejdG/r2hdxcSEiATz+F/v3NWhsRESmcihuRALRhg+nWLFoEoaEwdqw5ds01dkcmIhL4tOZGJCurYBrKtWPHb7+W+u8fj9hY81UMTp6E5GSYNAksyxQzCxdCu3bF8vEiIo6g4kZk1izTGuG3PxClhg797fUnnjAVh5/t3m32hdq+3YzvugumToWoKL9/tIiIo6i4Ebn7brj9dgBOZWRQauhQTs2cSak2bczrfu7aWBbMng2jRsHx42ah8Jw58Je/+PVjRUQcS8WNyBnTTtapU+bXli0hPt7vH/3jjzB4MPzrX2Z8882QmmqeYSMiIpdHC4pFbPLuuxAXZwqb8HB49lmzR5QKGxGRK6PiRuRMMTF82asXxMT47SN+/RXuuw+6dTN3nDduDFu3wv33Q4j+RIqIXDH9VSpypthYdicm+m2dzaefQps28OKLZnzvvbBtm7ntW0REfEPFjUgx8Hrhuefg+uvhs8+gWjVYuRJeeAFKl7Y7OhERZ9GCYhE/++EHuPNOeP99M77tNpg7F6pWtTUsERHHUudGxI/eeMMsGn7/fdOhmTkT3npLhY2IiD+pcyPiB0ePwvDh8MorZhwfb5403LChvXGJiJQE6tyI+NjHH0OLFqawcbng4Ydh82YVNiIixUWdGxEfOXUKUlLMTg75+VCrFixYAB062B2ZiEjJouJGxAf27YO+fWHTJjP+299gxgyoUMHWsERESiRNS4lcAcuCV181z6nZtAmio023Ji1NhY2IiF3UuRG5TL/8AkOHwpIlZnzDDfDaa3D11baGJSJS4qlzI3IZPvjA3OK9ZAmEhsL48bBunQobEZFAoM6NSBGcPAmPPw7PPGOmpOrVM7d4X3+93ZGJiMhpKm5ELtEXX0CfPrBjhxkPHgxTpkC5cvbGJSIiZ9O0lMhFWJa586lVK1PYVKoEb74Jc+aosBERCUTq3IhcwKFDMGgQrFhhxp07Q2oqVK9ua1giInIB6tyInMfKldCsmSlswsPNFNS776qwEREJdLYWNykpKbRp04aoqCiqVq1Kjx492L1790Xft3TpUho2bEhkZCTNmjVj5cqVxRCtlBR5eSEMHx5C9+6mc9O0KWRkwIgREKL/HRARCXi2/lW9fv16kpKS2LJlC263G4/HQ5cuXTh27Nh537Np0yYSExMZNGgQO3bsoEePHvTo0YNdu3YVY+TiVJmZcP/9HZkxIxQwm19mZJjbvkVEJDjYuubm3XffPWucmppK1apV2b59OzfeeGOh75k6dSq33HILo0ePBmD8+PG43W6mTZvGzJkz/R6zOJPXC5Mnw6OPlsLjiSImxiI11UXXrnZHJiIiRRVQC4pzcnIAqFSp0nnP2bx5M6NGjTrrWNeuXUlPTy/0/Ly8PPLy8grGubm5AHg8HjwezxVGfLbT1/P1dQOFU/P7/nsYNCiUDz4IAVy0bZvFkiXliY0Nw2GpOvZneJrT8wPn56j8gp+/cizK9VyWZVk+/fTL5PV6uf322zl8+DAbN24873nh4eHMnz+fxMTEgmMvvfQSY8eO5eDBg+ecn5yczNixY885npaWRpkyZXwTvAStjz6qzowZzTl6NJyIiFMMHryTTp3243LZHZmIiJzp+PHj9O7dm5ycHKKjoy94bsB0bpKSkti1a9cFC5vLMWbMmLM6Pbm5udSqVYsuXbpc9JtTVB6PB7fbTefOnQkLC/PptQOBk/LLzYWRI0NZsMAsO2vVysv8+RZ16zbA7d7viBwL46SfYWGcnh84P0flF/z8lePpmZdLERDFzbBhw1ixYgUbNmygZs2aFzw3JibmnA7NwYMHiYmJKfT8iIgIIiIizjkeFhbmt99Y/rx2IAj2/DZvNk8a3rfP3P00Zgw88UQIYWEhBdNQwZ7jxSi/4Of0HJVf8PN1jkW5lq13S1mWxbBhw1i+fDlr166lbt26F31PQkICa9asOeuY2+0mISHBX2GKQ5w6BcnJ8Pvfm8KmTh2z2eWTT4LD/44RESlRbO3cJCUlkZaWxltvvUVUVBTZ2dkAlC9fntKlSwPQv39/atSoQUpKCgDDhw+nQ4cOTJ48me7du7N48WK2bdvG7NmzbctDAt9XX0HfvrBlixn36QPTp0P58vbGJSIivmdr52bGjBnk5OTQsWNHYmNjC75ef/31gnP2799PVlZWwbh9+/akpaUxe/ZsmjdvzrJly0hPT6dp06Z2pCABzrLMdgktWpjCpnx5SEuD115TYSMi4lS2dm4u5UatdevWnXOsZ8+e9OzZ0w8RiZP85z9w992wbJkZ33gjvPqqmY4SERHn0sPkxZHWrjVPFV62DEqVgokTzTEVNiIizhcQd0uJ+EpeHjz6qHnaMMB118HChdC6tb1xiYhI8VFxI47x2WdmofCnn5rx3/8Ozz0HZcvaG5eIiBQvTUtJ0LMsmDbNdGc+/RSqVIH0dJg1S4WNiEhJpM6NBLXsbBg4EFatMuOuXc3dUed5pqOIiJQA6txI0Hr7bbNoeNUqiIiAqVNh5UoVNiIiJZ06NxJ0jh+H+++HmTPNOC7OLBrWo45ERATUuZEgs307xMf/VtiMGgVbt6qwERGR36i4kaCQnw9PPQXt2sHu3VC9Orjd5pbvQvZFFRGREkzTUhLw9u+H/v1h/Xoz/vOfYfZsqFzZ3rhERCQwqXMjAW3xYrOmZv16c1v3yy+bpw6rsBERkfNR50YCUm4uDBsGCxaYcdu2ZrPLevXsjUtERAKfOjcScD76CJo3N4VNSAg8/jh8+KEKGxERuTTq3EjA8Hhg3DizyaXXC1dfbbo1N9xgd2QiIhJMVNxIQNizB/r2Nbd1g1lA/OKLEB1tb1wiIhJ8NC0ltrIss0i4ZUtT2FSoYBYRz5+vwkZERC6POjdim59/hiFDYPlyM+7YEV59FWrVsjUsEREJcurciC3cbnOL9/LlEBZmHtD3/vsqbERE5MqpcyPF6sQJeOQRmDLFjBs0gLQ0s6WCiIiIL6i4kWKzaxf07g07d5rxP/4Bzz4LZcrYG5eIiDiLpqXE77xemDoVWrc2hc1VV8Hbb8NLL6mwERER31PnRvwqKwvuugtWrzbjW2+FV16BatXsjUtERJxLnRvxm7fegmbNTGETGQnTpsGKFSpsRETEv9S5EZ87dgxGjoQ5c8y4RQtYuBAaN7Y1LBERKSHUuRGfysgwD+SbMwdcLnjgAdiyRYWNiIgUHxU34hP5+WZPqPbtzVYKNWqY59Y88wxERNgdnYiIlCSalpIr9u230K+f2bkboGdPmDkTKlWyNy4RESmZ1LmRK5KWZp40/OGHUK4cpKbC66+rsBEREfuocyOX5fBhSEoyxQ1Au3bw2mtw7bW2hiUiIqLOjRTdhx+6aN7cFDahoZCcbDo3KmxERCQQqHMjl8zjgddea8Qbb4RiWXDNNaZbk5Bgd2QiIiK/sbVzs2HDBm677TaqV6+Oy+UiPT39guevW7cOl8t1zld2dnbxBFyC/fvfcOONoSxbdh2W5eLOOyEzU4WNiIgEHluLm2PHjtG8eXOmT59epPft3r2brKysgq+qVav6KUKxLJg92zy7Zvv2EMqVO8miRaeYNw+iouyOTkRE5Fy2Tkt169aNbt26Ffl9VatWpUKFCr4PSM7y448wZIjZRgHgppu89OnzAX/5yx/sDUxEROQCgnLNTYsWLcjLy6Np06YkJydzww03nPfcvLw88vLyCsa5ubkAeDwePB6PT+M6fT1fX9cO773nYvDgULKzXYSFWTz5pJd77sljzZoTjsjvfJz0MyyM8gt+Ts9R+QU/f+VYlOu5LMuyfPrpl8nlcrF8+XJ69Ohx3nN2797NunXraN26NXl5ecydO5cFCxbw8ccfEx8fX+h7kpOTGTt27DnH09LSKFOmjK/Cd4y8vBAWLGjMihXm1qeaNY8watQ2rrkm1+bIRESkJDt+/Di9e/cmJyeH6OjoC54bVMVNYTp06EDt2rVZsGBBoa8X1rmpVasWP/3000W/OUXl8Xhwu9107tyZsLAwn167OPzf/0H//qX4/HMXAPfck09KipfSpc3rwZ7fpXB6jsov+Dk9R+UX/PyVY25uLlWqVLmk4iYop6XOdP3117Nx48bzvh4REUFEIZsbhYWF+e03lj+v7Q9eL0ydCg8/DCdPQtWqMG8e3HprKBB6zvnBlt/lcHqOyi/4OT1H5Rf8fJ1jUa4V9MVNZmYmsbGxdocRtA4cgAEDzCaXAH/8I7z8silwREREgpGtxc3Ro0fZu3dvwXjfvn1kZmZSqVIlateuzZgxY/jhhx949dVXAXj++eepW7cuTZo04cSJE8ydO5e1a9fy3nvv2ZVCUHvzTXM31H/+A6VLw3PPwd13g8tld2QiIiKXz9biZtu2bdx0000F41GjRgEwYMAAUlNTycrKYv/+/QWvnzx5kvvvv58ffviBMmXKEBcXx/vvv3/WNeTijh6F4cPhlVfMOD4eFi6Ehg3tjUtERMQXbC1uOnbsyIXWM6empp41fvDBB3nwwQf9HJWzbd0KffrA3r2mQ/PggzBuHISH2x2ZiIiIbwT9mhu5NKdOQUoKjB0L+flQqxa8+ip07Gh3ZCIiIr6l4qYE2LcP+vWDjz4y4169YMYMqFjR3rhERET8wda9pcS/LAsWLIDmzU1hExVlujWLFqmwERER51LnxqF++QX+8Q94/XUzvuEGU+jUrWtvXCIiIv6mzo0DrVtnujWvvw6hoTB+vDmmwkZEREoCdW4c5ORJ+Oc/4emnzZTUtdeaW7zbtrU7MhERkeKj4sYhvvzS3OL9ySdmPGgQPP88lCtna1giIiLFTtNSQc6yYOZM8yC+Tz6BSpXgjTdg7lwVNiIiUjKpcxPEDh2CwYPh7bfNuFMnmD8fqle3Ny4RERE7qXMTpFauhGbNTGETHm72hVq9WoWNiIiIOjdB5tdfYfRomD7djJs0gbQ0iIuzNy4REZFAoc5NEMnMhNatfyts7rsPMjJU2IiIiJxJxU0Q8Hrh2Wfh+uvh888hJgbefRemToXSpe2OTkREJLBoWirAff89DBgAa9ea8R13wJw5cNVV9sYlIiISqNS5CWDLlpkpp7VroUwZmDULli9XYSMiInIh6twEoCNHzHqa1FQzbt3aPGn4uutsDUtERCQoqHMTYDZvhhYtTGHjcsEjj8CmTSpsRERELpU6NwHi1Cl48knzlZ8PtWubXbxvvNHuyERERIKLipsA8PXX0Lev6doA9O5tbveuUMHWsERERIKSpqVsZFlm+ql5c1PYREfDa6+Z9TUqbERERC6POjc2+c9/4O67zR1RAL//Pbz6Klx9ta1hiYiIBD11bmywdq25xXvZMihVCiZMgA8+UGEjIiLiC+rcFKO8PHjsMZg82UxJ1a9vpqDatLE7MhEREedQcVNMvvjCLBTOzDTjv//d7ORdtqytYYmIiDiOpqX8zLLMnU/x8aawqVwZ0tPN04ZV2IiIiPieOjd+dPAgDBwIK1eacdeuMG8exMbaG5eIiIiTqXPjJytWQLNmprCJiDA7eK9cqcJGRETE39S58bG8vFDuvTeEWbPMuFkzSEuDpk3tjUtERKSkUHHjQzt2wP33d+D770MBGDkSJk6EyEibAxMRESlBVNz4yLJl0Lt3KTyeKGJjLebPd9G5s91RiYiIlDwqbnzkhhvM9gn16x/gzTevIjY2zO6QRERESiRbFxRv2LCB2267jerVq+NyuUhPT7/oe9atW0d8fDwRERHUq1eP1NRUv8d5KWJjYcu/DvBK7VFU8WTZHY6IiEiJZWtxc+zYMZo3b8706dMv6fx9+/bRvXt3brrpJjIzMxkxYgSDBw9m9erVfo700tQp9QONlrwO2dl2hyIiIlJi2Tot1a1bN7p163bJ58+cOZO6desyefJkABo1asTGjRuZMmUKXbt29VeYIiIiEkSCas3N5s2b6dSp01nHunbtyogRI877nry8PPLy8grGubm5AHg8Hjwez5UHlZVV0KnxbttW8GvBlWNiHPNwm9PfL5983wKU03NUfsHP6Tkqv+DnrxyLcr2gKm6ys7OpVq3aWceqVatGbm4uv/76K6VLlz7nPSkpKYwdO/ac4++99x5lypS54pgaLFpEw9dfP+tYRFJSwX9/2asXuxMTr/hzAonb7bY7BL9zeo7KL/g5PUflF/x8nePx48cv+dygKm4ux5gxYxg1alTBODc3l1q1atGlSxeio6Ov/ANatsTz3+t7t20jIimJvOnTCWndGoBrY2K41kGdG7fbTefOnQkLc+bdYE7PUfkFP6fnqPyCn79yPD3zcimCqriJiYnh4MGDZx07ePAg0dHRhXZtACIiIoiIiDjneFhYmG++6bVrmy8omIoKad2asOuvv/JrByiffe8CmNNzVH7Bz+k5Kr/g5+sci3KtoNpbKiEhgTVr1px1zO12k5CQYFNEIiIiEmhsLW6OHj1KZmYmmZmZgLnVOzMzk/379wNmSql///4F5w8dOpSvv/6aBx98kC+//JKXXnqJJUuWMHLkSDvCP1dMDF/26mUWEYuIiIgtbC1utm3bRsuWLWnZsiUAo0aNomXLlvzzn/8EICsrq6DQAahbty7vvPMObreb5s2bM3nyZObOnRs4t4HHxprFww5ZYyMiIhKMbF1z07FjRyzLOu/rhT19uGPHjuzYscOPUYmIiEgwC6o1NyIiIiIXo+JGREREHEXFjYiIiDiKihsRERFxFBU3IiIi4igqbkRERMRRVNyIiIiIo6i4EREREUdRcSMiIiKOElS7gvvC6SciF2Xr9Evl8Xg4fvw4ubm5jtzt1en5gfNzVH7Bz+k5Kr/g568cT/+7faGdDU4rccXNkSNHAKhVq5bNkYiIiEhRHTlyhPLly1/wHJd1KSWQg3i9Xg4cOEBUVBQul8un187NzaVWrVp89913REdH+/TagcDp+YHzc1R+wc/pOSq/4OevHC3L4siRI1SvXp2QkAuvqilxnZuQkBBq1qzp18+Ijo527G9acH5+4PwclV/wc3qOyi/4+SPHi3VsTtOCYhEREXEUFTciIiLiKCpufCgiIoInnniCiIgIu0PxC6fnB87PUfkFP6fnqPyCXyDkWOIWFIuIiIizqXMjIiIijqLiRkRERBxFxY2IiIg4ioobERERcRQVN1coJSWFNm3aEBUVRdWqVenRowe7d++2OyyfmjFjBnFxcQUPZEpISGDVqlV2h+U3kyZNwuVyMWLECLtD8Znk5GRcLtdZXw0bNrQ7LJ/64Ycf6Nu3L5UrV6Z06dI0a9aMbdu22R2WT1x99dXn/PxcLhdJSUl2h+Yz+fn5PP7449StW5fSpUtz7bXXMn78+EvaRyhYHDlyhBEjRlCnTh1Kly5N+/btycjIsDusy7JhwwZuu+02qlevjsvlIj09/azXLcvin//8J7GxsZQuXZpOnTqxZ8+eYotPxc0VWr9+PUlJSWzZsgW3243H46FLly4cO3bM7tB8pmbNmkyaNInt27ezbds2/vCHP3DHHXfw2Wef2R2az2VkZDBr1izi4uLsDsXnmjRpQlZWVsHXxo0b7Q7JZ3755RduuOEGwsLCWLVqFZ9//jmTJ0+mYsWKdofmExkZGWf97NxuNwA9e/a0OTLfeeqpp5gxYwbTpk3jiy++4KmnnuLpp5/mxRdftDs0nxk8eDBut5sFCxawc+dOunTpQqdOnfjhhx/sDq3Ijh07RvPmzZk+fXqhrz/99NO88MILzJw5k48//piyZcvStWtXTpw4UTwBWuJThw4dsgBr/fr1dofiVxUrVrTmzp1rdxg+deTIEat+/fqW2+22OnToYA0fPtzukHzmiSeesJo3b253GH7z0EMPWb/73e/sDqPYDB8+3Lr22mstr9drdyg+0717d2vgwIFnHfvzn/9s9enTx6aIfOv48eNWaGiotWLFirOOx8fHW48++qhNUfkGYC1fvrxg7PV6rZiYGOuZZ54pOHb48GErIiLCWrRoUbHEpM6Nj+Xk5ABQqVIlmyPxj/z8fBYvXsyxY8dISEiwOxyfSkpKonv37nTq1MnuUPxiz549VK9enWuuuYY+ffqwf/9+u0PymX/961+0bt2anj17UrVqVVq2bMmcOXPsDssvTp48yWuvvcbAgQN9vvmvndq3b8+aNWv497//DcCnn37Kxo0b6datm82R+capU6fIz88nMjLyrOOlS5d2VBcVYN++fWRnZ5/1d2n58uVp27YtmzdvLpYYStzGmf7k9XoZMWIEN9xwA02bNrU7HJ/auXMnCQkJnDhxgnLlyrF8+XIaN25sd1g+s3jxYj755JOgnf++mLZt25KamkqDBg3Iyspi7Nix/P73v2fXrl1ERUXZHd4V+/rrr5kxYwajRo3ikUceISMjg/vuu4/w8HAGDBhgd3g+lZ6ezuHDh7nzzjvtDsWnHn74YXJzc2nYsCGhoaHk5+czYcIE+vTpY3doPhEVFUVCQgLjx4+nUaNGVKtWjUWLFrF582bq1atnd3g+lZ2dDUC1atXOOl6tWrWC1/xNxY0PJSUlsWvXLsdV4QANGjQgMzOTnJwcli1bxoABA1i/fr0jCpzvvvuO4cOH43a7z/m/Kqc48/9+4+LiaNu2LXXq1GHJkiUMGjTIxsh8w+v10rp1ayZOnAhAy5Yt2bVrFzNnznRccfPyyy/TrVs3qlevbncoPrVkyRIWLlxIWloaTZo0ITMzkxEjRlC9enXH/AwXLFjAwIEDqVGjBqGhocTHx5OYmMj27dvtDs1xNC3lI8OGDWPFihV88MEH1KxZ0+5wfC48PJx69erRqlUrUlJSaN68OVOnTrU7LJ/Yvn07hw4dIj4+nlKlSlGqVCnWr1/PCy+8QKlSpcjPz7c7RJ+rUKEC1113HXv37rU7FJ+IjY09p9Bu1KiRo6beAL799lvef/99Bg8ebHcoPjd69Ggefvhh/va3v9GsWTP69evHyJEjSUlJsTs0n7n22mtZv349R48e5bvvvmPr1q14PB6uueYau0PzqZiYGAAOHjx41vGDBw8WvOZvKm6ukGVZDBs2jOXLl7N27Vrq1q1rd0jFwuv1kpeXZ3cYPnHzzTezc+dOMjMzC75at25Nnz59yMzMJDQ01O4Qfe7o0aN89dVXxMbG2h2KT9xwww3nPILh3//+N3Xq1LEpIv+YN28eVatWpXv37naH4nPHjx8nJOTsf5JCQ0Pxer02ReQ/ZcuWJTY2ll9++YXVq1dzxx132B2ST9WtW5eYmBjWrFlTcCw3N5ePP/642NZqalrqCiUlJZGWlsZbb71FVFRUwXxi+fLlKV26tM3R+caYMWPo1q0btWvX5siRI6SlpbFu3TpWr15td2g+ERUVdc4aqbJly1K5cmXHrJ164IEHuO2226hTpw4HDhzgiSeeIDQ0lMTERLtD84mRI0fSvn17Jk6cyF//+le2bt3K7NmzmT17tt2h+YzX62XevHkMGDCAUqWc91f3bbfdxoQJE6hduzZNmjRhx44dPPfccwwcONDu0Hxm9erVWJZFgwYN2Lt3L6NHj6Zhw4bcdddddodWZEePHj2r87tv3z4yMzOpVKkStWvXZsSIETz55JPUr1+funXr8vjjj1O9enV69OhRPAEWyz1ZDgYU+jVv3jy7Q/OZgQMHWnXq1LHCw8Otq666yrr55put9957z+6w/Mppt4L36tXLio2NtcLDw60aNWpYvXr1svbu3Wt3WD719ttvW02bNrUiIiKshg0bWrNnz7Y7JJ9avXq1BVi7d++2OxS/yM3NtYYPH27Vrl3bioyMtK655hrr0UcftfLy8uwOzWdef/1165prrrHCw8OtmJgYKykpyTp8+LDdYV2WDz74oNB/+wYMGGBZlrkd/PHHH7eqVatmRUREWDfffHOx/t51WZaDHv8oIiIiJZ7W3IiIiIijqLgRERERR1FxIyIiIo6i4kZEREQcRcWNiIiIOIqKGxEREXEUFTciIiLiKCpuRERExFFU3IiIiIijqLgRERERR1FxIyIiIo6i4kZEgt6PP/5ITEwMEydOLDi2adMmwsPDWbNmjY2RiYgdtHGmiDjCypUr6dGjB5s2baJBgwa0aNGCO+64g+eee87u0ESkmKm4ERHHSEpK4v3336d169bs3LmTjIwMIiIi7A5LRIqZihsRcYxff/2Vpk2b8t1337F9+3aaNWtmd0giYgOtuRERx/jqq684cOAAXq+Xb775xu5wRMQm6tyIiCOcPHmS66+/nhYtWtCgQQOef/55du7cSdWqVe0OTUSKmYobEXGE0aNHs2zZMj799FPKlStHhw4dKF++PCtWrLA7NBEpZpqWEpGgt27dOp5//nkWLFhAdHQ0ISEhLFiwgA8//JAZM2bYHZ6IFDN1bkRERMRR1LkRERERR1FxIyIiIo6i4kZEREQcRcWNiIiIOIqKGxEREXEUFTciIiLiKCpuRERExFFU3IiIiIijqLgRERERR1FxIyIiIo6i4kZEREQc5f8DTsupQkaRpnI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95" y="2194957"/>
            <a:ext cx="6243644" cy="4757062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718923" y="1690688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/>
              <a:t>y = </a:t>
            </a:r>
            <a:r>
              <a:rPr lang="pt-BR" sz="2400" dirty="0" smtClean="0"/>
              <a:t>0,11 </a:t>
            </a:r>
            <a:r>
              <a:rPr lang="es-ES" sz="2400" dirty="0" smtClean="0"/>
              <a:t> + 0,475 * X	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8633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Técnicas para encontrar os parâmetros da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Algébrica a partir de dois pontos</a:t>
            </a:r>
          </a:p>
          <a:p>
            <a:r>
              <a:rPr lang="pt-BR" dirty="0" smtClean="0"/>
              <a:t>Forma fechada</a:t>
            </a:r>
          </a:p>
          <a:p>
            <a:r>
              <a:rPr lang="pt-BR" b="1" dirty="0" smtClean="0"/>
              <a:t>Mínimos quadrados</a:t>
            </a:r>
          </a:p>
          <a:p>
            <a:r>
              <a:rPr lang="pt-BR" dirty="0" smtClean="0"/>
              <a:t>Gradiente Descendente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923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fazer uma regressão à mão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www.youtube.com/watch?v=FTOwL3-m4_c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90" y="2817640"/>
            <a:ext cx="6236020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Pacote do </a:t>
            </a:r>
            <a:r>
              <a:rPr lang="pt-BR" i="1" dirty="0" err="1"/>
              <a:t>s</a:t>
            </a:r>
            <a:r>
              <a:rPr lang="pt-BR" i="1" dirty="0" err="1" smtClean="0"/>
              <a:t>klearn</a:t>
            </a:r>
            <a:r>
              <a:rPr lang="pt-BR" dirty="0" smtClean="0"/>
              <a:t> para regressão linear</a:t>
            </a:r>
            <a:endParaRPr lang="pt-BR" dirty="0"/>
          </a:p>
        </p:txBody>
      </p:sp>
      <p:sp>
        <p:nvSpPr>
          <p:cNvPr id="4" name="AutoShape 2" descr="data:image/png;base64,iVBORw0KGgoAAAANSUhEUgAAAjcAAAGwCAYAAABVdURTAAAAOnRFWHRTb2Z0d2FyZQBNYXRwbG90bGliIHZlcnNpb24zLjEwLjAsIGh0dHBzOi8vbWF0cGxvdGxpYi5vcmcvlHJYcgAAAAlwSFlzAAAPYQAAD2EBqD+naQAASWxJREFUeJzt3Xl8VNX9//HXJGRhSViFhFUUZA8QQAi2gpVFpCptf5SGVVkqNSiLouJSAwjBBREFWZUgEhBQYkUQRxAQAQlI/IILBUVRSUCtJCwShsz9/XFKhBKWwEzuzM37+XjkgefOnTufT8Ly8XPOvcdlWZaFiIiIiEOE2B2AiIiIiC+puBERERFHUXEjIiIijqLiRkRERBxFxY2IiIg4ioobERERcRQVNyIiIuIopewOoLh5vV4OHDhAVFQULpfL7nBERETkEliWxZEjR6hevTohIRfuzZS44ubAgQPUqlXL7jBERETkMnz33XfUrFnzgueUuOImKioKMN+c6Ohon17b4/Hw3nvv0aVLF8LCwnx67UDg9PzA+Tkqv+Dn9ByVX/DzV465ubnUqlWr4N/xCylxxc3pqajo6Gi/FDdlypQhOjrakb9pnZ4fOD9H5Rf8nJ6j8gt+/s7xUpaUaEGxiIiIOIqKGxEREXEUFTciIiLiKCpuRERExFFU3IiIiIijqLgRERERR1FxIyIiIo6i4kZEREQcRcWNiIiIOIqKGxEREXEUW4ub5ORkXC7XWV8NGza84HuWLl1Kw4YNiYyMpFmzZqxcubKYohUREZGLysqiwaJFkJVlWwi2d26aNGlCVlZWwdfGjRvPe+6mTZtITExk0KBB7Nixgx49etCjRw927dpVjBGLiIjIeWVn0/D11yE727YQbC9uSpUqRUxMTMFXlSpVznvu1KlTueWWWxg9ejSNGjVi/PjxxMfHM23atGKMWERERAKZ7buC79mzh+rVqxMZGUlCQgIpKSnUrl270HM3b97MqFGjzjrWtWtX0tPTz3v9vLw88vLyCsa5ubmA2bXU4/FceQJnOH09X183UDg9P3B+jsov+Dk9R+UXpLKyCjo13m3bCn4tyDImBmJjr+gjivI9c1mWZV3Rp12BVatWcfToURo0aEBWVhZjx47lhx9+YNeuXURFRZ1zfnh4OPPnzycxMbHg2EsvvcTYsWM5ePBgoZ+RnJzM2LFjzzmelpZGmTJlfJeMiIhICdVg0SIzFXUeX/bqxe4z/u2+HMePH6d3797k5OQQHR19wXNtLW7+1+HDh6lTpw7PPfccgwYNOuf1yyluCuvc1KpVi59++umi35yi8ng8uN1uOnfuTFhYmE+vHQicnh84P0flF/ycnqPyC1L/07mJSEoib/p0Qlq3Nq/7oHOTm5tLlSpVLqm4sX1a6kwVKlTguuuuY+/evYW+HhMTc04Rc/DgQWJiYs57zYiICCIiIs45HhYW5rffWP68diBwen7g/ByVX/Bzeo7KL8jUrm2+oGAqKqR1a8Kuv95nH1GU75ftC4rPdPToUb766itiz1PdJSQksGbNmrOOud1uEhISiiM8ERERCQK2FjcPPPAA69ev55tvvmHTpk386U9/IjQ0tGDaqX///owZM6bg/OHDh/Puu+8yefJkvvzyS5KTk9m2bRvDhg2zKwURERE5U0wMX/bqZaaibGLrtNT3339PYmIiP//8M1dddRW/+93v2LJlC1dddRUA+/fvJyTkt/qrffv2pKWl8dhjj/HII49Qv3590tPTadq0qV0piIiIyJliY9mdmMi1V7jG5krYWtwsXrz4gq+vW7funGM9e/akZ8+efopIREREgl1ArbkRERERuVIqbkRERMRRVNyIiIiIowTUc25EREQkeHm98OKLIUB5W+NQcSMiIiJXLCsL7rwT3nsvlBo1WjF4MNj1nEJNS4mIiMgVSU+HZs3gvfegdGmLP/7xayIj7YtHxY2IiIhclmPH4O9/hz/9CX7+GVq2hC1bTtGt2ze4XPbFpeJGREREiiwjwxQzc+aAywUPPghbtkCjRnZHpuJGREREiiA/HyZMgPbtYc8eqFkT1qyBp56C8HC7ozO0oFhEREQuyTffQL9+sHGjGf/1rzBzJlSsaGtY51DnRkRERC5q4UJo3twUNlFRMH8+LF4ceIUNqHMjIiIiF3D4MNxzDyxaZMbt28Nrr0HduraGdUHq3IiIiEihNmww3ZpFiyA0FMaOhfXrA7uwAXVuRERE5H+cPAnJyTBpElgWXHut6da0a2d3ZJdGxY2IiIgU2L0b+vSB7dvNeOBAeP55s84mWGhaSkRERLAsmD0b4uNNYVOxIixbBi+/HFyFDahzIyIiUuL9+CMMGQJvvWXGN99s7oaqUcPeuC6XOjciIiIl2LvvQlycKWzCw+HZZ80eUcFa2IA6NyIiIiXSr7/Cww/DCy+YcePGkJZm7o4KdipuRERESpj/+z/o3Rs++8yM773XbJ9QurS9cfmKpqVERERKCK8XnnsO2rQxhU21arBypeneOKWwAXVuRERESoQffoA774T33zfj22+HuXPhqqtsDcsv1LkRERFxuDffNIuG33/fdGhmzoT0dGcWNqDOjYiIiGMdPQrDh8Mrr5hxq1ZmA8wGDeyNy9/UuREREXGgjz+GFi1MYeNywZgxsGmT8wsbUOdGRETEUU6dgpQUs8llfj7UqgULFkCHDnZHVnxU3IiIiDjEvn3Qt6/p0AAkJsJLL0GFCraGVew0LSUiIhLkLAtefdU8gG/TJoiONrt4p6WVvMIG1LkREREJar/8AkOHwpIlZvy735lpqKuvtjUsW6lzIyIiEqTWrTO3eC9ZAqVKwZNPmmMlubABdW5ERESCzsmT8Pjj8MwzZkqqfn1zi3ebNnZHFhgCpnMzadIkXC4XI0aMOO85qampuFyus74iIyOLL0gRERGbffEFtGsHTz9tCpvBg+GTT1TYnCkgOjcZGRnMmjWLuLi4i54bHR3N7t27C8Yul8ufoYmIiAQEyzJPFr7/frOjd+XKMGcO/OlPdkcWeGzv3Bw9epQ+ffowZ84cKlaseNHzXS4XMTExBV/VqlUrhihFRETsc+iQ2QvqnntMYdOli9nZW4VN4Wzv3CQlJdG9e3c6derEk08+edHzjx49Sp06dfB6vcTHxzNx4kSaNGly3vPz8vLIy8srGOfm5gLg8XjweDxXnsAZTl/P19cNFE7PD5yfo/ILfk7PUfmda9UqF0OGhHLokIuICIsJE7wMG+YlJAQC8dvkr59hUa7nsizL8umnF8HixYuZMGECGRkZREZG0rFjR1q0aMHzzz9f6PmbN29mz549xMXFkZOTw7PPPsuGDRv47LPPqFmzZqHvSU5OZuzYseccT0tLo0yZMr5MR0RExGfy8kKYP78JK1deA0Dt2rmMGrWNq68+YnNk9jh+/Di9e/cmJyeH6OjoC55rW3Hz3Xff0bp1a9xud8Fam4sVN//L4/HQqFEjEhMTGT9+fKHnFNa5qVWrFj/99NNFvzlF5fF4cLvddO7cmbCwMJ9eOxA4PT9wfo7KL/g5PUflZ2RmQv/+pfjyS7Ou9N5785kwwUsw3EPjr59hbm4uVapUuaTixrZpqe3bt3Po0CHi4+MLjuXn57NhwwamTZtGXl4eoaGhF7xGWFgYLVu2ZO/evec9JyIigoiIiELf668/OP68diBwen7g/ByVX/Bzeo4lNT+vF557Dh55xEw5xcTA/PnQpUsocOF/EwONr3+GRbmWbcXNzTffzM6dO886dtddd9GwYUMeeuihixY2YIqhnTt3cuutt/orTBERkWLx/fcwYACsXWvGPXqYu6GqVLE1rKBkW3ETFRVF06ZNzzpWtmxZKleuXHC8f//+1KhRg5SUFADGjRtHu3btqFevHocPH+aZZ57h22+/ZfDgwcUev4iIiK8sXQp33222UihTBqZOhUGDQE87uTy23y11Ifv37yck5Le71X/55ReGDBlCdnY2FStWpFWrVmzatInGjRvbGKWIiMjlOXIE7r3XTD2BeRDfwoXmicNy+QKquFm3bt0Fx1OmTGHKlCnFF5CIiIifbN4MffvC119DSAiMGQNPPAEOXmpUbAKquBEREXG6/HwX48aFkJIC+flQp47Zxfv3v7c7MudQcSMiIlJMvvoKHnnkd+zebW6a6dMHpk+H8uVtDsxhbN9+QURExOksC1JToU2bUuzeXYny5S3S0uC111TY+IM6NyIiIn70n/+YO6GWLQNw0aTJT6Snl6dePS2u8RcVNyIiIn6ydi307w8//AClSkFycj6NGn1EnTp6Pps/aVpKRETEx/Ly4IEH4OabTWFz3XXm7qgHH/RyCc+olSukzo2IiIgPff459O4Nn35qxnffDZMnQ9mygbmLtxOpcyMiIuIDlgXTpkGrVqawqVIF3noLZs40hY0UH3VuRERErlB2NgwcCKtWmfEtt8C8eWbjSyl+6tyIiIhcgRUrIC7OFDYREfDCC7BypQobO6lzIyIichmOH4f77zfTTmAKnIUL4X/2hBYbqHMjIiJSRJ98AvHxvxU2o0bB1q0qbAKFihsREZFLlJ8PTz0F7drB7t1QvTq43eZuqIgIu6OT0zQtJSIicgn27zcP5Fu/3oz//GeYPRsqV7Y3LjmXOjciIiIX8frrZk3N+vXmtu6XXzbbKaiwCUzq3IiIiJxHbi4MGwYLFphx27Zms8t69eyNSy5MnRsREZFCfPQRNG9uCpuQEPjnP+HDD1XYBAN1bkRERM7g8cC4cTBxIni9cPXVpltzww12RyaXSsWNiIjIf+3dC336mNu6wSwgfvFFiI62Ny4pGk1LiYhIiWdZZpFwixamsKlQwSwinj9fhU0wUudGRERKtJ9/hr//Hd5804w7doRXX4VatWwNS66AOjciIlJiud3mFu8334SwMPOAvvffV2ET7NS5ERGREufECXjkEZgyxYwbNjT7QsXH2xuX+IaKGxERKVF27YLevWHnTjO+5x545hkoU8beuMR3NC0lIiIlgtcLU6dC69amsLnqKnj7bZg+XYWN06hzIyIijpeVBXfdBatXm/Gtt8Irr0C1avbGJf6hzo2IiDjaW2+ZRcOrV0NkpOnUrFihwsbJ1LkRERFHOnYMRo6EOXPMuEULs2i4cWNbw5JioM6NiIg4zrZt5s6nOXPA5YLRo2HLFhU2JYWKGxERcYz8fLMnVEIC/PvfUKOGeW7N009DRITd0Ulx0bSUiIg4wrffQr9+ZudugJ49YeZMqFTJ3rik+AVM52bSpEm4XC5GjBhxwfOWLl1Kw4YNiYyMpFmzZqxcubJ4AhQRkYCVlgbNm5vCplw5SE01e0OpsCmZAqK4ycjIYNasWcTFxV3wvE2bNpGYmMigQYPYsWMHPXr0oEePHuzatauYIhURkUBy+LDZxbtPH8jJMdNRmZkwYIBZayMlk+3FzdGjR+nTpw9z5syhYsWKFzx36tSp3HLLLYwePZpGjRoxfvx44uPjmTZtWjFFKyIigeLDD023Ji0NQkMhORk2bIBrr7U7MrGb7WtukpKS6N69O506deLJJ5+84LmbN29m1KhRZx3r2rUr6enp531PXl4eeXl5BePc3FwAPB4PHo/n8gMvxOnr+fq6gcLp+YHzc1R+wc/pOV5Kfh4PjBsXwjPPhOD1urjmGov58/Np29bCsszrgcrpPz/wX45FuZ6txc3ixYv55JNPyMjIuKTzs7OzqfY/T12qVq0a2dnZ531PSkoKY8eOPef4e++9Rxk/PW/b7Xb75bqBwun5gfNzVH7Bz+k5ni+/H34oy5Qprdi713T6b775WwYP3sXPP58imJZgOv3nB77P8fjx45d8rm3FzXfffcfw4cNxu91ERkb67XPGjBlzVrcnNzeXWrVq0aVLF6Kjo336WR6PB7fbTefOnQkLC/PptQOB0/MD5+eo/IKf03M8X36WBa+84mL06FCOH3dRsaLFSy/l85e/VAeq2xdwETn95wf+y/H0zMulsK242b59O4cOHSL+jP3l8/Pz2bBhA9OmTSMvL4/Q0NCz3hMTE8PBgwfPOnbw4EFiYmLO+zkRERFEFPJwg7CwML/9xvLntQOB0/MD5+eo/IKf03M8M7+ffoLBg802CgB/+APMn++iZk3bV1ZcNqf//MD3ORblWrYtKL755pvZuXMnmZmZBV+tW7emT58+ZGZmnlPYACQkJLBmzZqzjrndbhISEoorbBERKUarV0OzZqawCQ+HZ58Ftxtq1rQ7MglktpW9UVFRNG3a9KxjZcuWpXLlygXH+/fvT40aNUhJSQFg+PDhdOjQgcmTJ9O9e3cWL17Mtm3bmD17drHHLyIi/nPiBDzwALzwghk3amTuimrRwtawJEjYfiv4hezfv5+srKyCcfv27UlLS2P27Nk0b96cZcuWkZ6efk6RJCIiweubb6JJSChVUNgMGwbbt6uwkUsXUBOW69atu+AYoGfPnvTs2bN4AhIRkWLj9cLUqSGMGXMjp065qFYN5s2Dbt3sjkyCTUAVNyIiUjIdOAB33glut1lv2b27l1deCaFqVXvjkuAU0NNSIiLifG++aRYNu91QurTF0KGf8uab+Sps5LKpuBEREVscPWpu8f7LX+A//4H4ePj441Pccss32hdKroiKGxERKXZbt0LLlvDyy2aDy4cegs2boWFDuyMTJ1BxIyIixebUKRg/Htq3h717oVYtWLsWJk0yz7ER8QUtKBYRkWKxbx/06wcffWTGvXrBjBlQsaK9cYnzqHMjIiJ+ZVmwYAE0b24Km6goePVVWLSokMImK4sGixbBGc84EykqFTciIuI3hw9D797Qvz8cOQI33ACffmo6OIUuGs7OpuHrr0N2dnGHKg6i4kZERPxi/XqIi4PFiyE01Ky1WbcO6ta1OzJxOq25ERERnzp5Ev75T3j6aTMlVa8evPYatG17njdkZRVMQ7l27Pjt11L//ScqNtZ8iVwiFTciIuIzX34JffrAJ5+Y8aBB8PzzUK7cBd40axaMHQv89o9SqaFDf3v9iScgOdkP0YpTqbgREZErZlmmRhk1Cn79FSpVgjlz4M9/voQ333033H47AKcyMig1dCinZs6kVJs25nV1baSIVNyIiMgVOXTIPGn47bfNuHNnSE2F6tUv8QJnTDtZp06ZX1u2NI8sFrkMWlAsIiKXbdUqsy/U22+bh/BNmQLvvluEwkbED1TciIhIkf36K9x7L9x6q+ncNG0KGRkwYgSEXMm/LDExfNmrF8TE+CpUKYFU3IiISJFkZkLr1jBtmhkPH24Km7g4H1w8NpbdiYlaZyNXRMWNiIhcEq8Xnn0Wrr8ePv/cNFfefdfcDRUZaXd0Ir/RgmIREbmo77+HAQPMJpcAd9xh7oa66ip74xIpjDo3IiJyQcuWmSmntWuhTBmYPRuWL1dhI4FLnRsRESnUkSNw333mtm4w62wWLoTrrrM1LJGLUudGRETOsXkztGhhChuXCx55BDZtUmEjwUGdGxERKXDqFEyYYDa5zM+H2rXNvlC//73dkYlcOhU3IiICwNdfQ9++pmsD0Ls3TJ8OFSrYGpZIkWlaSkSkhLMsM/3UvLkpbKKjzdqahQtV2EhwUudGRKQE+89/YOhQWLrUjH//e1iwAOrUsTcukSuhzo2ISAm1dq25xXvpUihVyqy1+eADFTYS/NS5EREpYfLy4PHHzdOGLcvcAbVwobnVW8QJVNyIiJQgX3xhFgpnZprx3/8Ozz0HZcvaGpaIT2laSkSkBLAsc+dTfLwpbCpXhvR0mDVLhY04jzo3IiIOd/AgDBwIK1eacdeuMG+eNt4W51LnRkTEwVasgGbNTGETEQFTp5r/VmEjTmZrcTNjxgzi4uKIjo4mOjqahIQEVq1add7zU1NTcblcZ31FRkYWY8QiIsHh+HG45x647Tb48UdzV9S2bWavqBD9b604nK3TUjVr1mTSpEnUr18fy7KYP38+d9xxBzt27KBJkyaFvic6Oprdu3cXjF0uV3GFKyISFD75BPr0gS+/NOORI2HiRND/C0pJYWtxc9ttt501njBhAjNmzGDLli3nLW5cLhcxMTHFEZ6ISFDJz4fJk+Gxx8DjMVNP8+dD5852RyZSvAJmQXF+fj5Lly7l2LFjJCQknPe8o0ePUqdOHbxeL/Hx8UycOPG8hRBAXl4eeXl5BePc3FwAPB4PHo/Hdwn895pn/uo0Ts8PnJ+j8gt+58vxu+9g4MBQ1q83c049eniZMSOfypVNoRMsnP4zdHp+4L8ci3I9l2VZlk8/vYh27txJQkICJ06coFy5cqSlpXHrrbcWeu7mzZvZs2cPcXFx5OTk8Oyzz7JhwwY+++wzatasWeh7kpOTGTt27DnH09LSKFOmjE9zERGxw8aN1ZkxoznHjoUTGXmKwYN3cvPN+9GsvTjJ8ePH6d27Nzk5OURHR1/wXNuLm5MnT7J//35ycnJYtmwZc+fOZf369TRu3Pii7/V4PDRq1IjExETGjx9f6DmFdW5q1arFTz/9dNFvTlF5PB7cbjedO3cmLCzMp9cOBE7PD5yfo/ILfmfm+OuvYQwfHsrChaZb06aNl9TUfOrXtznIK+D0n6HT8wP/5Zibm0uVKlUuqbixfVoqPDycevXqAdCqVSsyMjKYOnUqs2bNuuh7w8LCaNmyJXv37j3vOREREURERBT6Xn/9xvLntQOB0/MD5+eo/ILftm3h3HlnKfbtM3c/PfooPP54CGFhzrgVyuk/Q6fnB77PsSjXCrg/BV6v96xOy4Xk5+ezc+dOYvXABhEpITweSEtryE03hbJvH1x9NaxfD+PGgcP/rRS5ZLZ2bsaMGUO3bt2oXbs2R44cIS0tjXXr1rF69WoA+vfvT40aNUhJSQFg3LhxtGvXjnr16nH48GGeeeYZvv32WwYPHmxnGiIixWLvXujTJ5StWxsA0K8fvPgilC9vc2AiAcbW4ubQoUP079+frKwsypcvT1xcHKtXr6bzf+9b3L9/PyFnPG3ql19+YciQIWRnZ1OxYkVatWrFpk2bLml9johIsLIss13CfffBsWMhlCnjYfZsF3362L6yQCQg2fon4+WXX77g6+vWrTtrPGXKFKZMmeLHiEREAsvPP5udu99804xvvNFLv34f8Ne/3mRvYCIBLODW3IiIiPH++2bbhDffNOtpJk2C1avzueqqX+0OTSSgqacpIhJg8vLgkUfguefMuEEDSEuD+PjgeiCfiF1U3IiIBJDPPoPeveH//s+Mhw41WyromaMil07TUiIiAcCy4IUXoFUrU9hcdRX8618wY4YKG5GiUudGRMRm2dlw113w7rtm3K0bvPIKaI9gkcujzo2IiI3+9S9o1swUNpGRMG0avPOOChuRK6HOjYiIDY4dg/vvh9M7zTRvbhYN67FdIldOnRsRkWK2fbu58+l0YfPAA/DxxypsRHxFxY2ISDHJz4eUFGjXDv79b6hRA9asgWeegUL29xWRy6RpKRGRYvDtt9C/P2zYYMb/7/+Zzk2lSvbGJeJE6tyIiPjZokVmTc2GDVCunNknaskSFTYi/qLOjYiIn+TkQFISLFxoxu3awWuvwbXX2huXiNOpcyMi4gcffmi6NQsXQkgIJCebYypsRPxPnRsRER/yeEwhM2kSeL1wzTWmW5OQYHdkIiWHihsRER/Zswf69IGMDDO+806zpUJUlK1hiZQ4mpYSEblClgVz5kCLFqawqVjRLBieN0+FjYgd1LkREbkCP/0EQ4ZAeroZ/+EPMH8+1Kxpa1giJZo6NyIil+m998y+UOnpEBZmHsbndquwEbGbOjciIkV04gQ8/DBMnWrGjRqZu6JatrQ3LhExVNyIiBTBzp3Quzfs2mXGSUnw9NNQpoy9cYnIbzQtJSJyCbxeeP55aN3aFDZVq8I778C0aSpsRAKNOjciIhdx4IC5rdvtNuPu3eGVV0yBIyKBR50bEZELWL4c4uJMYVO6NLz0Erz9tgobkUCmzo2ISCGOHoWRI2HuXDNu2dIsGm7UyN64ROTi1LkREfkfW7eaYmbuXHC54KGHYMsWFTYiwUKdGxGR/8rPN3tCPfGE+e+aNWHBAujY0e7IRKQoVNyIiADffAP9+sHGjWbcqxfMmGG2UhCR4KJpKREp0SzL7NrdvLkpbKKi4NVXYdEiFTYiwUqdGxEpsQ4fhn/8AxYvNuP27U2hU7eurWGJyBVS50ZESqT16023ZvFiCA2FcePMMRU2IsFPnRsRKVFOnjQLhp96ykxJXXutucW7bVu7IxMRX7G1czNjxgzi4uKIjo4mOjqahIQEVq1adcH3LF26lIYNGxIZGUmzZs1YuXJlMUUrIsFu925ISDB3RFkWDBwIO3aosBFxGluLm5o1azJp0iS2b9/Otm3b+MMf/sAdd9zBZ599Vuj5mzZtIjExkUGDBrFjxw569OhBjx492HV6BzsRkUJYFsycaZ5d88knUKkSvPEGvPyyWUAsIs5S5OJmwIABbNiwwScfftttt3HrrbdSv359rrvuOiZMmEC5cuXYsmVLoedPnTqVW265hdGjR9OoUSPGjx9PfHw806ZN80k8IuI8P/4Id9xhFg7/+it06gT/93/w5z/bHZmI+EuR19zk5OTQqVMn6tSpw1133cWAAQOoUaPGFQeSn5/P0qVLOXbsGAkJCYWes3nzZkaNGnXWsa5du5Kenn7e6+bl5ZGXl1cwzs3NBcDj8eDxeK447jOdvp6vrxsonJ4fOD/Hkpbfu++6GDIklIMHXYSHWzz5pJf77vMSEgLB+i0oaT9Dp3F6fuC/HItyPZdlWVZRP+DHH39kwYIFzJ8/n88//5xOnToxaNAg7rjjDsLCwop0rZ07d5KQkMCJEycoV64caWlp3HrrrYWeGx4ezvz580lMTCw49tJLLzF27FgOHjxY6HuSk5MZO3bsOcfT0tIoU6ZMkWIVkeCQlxfC/PlNWLnyGgBq185l5Mjt1K2ba3NkInK5jh8/Tu/evcnJySE6OvqC515WcXOmTz75hHnz5jF37lzKlStH3759ueeee6hfv/4lvf/kyZPs37+fnJwcli1bxty5c1m/fj2NGzc+59zLKW4K69zUqlWLn3766aLfnKLyeDy43W46d+5c5CIvGDg9P3B+jiUhv9mzP2b27A588YWZdR82LJ8JE7yULm1zcD5SEn6Gyi+4+SvH3NxcqlSpcknFzRXdCp6VlYXb7cbtdhMaGsqtt97Kzp07ady4MU8//TQjR4686DXCw8OpV68eAK1atSIjI4OpU6cya9asc86NiYk5p4g5ePAgMTEx571+REQEERER5xwPCwvz228sf147EDg9P3B+jk7Mz+uFKVNCePTRGzl1KoRq1SA1FW65JRQItTs8n3Piz/BMyi/4+TrHolyryAuKPR4Pb7zxBn/84x+pU6cOS5cuZcSIERw4cID58+fz/vvvs2TJEsaNG1fUSwPg9XrP6rScKSEhgTVr1px1zO12n3eNjoiUDD/8AF26wEMPhXLqVCh//KOXnTvhllvsjkxE7FDkzk1sbCxer5fExES2bt1KixYtzjnnpptuokKFChe91pgxY+jWrRu1a9fmyJEjpKWlsW7dOlavXg1A//79qVGjBikpKQAMHz6cDh06MHnyZLp3787ixYvZtm0bs2fPLmoaIuIQb7wBQ4bAL79A6dIWd975Kc8/34TwcD2AXaSkKnJxM2XKFHr27ElkZOR5z6lQoQL79u276LUOHTpE//79ycrKonz58sTFxbF69Wo6d+4MwP79+wkJ+e0vqPbt25OWlsZjjz3GI488Qv369UlPT6dp06ZFTUNEgtyRIzB8OMybZ8atWkFq6im++upbXK4m9gYnIrYqcnHTr18/n334yy+/fMHX161bd86xnj170rNnT5/FICLBZ8sW6NsXvvoKXC54+GFITjb//dVXdkcnInbT3lIiEjROnYKJE80ml/n5ULs2LFgAN95oXnfwo0NEpAhU3IhIUPj6a+jXDzZtMuPevWH6dLiE5X0iUsJoxZ2IBDTLgldfhRYtTGETHQ2vvWZ28lZhIyKFUedGRALWL7/A0KGwZIkZ/+53Zhrq6qttDUtEApw6NyISkD74AOLiTGFTqhRMmADr1qmwEZGLU+dGRALKyZPw2GPw7LNmSqp+fTMF1aaN3ZGJSLBQcSMiAeOLL6BPH9ixw4yHDIHnnoNy5eyNS0SCi6alRMR2lgUvvQTx8aawqVwZli+H2bNV2IhI0alzIyK2OngQBg2Cd94x4y5dzFOHq1e3Ny4RCV7q3IiIbd55xywafucdiIiA55+HVatU2IjIlVHnRkSK3fHjMHq0mYoCaNbMLBpu1szeuETEGdS5EZFitWOH2eTydGEzYgRs3arCRkR8R8WNiBQLrxeefhratoUvv4TYWFi9GqZMgchIu6MTESfRtJSI+N1338GAAebBfAB/+pO5E6pKFXvjEhFnUudGRPxqyRKzaPiDD6BMGZgzB954w0+FTVYWDRYtgqwsP1xcRIKFihsR8YvcXNOt6dULDh82TxjOzITBg8Hl8tOHZmfT8PXXITvbTx8gIsFAxY2I+NymTWYX71dfhZAQePRR+Ogjs5WCiIi/ac2NiPjMqVMwfjw8+aRZQFynDrz2mtnN22+ysgqmoVz/3bfBtWOH2W0TzMrl2Fg/BiAigUbFjYj4xN690LcvfPyxGfftC9OmQfnyfv7gWbNg7Fjgt7/QSg0d+tvrTzwBycl+DkJEAomKGxG5IpYFqalw771w7JgpZmbOhL/9rZgCuPtuuP12AE5lZFBq6FBOzZxJqdPbiKtrI1LiqLgRkcv288+mtnjjDTPu0MGss6lduxiDOGPayTp1yvzasqXZhVNESiQtKBaRy7JmjbnF+403zPKWlBRzrFgLGxGRQqi4EZEiycuDBx6ATp3gwAFo0AC2bIGHH4bQUJuDi4nhy169ICbG5kBExE4qbkTkkn32mdk+YfJkMx46FLZvN3tFBYTYWHYnJmqdjUgJp+JGRC7KsuDFF6F1a/j0U/N04bfeghkzoGxZu6MTETmbFhSLyAVlZ8PAgbBqlRnfcgvMm6eZHxEJXOrciMh5vf02NGtmCpuICNO9WblShY2IBDZ1bkTkHMeOwf33m+fjgbkrKi0NmjSxNy4RkUuhzo2InOX0AuHThc3998PWrSpsRCR4qLgREQDy82HSJGjXDnbvhurVwe2GZ581U1IiIsFC01Iiwv790K8fbNhgxn/5i+ncVK5sb1wiIpfD1s5NSkoKbdq0ISoqiqpVq9KjRw927959wfekpqbicrnO+oqMjCymiEWcZ9Eis6ZmwwZzW/crr8DSpSpsRCR42VrcrF+/nqSkJLZs2YLb7cbj8dClSxeOHTt2wfdFR0eTlZVV8PXtt98WU8QizpGTY7o1vXub/27bFjIz4a67wOWyOzoRkctn67TUu+++e9Y4NTWVqlWrsn37dm688cbzvs/lchGje1FFLttHH7m480749lsICYHHHjNfYWF2RyYicuUCas1NTk4OAJUqVbrgeUePHqVOnTp4vV7i4+OZOHEiTc5zK0deXh55eXkF49zcXAA8Hg8ej8dHkVNwzTN/dRqn5wfOz/H4cQ8LFzbkjTdC8Xqhbl2L1NR8EhIsAII9baf//MD5OSq/4OevHItyPZdlWZZPP/0yeb1ebr/9dg4fPszGjRvPe97mzZvZs2cPcXFx5OTk8Oyzz7JhwwY+++wzatasec75ycnJjB079pzjaWlplClTxqc5iASyAwfKMmVKK/bsqQjATTftZ8iQnZQpc8rmyERELu748eP07t2bnJwcoqOjL3huwBQ3//jHP1i1ahUbN24stEg5H4/HQ6NGjUhMTGT8+PHnvF5Y56ZWrVr89NNPF/3mFJXH48HtdtO5c2fCHNjfd3p+4MwcLQvmzXNx//2hHDvmomzZk8yYYfG3vznvSRBO/Pn9L6fnqPyCn79yzM3NpUqVKpdU3ATEtNSwYcNYsWIFGzZsKFJhAxAWFkbLli3Zu3dvoa9HREQQUchDOsLCwvz2G8uf1w4ETs8PnJPjTz/BkCGQnm7GHTp46dv3A/72tz84Ir/zccrP70KcnqPyC36+zrEo17L1f90sy2LYsGEsX76ctWvXUrdu3SJfIz8/n507dxIbG+uHCEWC13vvmVu809PNQuGnn4bVq/O56qoTdocmIuJXtnZukpKSSEtL46233iIqKors7GwAypcvT+nSpQHo378/NWrUICUlBYBx48bRrl076tWrx+HDh3nmmWf49ttvGTx4sG15iASSEydgzBh4/nkzbtjQ7AvVsmXwLxgWEbkUthY3M2bMAKBjx45nHZ83bx533nknAPv37yck5LcG0y+//MKQIUPIzs6mYsWKtGrVik2bNtG4cePiClskYO3cCX36mF8B7rkHnnkGtHZeREoSW4ubS1nLvG7durPGU6ZMYcqUKX6KSCQ4eb3w4ovw0EOQlwdVq5onDXfvbndkIiLFLyAWFIvI5cvKgjvvNGtsAG691RQ21arZGpaIiG2cdy+oSAmSng7NmpnCJjISpk+HFStU2IhIyabOjUgQOnYMRo6EOXPMuGVLWLgQGjWyNy4RkUCgzo1IkMnIMMXMnDlmg8sHH4QtW1TYiIicpuJGJEjk58OECdC+PezZAzVrwpo18NRTEB5ud3QiIoFD01IiQeCbb6BfPzi97dpf/wozZ0LFiraGJSISkNS5ETlTVhYNFi0ytyAFiIULoXlzU9iUKwfz58PixSpsRETOR8WNyJmys2n4+uvw36dl2+nwYejdG/r2hdxcSEiATz+F/v3NWhsRESmcihuRALRhg+nWLFoEoaEwdqw5ds01dkcmIhL4tOZGJCurYBrKtWPHb7+W+u8fj9hY81UMTp6E5GSYNAksyxQzCxdCu3bF8vEiIo6g4kZk1izTGuG3PxClhg797fUnnjAVh5/t3m32hdq+3YzvugumToWoKL9/tIiIo6i4Ebn7brj9dgBOZWRQauhQTs2cSak2bczrfu7aWBbMng2jRsHx42ah8Jw58Je/+PVjRUQcS8WNyBnTTtapU+bXli0hPt7vH/3jjzB4MPzrX2Z8882QmmqeYSMiIpdHC4pFbPLuuxAXZwqb8HB49lmzR5QKGxGRK6PiRuRMMTF82asXxMT47SN+/RXuuw+6dTN3nDduDFu3wv33Q4j+RIqIXDH9VSpypthYdicm+m2dzaefQps28OKLZnzvvbBtm7ntW0REfEPFjUgx8Hrhuefg+uvhs8+gWjVYuRJeeAFKl7Y7OhERZ9GCYhE/++EHuPNOeP99M77tNpg7F6pWtTUsERHHUudGxI/eeMMsGn7/fdOhmTkT3npLhY2IiD+pcyPiB0ePwvDh8MorZhwfb5403LChvXGJiJQE6tyI+NjHH0OLFqawcbng4Ydh82YVNiIixUWdGxEfOXUKUlLMTg75+VCrFixYAB062B2ZiEjJouJGxAf27YO+fWHTJjP+299gxgyoUMHWsERESiRNS4lcAcuCV181z6nZtAmio023Ji1NhY2IiF3UuRG5TL/8AkOHwpIlZnzDDfDaa3D11baGJSJS4qlzI3IZPvjA3OK9ZAmEhsL48bBunQobEZFAoM6NSBGcPAmPPw7PPGOmpOrVM7d4X3+93ZGJiMhpKm5ELtEXX0CfPrBjhxkPHgxTpkC5cvbGJSIiZ9O0lMhFWJa586lVK1PYVKoEb74Jc+aosBERCUTq3IhcwKFDMGgQrFhhxp07Q2oqVK9ua1giInIB6tyInMfKldCsmSlswsPNFNS776qwEREJdLYWNykpKbRp04aoqCiqVq1Kjx492L1790Xft3TpUho2bEhkZCTNmjVj5cqVxRCtlBR5eSEMHx5C9+6mc9O0KWRkwIgREKL/HRARCXi2/lW9fv16kpKS2LJlC263G4/HQ5cuXTh27Nh537Np0yYSExMZNGgQO3bsoEePHvTo0YNdu3YVY+TiVJmZcP/9HZkxIxQwm19mZJjbvkVEJDjYuubm3XffPWucmppK1apV2b59OzfeeGOh75k6dSq33HILo0ePBmD8+PG43W6mTZvGzJkz/R6zOJPXC5Mnw6OPlsLjiSImxiI11UXXrnZHJiIiRRVQC4pzcnIAqFSp0nnP2bx5M6NGjTrrWNeuXUlPTy/0/Ly8PPLy8grGubm5AHg8HjwezxVGfLbT1/P1dQOFU/P7/nsYNCiUDz4IAVy0bZvFkiXliY0Nw2GpOvZneJrT8wPn56j8gp+/cizK9VyWZVk+/fTL5PV6uf322zl8+DAbN24873nh4eHMnz+fxMTEgmMvvfQSY8eO5eDBg+ecn5yczNixY885npaWRpkyZXwTvAStjz6qzowZzTl6NJyIiFMMHryTTp3243LZHZmIiJzp+PHj9O7dm5ycHKKjoy94bsB0bpKSkti1a9cFC5vLMWbMmLM6Pbm5udSqVYsuXbpc9JtTVB6PB7fbTefOnQkLC/PptQOBk/LLzYWRI0NZsMAsO2vVysv8+RZ16zbA7d7viBwL46SfYWGcnh84P0flF/z8lePpmZdLERDFzbBhw1ixYgUbNmygZs2aFzw3JibmnA7NwYMHiYmJKfT8iIgIIiIizjkeFhbmt99Y/rx2IAj2/DZvNk8a3rfP3P00Zgw88UQIYWEhBdNQwZ7jxSi/4Of0HJVf8PN1jkW5lq13S1mWxbBhw1i+fDlr166lbt26F31PQkICa9asOeuY2+0mISHBX2GKQ5w6BcnJ8Pvfm8KmTh2z2eWTT4LD/44RESlRbO3cJCUlkZaWxltvvUVUVBTZ2dkAlC9fntKlSwPQv39/atSoQUpKCgDDhw+nQ4cOTJ48me7du7N48WK2bdvG7NmzbctDAt9XX0HfvrBlixn36QPTp0P58vbGJSIivmdr52bGjBnk5OTQsWNHYmNjC75ef/31gnP2799PVlZWwbh9+/akpaUxe/ZsmjdvzrJly0hPT6dp06Z2pCABzrLMdgktWpjCpnx5SEuD115TYSMi4lS2dm4u5UatdevWnXOsZ8+e9OzZ0w8RiZP85z9w992wbJkZ33gjvPqqmY4SERHn0sPkxZHWrjVPFV62DEqVgokTzTEVNiIizhcQd0uJ+EpeHjz6qHnaMMB118HChdC6tb1xiYhI8VFxI47x2WdmofCnn5rx3/8Ozz0HZcvaG5eIiBQvTUtJ0LMsmDbNdGc+/RSqVIH0dJg1S4WNiEhJpM6NBLXsbBg4EFatMuOuXc3dUed5pqOIiJQA6txI0Hr7bbNoeNUqiIiAqVNh5UoVNiIiJZ06NxJ0jh+H+++HmTPNOC7OLBrWo45ERATUuZEgs307xMf/VtiMGgVbt6qwERGR36i4kaCQnw9PPQXt2sHu3VC9Orjd5pbvQvZFFRGREkzTUhLw9u+H/v1h/Xoz/vOfYfZsqFzZ3rhERCQwqXMjAW3xYrOmZv16c1v3yy+bpw6rsBERkfNR50YCUm4uDBsGCxaYcdu2ZrPLevXsjUtERAKfOjcScD76CJo3N4VNSAg8/jh8+KEKGxERuTTq3EjA8Hhg3DizyaXXC1dfbbo1N9xgd2QiIhJMVNxIQNizB/r2Nbd1g1lA/OKLEB1tb1wiIhJ8NC0ltrIss0i4ZUtT2FSoYBYRz5+vwkZERC6POjdim59/hiFDYPlyM+7YEV59FWrVsjUsEREJcurciC3cbnOL9/LlEBZmHtD3/vsqbERE5MqpcyPF6sQJeOQRmDLFjBs0gLQ0s6WCiIiIL6i4kWKzaxf07g07d5rxP/4Bzz4LZcrYG5eIiDiLpqXE77xemDoVWrc2hc1VV8Hbb8NLL6mwERER31PnRvwqKwvuugtWrzbjW2+FV16BatXsjUtERJxLnRvxm7fegmbNTGETGQnTpsGKFSpsRETEv9S5EZ87dgxGjoQ5c8y4RQtYuBAaN7Y1LBERKSHUuRGfysgwD+SbMwdcLnjgAdiyRYWNiIgUHxU34hP5+WZPqPbtzVYKNWqY59Y88wxERNgdnYiIlCSalpIr9u230K+f2bkboGdPmDkTKlWyNy4RESmZ1LmRK5KWZp40/OGHUK4cpKbC66+rsBEREfuocyOX5fBhSEoyxQ1Au3bw2mtw7bW2hiUiIqLOjRTdhx+6aN7cFDahoZCcbDo3KmxERCQQqHMjl8zjgddea8Qbb4RiWXDNNaZbk5Bgd2QiIiK/sbVzs2HDBm677TaqV6+Oy+UiPT39guevW7cOl8t1zld2dnbxBFyC/fvfcOONoSxbdh2W5eLOOyEzU4WNiIgEHluLm2PHjtG8eXOmT59epPft3r2brKysgq+qVav6KUKxLJg92zy7Zvv2EMqVO8miRaeYNw+iouyOTkRE5Fy2Tkt169aNbt26Ffl9VatWpUKFCr4PSM7y448wZIjZRgHgppu89OnzAX/5yx/sDUxEROQCgnLNTYsWLcjLy6Np06YkJydzww03nPfcvLw88vLyCsa5ubkAeDwePB6PT+M6fT1fX9cO773nYvDgULKzXYSFWTz5pJd77sljzZoTjsjvfJz0MyyM8gt+Ts9R+QU/f+VYlOu5LMuyfPrpl8nlcrF8+XJ69Ohx3nN2797NunXraN26NXl5ecydO5cFCxbw8ccfEx8fX+h7kpOTGTt27DnH09LSKFOmjK/Cd4y8vBAWLGjMihXm1qeaNY8watQ2rrkm1+bIRESkJDt+/Di9e/cmJyeH6OjoC54bVMVNYTp06EDt2rVZsGBBoa8X1rmpVasWP/3000W/OUXl8Xhwu9107tyZsLAwn167OPzf/0H//qX4/HMXAPfck09KipfSpc3rwZ7fpXB6jsov+Dk9R+UX/PyVY25uLlWqVLmk4iYop6XOdP3117Nx48bzvh4REUFEIZsbhYWF+e03lj+v7Q9eL0ydCg8/DCdPQtWqMG8e3HprKBB6zvnBlt/lcHqOyi/4OT1H5Rf8fJ1jUa4V9MVNZmYmsbGxdocRtA4cgAEDzCaXAH/8I7z8silwREREgpGtxc3Ro0fZu3dvwXjfvn1kZmZSqVIlateuzZgxY/jhhx949dVXAXj++eepW7cuTZo04cSJE8ydO5e1a9fy3nvv2ZVCUHvzTXM31H/+A6VLw3PPwd13g8tld2QiIiKXz9biZtu2bdx0000F41GjRgEwYMAAUlNTycrKYv/+/QWvnzx5kvvvv58ffviBMmXKEBcXx/vvv3/WNeTijh6F4cPhlVfMOD4eFi6Ehg3tjUtERMQXbC1uOnbsyIXWM6empp41fvDBB3nwwQf9HJWzbd0KffrA3r2mQ/PggzBuHISH2x2ZiIiIbwT9mhu5NKdOQUoKjB0L+flQqxa8+ip07Gh3ZCIiIr6l4qYE2LcP+vWDjz4y4169YMYMqFjR3rhERET8wda9pcS/LAsWLIDmzU1hExVlujWLFqmwERER51LnxqF++QX+8Q94/XUzvuEGU+jUrWtvXCIiIv6mzo0DrVtnujWvvw6hoTB+vDmmwkZEREoCdW4c5ORJ+Oc/4emnzZTUtdeaW7zbtrU7MhERkeKj4sYhvvzS3OL9ySdmPGgQPP88lCtna1giIiLFTtNSQc6yYOZM8yC+Tz6BSpXgjTdg7lwVNiIiUjKpcxPEDh2CwYPh7bfNuFMnmD8fqle3Ny4RERE7qXMTpFauhGbNTGETHm72hVq9WoWNiIiIOjdB5tdfYfRomD7djJs0gbQ0iIuzNy4REZFAoc5NEMnMhNatfyts7rsPMjJU2IiIiJxJxU0Q8Hrh2Wfh+uvh888hJgbefRemToXSpe2OTkREJLBoWirAff89DBgAa9ea8R13wJw5cNVV9sYlIiISqNS5CWDLlpkpp7VroUwZmDULli9XYSMiInIh6twEoCNHzHqa1FQzbt3aPGn4uutsDUtERCQoqHMTYDZvhhYtTGHjcsEjj8CmTSpsRERELpU6NwHi1Cl48knzlZ8PtWubXbxvvNHuyERERIKLipsA8PXX0Lev6doA9O5tbveuUMHWsERERIKSpqVsZFlm+ql5c1PYREfDa6+Z9TUqbERERC6POjc2+c9/4O67zR1RAL//Pbz6Klx9ta1hiYiIBD11bmywdq25xXvZMihVCiZMgA8+UGEjIiLiC+rcFKO8PHjsMZg82UxJ1a9vpqDatLE7MhEREedQcVNMvvjCLBTOzDTjv//d7ORdtqytYYmIiDiOpqX8zLLMnU/x8aawqVwZ0tPN04ZV2IiIiPieOjd+dPAgDBwIK1eacdeuMG8exMbaG5eIiIiTqXPjJytWQLNmprCJiDA7eK9cqcJGRETE39S58bG8vFDuvTeEWbPMuFkzSEuDpk3tjUtERKSkUHHjQzt2wP33d+D770MBGDkSJk6EyEibAxMRESlBVNz4yLJl0Lt3KTyeKGJjLebPd9G5s91RiYiIlDwqbnzkhhvM9gn16x/gzTevIjY2zO6QRERESiRbFxRv2LCB2267jerVq+NyuUhPT7/oe9atW0d8fDwRERHUq1eP1NRUv8d5KWJjYcu/DvBK7VFU8WTZHY6IiEiJZWtxc+zYMZo3b8706dMv6fx9+/bRvXt3brrpJjIzMxkxYgSDBw9m9erVfo700tQp9QONlrwO2dl2hyIiIlJi2Tot1a1bN7p163bJ58+cOZO6desyefJkABo1asTGjRuZMmUKXbt29VeYIiIiEkSCas3N5s2b6dSp01nHunbtyogRI877nry8PPLy8grGubm5AHg8Hjwez5UHlZVV0KnxbttW8GvBlWNiHPNwm9PfL5983wKU03NUfsHP6Tkqv+DnrxyLcr2gKm6ys7OpVq3aWceqVatGbm4uv/76K6VLlz7nPSkpKYwdO/ac4++99x5lypS54pgaLFpEw9dfP+tYRFJSwX9/2asXuxMTr/hzAonb7bY7BL9zeo7KL/g5PUflF/x8nePx48cv+dygKm4ux5gxYxg1alTBODc3l1q1atGlSxeio6Ov/ANatsTz3+t7t20jIimJvOnTCWndGoBrY2K41kGdG7fbTefOnQkLc+bdYE7PUfkFP6fnqPyCn79yPD3zcimCqriJiYnh4MGDZx07ePAg0dHRhXZtACIiIoiIiDjneFhYmG++6bVrmy8omIoKad2asOuvv/JrByiffe8CmNNzVH7Bz+k5Kr/g5+sci3KtoNpbKiEhgTVr1px1zO12k5CQYFNEIiIiEmhsLW6OHj1KZmYmmZmZgLnVOzMzk/379wNmSql///4F5w8dOpSvv/6aBx98kC+//JKXXnqJJUuWMHLkSDvCP1dMDF/26mUWEYuIiIgtbC1utm3bRsuWLWnZsiUAo0aNomXLlvzzn/8EICsrq6DQAahbty7vvPMObreb5s2bM3nyZObOnRs4t4HHxprFww5ZYyMiIhKMbF1z07FjRyzLOu/rhT19uGPHjuzYscOPUYmIiEgwC6o1NyIiIiIXo+JGREREHEXFjYiIiDiKihsRERFxFBU3IiIi4igqbkRERMRRVNyIiIiIo6i4EREREUdRcSMiIiKOElS7gvvC6SciF2Xr9Evl8Xg4fvw4ubm5jtzt1en5gfNzVH7Bz+k5Kr/g568cT/+7faGdDU4rccXNkSNHAKhVq5bNkYiIiEhRHTlyhPLly1/wHJd1KSWQg3i9Xg4cOEBUVBQul8un187NzaVWrVp89913REdH+/TagcDp+YHzc1R+wc/pOSq/4OevHC3L4siRI1SvXp2QkAuvqilxnZuQkBBq1qzp18+Ijo527G9acH5+4PwclV/wc3qOyi/4+SPHi3VsTtOCYhEREXEUFTciIiLiKCpufCgiIoInnniCiIgIu0PxC6fnB87PUfkFP6fnqPyCXyDkWOIWFIuIiIizqXMjIiIijqLiRkRERBxFxY2IiIg4ioobERERcRQVN1coJSWFNm3aEBUVRdWqVenRowe7d++2OyyfmjFjBnFxcQUPZEpISGDVqlV2h+U3kyZNwuVyMWLECLtD8Znk5GRcLtdZXw0bNrQ7LJ/64Ycf6Nu3L5UrV6Z06dI0a9aMbdu22R2WT1x99dXn/PxcLhdJSUl2h+Yz+fn5PP7449StW5fSpUtz7bXXMn78+EvaRyhYHDlyhBEjRlCnTh1Kly5N+/btycjIsDusy7JhwwZuu+02qlevjsvlIj09/azXLcvin//8J7GxsZQuXZpOnTqxZ8+eYotPxc0VWr9+PUlJSWzZsgW3243H46FLly4cO3bM7tB8pmbNmkyaNInt27ezbds2/vCHP3DHHXfw2Wef2R2az2VkZDBr1izi4uLsDsXnmjRpQlZWVsHXxo0b7Q7JZ3755RduuOEGwsLCWLVqFZ9//jmTJ0+mYsWKdofmExkZGWf97NxuNwA9e/a0OTLfeeqpp5gxYwbTpk3jiy++4KmnnuLpp5/mxRdftDs0nxk8eDBut5sFCxawc+dOunTpQqdOnfjhhx/sDq3Ijh07RvPmzZk+fXqhrz/99NO88MILzJw5k48//piyZcvStWtXTpw4UTwBWuJThw4dsgBr/fr1dofiVxUrVrTmzp1rdxg+deTIEat+/fqW2+22OnToYA0fPtzukHzmiSeesJo3b253GH7z0EMPWb/73e/sDqPYDB8+3Lr22mstr9drdyg+0717d2vgwIFnHfvzn/9s9enTx6aIfOv48eNWaGiotWLFirOOx8fHW48++qhNUfkGYC1fvrxg7PV6rZiYGOuZZ54pOHb48GErIiLCWrRoUbHEpM6Nj+Xk5ABQqVIlmyPxj/z8fBYvXsyxY8dISEiwOxyfSkpKonv37nTq1MnuUPxiz549VK9enWuuuYY+ffqwf/9+u0PymX/961+0bt2anj17UrVqVVq2bMmcOXPsDssvTp48yWuvvcbAgQN9vvmvndq3b8+aNWv497//DcCnn37Kxo0b6datm82R+capU6fIz88nMjLyrOOlS5d2VBcVYN++fWRnZ5/1d2n58uVp27YtmzdvLpYYStzGmf7k9XoZMWIEN9xwA02bNrU7HJ/auXMnCQkJnDhxgnLlyrF8+XIaN25sd1g+s3jxYj755JOgnf++mLZt25KamkqDBg3Iyspi7Nix/P73v2fXrl1ERUXZHd4V+/rrr5kxYwajRo3ikUceISMjg/vuu4/w8HAGDBhgd3g+lZ6ezuHDh7nzzjvtDsWnHn74YXJzc2nYsCGhoaHk5+czYcIE+vTpY3doPhEVFUVCQgLjx4+nUaNGVKtWjUWLFrF582bq1atnd3g+lZ2dDUC1atXOOl6tWrWC1/xNxY0PJSUlsWvXLsdV4QANGjQgMzOTnJwcli1bxoABA1i/fr0jCpzvvvuO4cOH43a7z/m/Kqc48/9+4+LiaNu2LXXq1GHJkiUMGjTIxsh8w+v10rp1ayZOnAhAy5Yt2bVrFzNnznRccfPyyy/TrVs3qlevbncoPrVkyRIWLlxIWloaTZo0ITMzkxEjRlC9enXH/AwXLFjAwIEDqVGjBqGhocTHx5OYmMj27dvtDs1xNC3lI8OGDWPFihV88MEH1KxZ0+5wfC48PJx69erRqlUrUlJSaN68OVOnTrU7LJ/Yvn07hw4dIj4+nlKlSlGqVCnWr1/PCy+8QKlSpcjPz7c7RJ+rUKEC1113HXv37rU7FJ+IjY09p9Bu1KiRo6beAL799lvef/99Bg8ebHcoPjd69Ggefvhh/va3v9GsWTP69evHyJEjSUlJsTs0n7n22mtZv349R48e5bvvvmPr1q14PB6uueYau0PzqZiYGAAOHjx41vGDBw8WvOZvKm6ukGVZDBs2jOXLl7N27Vrq1q1rd0jFwuv1kpeXZ3cYPnHzzTezc+dOMjMzC75at25Nnz59yMzMJDQ01O4Qfe7o0aN89dVXxMbG2h2KT9xwww3nPILh3//+N3Xq1LEpIv+YN28eVatWpXv37naH4nPHjx8nJOTsf5JCQ0Pxer02ReQ/ZcuWJTY2ll9++YXVq1dzxx132B2ST9WtW5eYmBjWrFlTcCw3N5ePP/642NZqalrqCiUlJZGWlsZbb71FVFRUwXxi+fLlKV26tM3R+caYMWPo1q0btWvX5siRI6SlpbFu3TpWr15td2g+ERUVdc4aqbJly1K5cmXHrJ164IEHuO2226hTpw4HDhzgiSeeIDQ0lMTERLtD84mRI0fSvn17Jk6cyF//+le2bt3K7NmzmT17tt2h+YzX62XevHkMGDCAUqWc91f3bbfdxoQJE6hduzZNmjRhx44dPPfccwwcONDu0Hxm9erVWJZFgwYN2Lt3L6NHj6Zhw4bcdddddodWZEePHj2r87tv3z4yMzOpVKkStWvXZsSIETz55JPUr1+funXr8vjjj1O9enV69OhRPAEWyz1ZDgYU+jVv3jy7Q/OZgQMHWnXq1LHCw8Otq666yrr55put9957z+6w/Mppt4L36tXLio2NtcLDw60aNWpYvXr1svbu3Wt3WD719ttvW02bNrUiIiKshg0bWrNnz7Y7JJ9avXq1BVi7d++2OxS/yM3NtYYPH27Vrl3bioyMtK655hrr0UcftfLy8uwOzWdef/1165prrrHCw8OtmJgYKykpyTp8+LDdYV2WDz74oNB/+wYMGGBZlrkd/PHHH7eqVatmRUREWDfffHOx/t51WZaDHv8oIiIiJZ7W3IiIiIijqLgRERERR1FxIyIiIo6i4kZEREQcRcWNiIiIOIqKGxEREXEUFTciIiLiKCpuRERExFFU3IiIiIijqLgRERERR1FxIyIiIo6i4kZEgt6PP/5ITEwMEydOLDi2adMmwsPDWbNmjY2RiYgdtHGmiDjCypUr6dGjB5s2baJBgwa0aNGCO+64g+eee87u0ESkmKm4ERHHSEpK4v3336d169bs3LmTjIwMIiIi7A5LRIqZihsRcYxff/2Vpk2b8t1337F9+3aaNWtmd0giYgOtuRERx/jqq684cOAAXq+Xb775xu5wRMQm6tyIiCOcPHmS66+/nhYtWtCgQQOef/55du7cSdWqVe0OTUSKmYobEXGE0aNHs2zZMj799FPKlStHhw4dKF++PCtWrLA7NBEpZpqWEpGgt27dOp5//nkWLFhAdHQ0ISEhLFiwgA8//JAZM2bYHZ6IFDN1bkRERMRR1LkRERERR1FxIyIiIo6i4kZEREQcRcWNiIiIOIqKGxEREXEUFTciIiLiKCpuRERExFFU3IiIiIijqLgRERERR1FxIyIiIo6i4kZEREQc5f8DTsupQkaRpnI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x = [2, 4, 6, 8, 10]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y = [1, 2.3, 2.7, 3.8, 5]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_[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((5,1)), x] # adiciona x0 = 1 em cada instância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lin_reg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lin_reg.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y)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lin_reg.intercept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lin_reg.coef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44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Complexidade computacional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Equação normal, por envolver inversão de matrizes, é lenta.</a:t>
            </a:r>
          </a:p>
          <a:p>
            <a:r>
              <a:rPr lang="pt-BR" dirty="0" smtClean="0"/>
              <a:t>O método implementado pelo </a:t>
            </a:r>
            <a:r>
              <a:rPr lang="pt-BR" dirty="0" err="1" smtClean="0"/>
              <a:t>Skilearn</a:t>
            </a:r>
            <a:r>
              <a:rPr lang="pt-BR" dirty="0" smtClean="0"/>
              <a:t> é de “mínimos quadrados”</a:t>
            </a:r>
          </a:p>
          <a:p>
            <a:r>
              <a:rPr lang="pt-BR" dirty="0" smtClean="0"/>
              <a:t>Ao dobrar o número de características, o tempo multiplica por 8</a:t>
            </a:r>
            <a:r>
              <a:rPr lang="pt-BR" dirty="0" smtClean="0"/>
              <a:t>.</a:t>
            </a:r>
          </a:p>
          <a:p>
            <a:r>
              <a:rPr lang="pt-BR" dirty="0" smtClean="0"/>
              <a:t>Existe muita memória RAM para carregamento dos dados.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64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Técnicas para encontrar os parâmetros da equação da reta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Algébrica a partir de dois pontos</a:t>
            </a:r>
          </a:p>
          <a:p>
            <a:r>
              <a:rPr lang="pt-BR" dirty="0" smtClean="0"/>
              <a:t>Forma fechada</a:t>
            </a:r>
          </a:p>
          <a:p>
            <a:r>
              <a:rPr lang="pt-BR" dirty="0" smtClean="0"/>
              <a:t>Mínimos quadrados</a:t>
            </a:r>
          </a:p>
          <a:p>
            <a:r>
              <a:rPr lang="pt-BR" b="1" dirty="0" smtClean="0"/>
              <a:t>Gradiente Descendente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899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Gradiente Descendente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86984" y="1825625"/>
            <a:ext cx="5766816" cy="4351338"/>
          </a:xfrm>
        </p:spPr>
        <p:txBody>
          <a:bodyPr/>
          <a:lstStyle/>
          <a:p>
            <a:r>
              <a:rPr lang="pt-BR" dirty="0" smtClean="0"/>
              <a:t>‘Chute inicial’: a=</a:t>
            </a:r>
            <a:r>
              <a:rPr lang="es-ES" dirty="0"/>
              <a:t> </a:t>
            </a:r>
            <a:r>
              <a:rPr lang="es-ES" dirty="0" smtClean="0"/>
              <a:t>0,45 e b </a:t>
            </a:r>
            <a:r>
              <a:rPr lang="es-ES" dirty="0"/>
              <a:t>= </a:t>
            </a:r>
            <a:r>
              <a:rPr lang="es-ES" dirty="0" smtClean="0"/>
              <a:t>0,1</a:t>
            </a:r>
          </a:p>
          <a:p>
            <a:r>
              <a:rPr lang="es-ES" dirty="0" smtClean="0"/>
              <a:t>RMSE = 0,58 </a:t>
            </a:r>
            <a:endParaRPr lang="pt-BR" dirty="0"/>
          </a:p>
        </p:txBody>
      </p:sp>
      <p:pic>
        <p:nvPicPr>
          <p:cNvPr id="21506" name="Picture 2" descr="Gradient Descent - ML Pil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022" y="3200400"/>
            <a:ext cx="6515361" cy="406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07" y="1426106"/>
            <a:ext cx="4657521" cy="3548587"/>
          </a:xfrm>
          <a:prstGeom prst="rect">
            <a:avLst/>
          </a:prstGeom>
        </p:spPr>
      </p:pic>
      <p:cxnSp>
        <p:nvCxnSpPr>
          <p:cNvPr id="6" name="Conector de Seta Reta 5"/>
          <p:cNvCxnSpPr/>
          <p:nvPr/>
        </p:nvCxnSpPr>
        <p:spPr>
          <a:xfrm flipH="1">
            <a:off x="6675120" y="2770632"/>
            <a:ext cx="731520" cy="12893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97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 descr="Figura 18. Superfície de perda convexa 3D com pontos de gradiente descendente se movendo para o ponto mais baixo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04" y="-92368"/>
            <a:ext cx="11439144" cy="718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53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Gradiente Descendente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8434" name="Picture 2" descr="Gradiente Descendente Estocástico (Otimizador das redes neurai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263" y="1690688"/>
            <a:ext cx="8758982" cy="492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39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Ajuste dos parâmetros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Para “que lado” eu devo corrigir o valor do parâmetro de maneira a reduzir o erro e não aumentar?</a:t>
            </a:r>
          </a:p>
          <a:p>
            <a:r>
              <a:rPr lang="pt-BR" dirty="0" smtClean="0"/>
              <a:t>Como eu meço a inclinação da curva de perda?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1344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335024" y="5934813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</a:t>
            </a:r>
            <a:r>
              <a:rPr lang="pt-BR" dirty="0" smtClean="0"/>
              <a:t>(x) = </a:t>
            </a:r>
            <a:r>
              <a:rPr lang="es-ES" dirty="0" smtClean="0"/>
              <a:t>0,45x + 0,1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43" y="2386226"/>
            <a:ext cx="4657521" cy="354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7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335024" y="5934813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</a:t>
            </a:r>
            <a:r>
              <a:rPr lang="pt-BR" dirty="0" smtClean="0"/>
              <a:t>(x) = </a:t>
            </a:r>
            <a:r>
              <a:rPr lang="es-ES" dirty="0" smtClean="0"/>
              <a:t>0,45x + 0,1</a:t>
            </a:r>
          </a:p>
          <a:p>
            <a:pPr marL="0" indent="0">
              <a:buNone/>
            </a:pPr>
            <a:r>
              <a:rPr lang="es-ES" dirty="0" smtClean="0"/>
              <a:t>f’(x) = 0,45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43" y="2386226"/>
            <a:ext cx="4657521" cy="3548587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2176272" y="5870804"/>
            <a:ext cx="740664" cy="60461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/>
          <p:nvPr/>
        </p:nvCxnSpPr>
        <p:spPr>
          <a:xfrm flipH="1">
            <a:off x="914400" y="5431536"/>
            <a:ext cx="4069080" cy="2743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75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87796" y="5916882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f(x) = x</a:t>
            </a:r>
            <a:r>
              <a:rPr lang="pt-BR" baseline="30000" dirty="0" smtClean="0"/>
              <a:t>2</a:t>
            </a:r>
            <a:r>
              <a:rPr lang="pt-BR" dirty="0" smtClean="0"/>
              <a:t> + 4x + 4</a:t>
            </a:r>
            <a:endParaRPr lang="es-ES" dirty="0" smtClean="0"/>
          </a:p>
        </p:txBody>
      </p:sp>
      <p:pic>
        <p:nvPicPr>
          <p:cNvPr id="1030" name="Picture 6" descr="https://s1.static.brasilescola.uol.com.br/be/e/Untitled-6(97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71" y="231451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e 5"/>
          <p:cNvSpPr/>
          <p:nvPr/>
        </p:nvSpPr>
        <p:spPr>
          <a:xfrm>
            <a:off x="6172200" y="3639855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/>
          <p:nvPr/>
        </p:nvCxnSpPr>
        <p:spPr>
          <a:xfrm flipH="1" flipV="1">
            <a:off x="5678424" y="2179581"/>
            <a:ext cx="1197864" cy="33159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67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87796" y="5916882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f(x) = x</a:t>
            </a:r>
            <a:r>
              <a:rPr lang="pt-BR" baseline="30000" dirty="0" smtClean="0"/>
              <a:t>2</a:t>
            </a:r>
            <a:r>
              <a:rPr lang="pt-BR" dirty="0" smtClean="0"/>
              <a:t> + 4x + 4</a:t>
            </a:r>
            <a:endParaRPr lang="es-ES" dirty="0" smtClean="0"/>
          </a:p>
        </p:txBody>
      </p:sp>
      <p:pic>
        <p:nvPicPr>
          <p:cNvPr id="1030" name="Picture 6" descr="https://s1.static.brasilescola.uol.com.br/be/e/Untitled-6(97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71" y="231451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e 5"/>
          <p:cNvSpPr/>
          <p:nvPr/>
        </p:nvSpPr>
        <p:spPr>
          <a:xfrm>
            <a:off x="6172200" y="3639855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/>
          <p:nvPr/>
        </p:nvCxnSpPr>
        <p:spPr>
          <a:xfrm flipH="1" flipV="1">
            <a:off x="5678424" y="2179581"/>
            <a:ext cx="1197864" cy="33159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4910328" y="2441448"/>
            <a:ext cx="676656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3879159" y="2439526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b + -8x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449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87796" y="5916882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f(x) = x</a:t>
            </a:r>
            <a:r>
              <a:rPr lang="pt-BR" baseline="30000" dirty="0" smtClean="0"/>
              <a:t>2</a:t>
            </a:r>
            <a:r>
              <a:rPr lang="pt-BR" dirty="0" smtClean="0"/>
              <a:t> + 4x + 4</a:t>
            </a:r>
            <a:endParaRPr lang="es-ES" dirty="0" smtClean="0"/>
          </a:p>
        </p:txBody>
      </p:sp>
      <p:pic>
        <p:nvPicPr>
          <p:cNvPr id="1030" name="Picture 6" descr="https://s1.static.brasilescola.uol.com.br/be/e/Untitled-6(97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71" y="231451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e 5"/>
          <p:cNvSpPr/>
          <p:nvPr/>
        </p:nvSpPr>
        <p:spPr>
          <a:xfrm>
            <a:off x="7327392" y="5340096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/>
          <p:nvPr/>
        </p:nvCxnSpPr>
        <p:spPr>
          <a:xfrm flipH="1">
            <a:off x="5987797" y="5404104"/>
            <a:ext cx="4244339" cy="914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 flipV="1">
            <a:off x="5303520" y="4837176"/>
            <a:ext cx="684276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171767" y="4139767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0 + 0x</a:t>
            </a:r>
            <a:endParaRPr lang="es-ES" dirty="0"/>
          </a:p>
        </p:txBody>
      </p:sp>
      <p:cxnSp>
        <p:nvCxnSpPr>
          <p:cNvPr id="16" name="Conector de Seta Reta 15"/>
          <p:cNvCxnSpPr/>
          <p:nvPr/>
        </p:nvCxnSpPr>
        <p:spPr>
          <a:xfrm flipH="1">
            <a:off x="4910328" y="2441448"/>
            <a:ext cx="676656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3879159" y="2439526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b + -8x</a:t>
            </a:r>
            <a:endParaRPr lang="es-ES" dirty="0"/>
          </a:p>
        </p:txBody>
      </p:sp>
      <p:sp>
        <p:nvSpPr>
          <p:cNvPr id="18" name="Elipse 17"/>
          <p:cNvSpPr/>
          <p:nvPr/>
        </p:nvSpPr>
        <p:spPr>
          <a:xfrm>
            <a:off x="6172200" y="3639855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/>
          <p:nvPr/>
        </p:nvCxnSpPr>
        <p:spPr>
          <a:xfrm flipH="1" flipV="1">
            <a:off x="5678424" y="2179581"/>
            <a:ext cx="1197864" cy="33159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99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87796" y="5916882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f(x) = x</a:t>
            </a:r>
            <a:r>
              <a:rPr lang="pt-BR" baseline="30000" dirty="0" smtClean="0"/>
              <a:t>2</a:t>
            </a:r>
            <a:r>
              <a:rPr lang="pt-BR" dirty="0" smtClean="0"/>
              <a:t> + 4x + 4</a:t>
            </a:r>
            <a:endParaRPr lang="es-ES" dirty="0" smtClean="0"/>
          </a:p>
        </p:txBody>
      </p:sp>
      <p:pic>
        <p:nvPicPr>
          <p:cNvPr id="1030" name="Picture 6" descr="https://s1.static.brasilescola.uol.com.br/be/e/Untitled-6(97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71" y="231451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e 5"/>
          <p:cNvSpPr/>
          <p:nvPr/>
        </p:nvSpPr>
        <p:spPr>
          <a:xfrm>
            <a:off x="8479536" y="3630168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/>
          <p:nvPr/>
        </p:nvCxnSpPr>
        <p:spPr>
          <a:xfrm flipH="1">
            <a:off x="7946136" y="1252728"/>
            <a:ext cx="1463040" cy="4416552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>
            <a:off x="9153144" y="2314518"/>
            <a:ext cx="778771" cy="995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10030954" y="2429839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4 + 4x</a:t>
            </a:r>
            <a:endParaRPr lang="es-ES" dirty="0"/>
          </a:p>
        </p:txBody>
      </p:sp>
      <p:sp>
        <p:nvSpPr>
          <p:cNvPr id="18" name="Elipse 17"/>
          <p:cNvSpPr/>
          <p:nvPr/>
        </p:nvSpPr>
        <p:spPr>
          <a:xfrm>
            <a:off x="7327392" y="5340096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/>
          <p:nvPr/>
        </p:nvCxnSpPr>
        <p:spPr>
          <a:xfrm flipH="1">
            <a:off x="5987797" y="5404104"/>
            <a:ext cx="4244339" cy="914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 flipV="1">
            <a:off x="5303520" y="4837176"/>
            <a:ext cx="684276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171767" y="4139767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0 + 0x</a:t>
            </a:r>
            <a:endParaRPr lang="es-ES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4910328" y="2441448"/>
            <a:ext cx="676656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/>
          <p:cNvSpPr/>
          <p:nvPr/>
        </p:nvSpPr>
        <p:spPr>
          <a:xfrm>
            <a:off x="3879159" y="2439526"/>
            <a:ext cx="1551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 smtClean="0"/>
              <a:t>Tangente</a:t>
            </a:r>
          </a:p>
          <a:p>
            <a:endParaRPr lang="es-ES" dirty="0"/>
          </a:p>
          <a:p>
            <a:r>
              <a:rPr lang="es-ES" dirty="0" smtClean="0"/>
              <a:t>y = b + -8x</a:t>
            </a:r>
            <a:endParaRPr lang="es-ES" dirty="0"/>
          </a:p>
        </p:txBody>
      </p:sp>
      <p:sp>
        <p:nvSpPr>
          <p:cNvPr id="25" name="Elipse 24"/>
          <p:cNvSpPr/>
          <p:nvPr/>
        </p:nvSpPr>
        <p:spPr>
          <a:xfrm>
            <a:off x="6172200" y="3639855"/>
            <a:ext cx="155448" cy="14630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/>
          <p:nvPr/>
        </p:nvCxnSpPr>
        <p:spPr>
          <a:xfrm flipH="1" flipV="1">
            <a:off x="5678424" y="2179581"/>
            <a:ext cx="1197864" cy="33159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33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de Função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Representa a taxa de variação (ou inclinação da reta tangente)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335024" y="5934813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</a:t>
            </a:r>
            <a:r>
              <a:rPr lang="pt-BR" dirty="0" smtClean="0"/>
              <a:t>(x) = </a:t>
            </a:r>
            <a:r>
              <a:rPr lang="es-ES" dirty="0" smtClean="0"/>
              <a:t>0,45x + 0,1</a:t>
            </a:r>
          </a:p>
          <a:p>
            <a:pPr marL="0" indent="0">
              <a:buNone/>
            </a:pPr>
            <a:r>
              <a:rPr lang="es-ES" dirty="0" smtClean="0"/>
              <a:t>f’(x) = 0,45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43" y="2386226"/>
            <a:ext cx="4657521" cy="354858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87796" y="5916882"/>
            <a:ext cx="2990088" cy="1209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</a:t>
            </a:r>
            <a:r>
              <a:rPr lang="pt-BR" dirty="0" smtClean="0"/>
              <a:t>(x) = x</a:t>
            </a:r>
            <a:r>
              <a:rPr lang="pt-BR" baseline="30000" dirty="0" smtClean="0"/>
              <a:t>2</a:t>
            </a:r>
            <a:r>
              <a:rPr lang="pt-BR" dirty="0" smtClean="0"/>
              <a:t> + 4x + 4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f’(x) = 2x + 4</a:t>
            </a:r>
          </a:p>
        </p:txBody>
      </p:sp>
      <p:pic>
        <p:nvPicPr>
          <p:cNvPr id="1030" name="Picture 6" descr="https://s1.static.brasilescola.uol.com.br/be/e/Untitled-6(97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71" y="231451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13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Cálculo de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3055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Regra da Potência</a:t>
            </a:r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Constante</a:t>
            </a:r>
          </a:p>
          <a:p>
            <a:endParaRPr lang="pt-BR" dirty="0"/>
          </a:p>
          <a:p>
            <a:r>
              <a:rPr lang="pt-BR" dirty="0" smtClean="0"/>
              <a:t>Constante multiplicativa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Soma e diferença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400921" y="2551819"/>
                <a:ext cx="19967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921" y="2551819"/>
                <a:ext cx="1996700" cy="369332"/>
              </a:xfrm>
              <a:prstGeom prst="rect">
                <a:avLst/>
              </a:prstGeom>
              <a:blipFill>
                <a:blip r:embed="rId2"/>
                <a:stretch>
                  <a:fillRect l="-5199" t="-1667" r="-1223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945968" y="2551819"/>
                <a:ext cx="149217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968" y="2551819"/>
                <a:ext cx="1492175" cy="369332"/>
              </a:xfrm>
              <a:prstGeom prst="rect">
                <a:avLst/>
              </a:prstGeom>
              <a:blipFill>
                <a:blip r:embed="rId3"/>
                <a:stretch>
                  <a:fillRect l="-408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ta para a Direita 5"/>
          <p:cNvSpPr/>
          <p:nvPr/>
        </p:nvSpPr>
        <p:spPr>
          <a:xfrm>
            <a:off x="3686360" y="2633472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778328" y="3743476"/>
                <a:ext cx="149217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28" y="3743476"/>
                <a:ext cx="1492175" cy="369332"/>
              </a:xfrm>
              <a:prstGeom prst="rect">
                <a:avLst/>
              </a:prstGeom>
              <a:blipFill>
                <a:blip r:embed="rId4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4210631" y="3718036"/>
                <a:ext cx="13488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31" y="3718036"/>
                <a:ext cx="1348895" cy="369332"/>
              </a:xfrm>
              <a:prstGeom prst="rect">
                <a:avLst/>
              </a:prstGeom>
              <a:blipFill>
                <a:blip r:embed="rId5"/>
                <a:stretch>
                  <a:fillRect l="-7692" r="-4977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 para a Direita 8"/>
          <p:cNvSpPr/>
          <p:nvPr/>
        </p:nvSpPr>
        <p:spPr>
          <a:xfrm>
            <a:off x="3496070" y="3799689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4233281" y="4993219"/>
                <a:ext cx="25460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81" y="4993219"/>
                <a:ext cx="2546018" cy="369332"/>
              </a:xfrm>
              <a:prstGeom prst="rect">
                <a:avLst/>
              </a:prstGeom>
              <a:blipFill>
                <a:blip r:embed="rId6"/>
                <a:stretch>
                  <a:fillRect l="-3589" r="-4067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1778328" y="4993219"/>
                <a:ext cx="18061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28" y="4993219"/>
                <a:ext cx="1806120" cy="369332"/>
              </a:xfrm>
              <a:prstGeom prst="rect">
                <a:avLst/>
              </a:prstGeom>
              <a:blipFill>
                <a:blip r:embed="rId7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518720" y="5074872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4210631" y="6162024"/>
                <a:ext cx="26091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31" y="6162024"/>
                <a:ext cx="2609112" cy="369332"/>
              </a:xfrm>
              <a:prstGeom prst="rect">
                <a:avLst/>
              </a:prstGeom>
              <a:blipFill>
                <a:blip r:embed="rId8"/>
                <a:stretch>
                  <a:fillRect l="-3738" r="-701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1517904" y="6162024"/>
                <a:ext cx="204389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04" y="6162024"/>
                <a:ext cx="2043894" cy="369332"/>
              </a:xfrm>
              <a:prstGeom prst="rect">
                <a:avLst/>
              </a:prstGeom>
              <a:blipFill>
                <a:blip r:embed="rId9"/>
                <a:stretch>
                  <a:fillRect l="-6866" r="-3284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ta para a Direita 17"/>
          <p:cNvSpPr/>
          <p:nvPr/>
        </p:nvSpPr>
        <p:spPr>
          <a:xfrm>
            <a:off x="3653042" y="6208680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56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Cálculo de Derivada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3055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Regra da Potência</a:t>
            </a:r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Constante</a:t>
            </a:r>
          </a:p>
          <a:p>
            <a:endParaRPr lang="pt-BR" dirty="0"/>
          </a:p>
          <a:p>
            <a:r>
              <a:rPr lang="pt-BR" dirty="0" smtClean="0"/>
              <a:t>Constante multiplicativa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Soma e diferença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400921" y="2551819"/>
                <a:ext cx="19967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921" y="2551819"/>
                <a:ext cx="1996700" cy="369332"/>
              </a:xfrm>
              <a:prstGeom prst="rect">
                <a:avLst/>
              </a:prstGeom>
              <a:blipFill>
                <a:blip r:embed="rId2"/>
                <a:stretch>
                  <a:fillRect l="-5199" t="-1667" r="-1223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945968" y="2551819"/>
                <a:ext cx="149217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968" y="2551819"/>
                <a:ext cx="1492175" cy="369332"/>
              </a:xfrm>
              <a:prstGeom prst="rect">
                <a:avLst/>
              </a:prstGeom>
              <a:blipFill>
                <a:blip r:embed="rId3"/>
                <a:stretch>
                  <a:fillRect l="-408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ta para a Direita 5"/>
          <p:cNvSpPr/>
          <p:nvPr/>
        </p:nvSpPr>
        <p:spPr>
          <a:xfrm>
            <a:off x="3686360" y="2633472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778328" y="3743476"/>
                <a:ext cx="149217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28" y="3743476"/>
                <a:ext cx="1492175" cy="369332"/>
              </a:xfrm>
              <a:prstGeom prst="rect">
                <a:avLst/>
              </a:prstGeom>
              <a:blipFill>
                <a:blip r:embed="rId4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4210631" y="3718036"/>
                <a:ext cx="13488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31" y="3718036"/>
                <a:ext cx="1348895" cy="369332"/>
              </a:xfrm>
              <a:prstGeom prst="rect">
                <a:avLst/>
              </a:prstGeom>
              <a:blipFill>
                <a:blip r:embed="rId5"/>
                <a:stretch>
                  <a:fillRect l="-7692" r="-4977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 para a Direita 8"/>
          <p:cNvSpPr/>
          <p:nvPr/>
        </p:nvSpPr>
        <p:spPr>
          <a:xfrm>
            <a:off x="3496070" y="3799689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4233281" y="4993219"/>
                <a:ext cx="25460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81" y="4993219"/>
                <a:ext cx="2546018" cy="369332"/>
              </a:xfrm>
              <a:prstGeom prst="rect">
                <a:avLst/>
              </a:prstGeom>
              <a:blipFill>
                <a:blip r:embed="rId6"/>
                <a:stretch>
                  <a:fillRect l="-3589" r="-4067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1778328" y="4993219"/>
                <a:ext cx="18061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28" y="4993219"/>
                <a:ext cx="1806120" cy="369332"/>
              </a:xfrm>
              <a:prstGeom prst="rect">
                <a:avLst/>
              </a:prstGeom>
              <a:blipFill>
                <a:blip r:embed="rId7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518720" y="5074872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4210631" y="6162024"/>
                <a:ext cx="26091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31" y="6162024"/>
                <a:ext cx="2609112" cy="369332"/>
              </a:xfrm>
              <a:prstGeom prst="rect">
                <a:avLst/>
              </a:prstGeom>
              <a:blipFill>
                <a:blip r:embed="rId8"/>
                <a:stretch>
                  <a:fillRect l="-3738" r="-701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1517904" y="6162024"/>
                <a:ext cx="204389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04" y="6162024"/>
                <a:ext cx="2043894" cy="369332"/>
              </a:xfrm>
              <a:prstGeom prst="rect">
                <a:avLst/>
              </a:prstGeom>
              <a:blipFill>
                <a:blip r:embed="rId9"/>
                <a:stretch>
                  <a:fillRect l="-6866" r="-3284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ta para a Direita 17"/>
          <p:cNvSpPr/>
          <p:nvPr/>
        </p:nvSpPr>
        <p:spPr>
          <a:xfrm>
            <a:off x="3653042" y="6208680"/>
            <a:ext cx="466344" cy="287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571231" y="1511061"/>
            <a:ext cx="4343401" cy="4985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u="sng" dirty="0" smtClean="0"/>
              <a:t>Exemplo 1</a:t>
            </a:r>
          </a:p>
          <a:p>
            <a:pPr marL="0" indent="0">
              <a:buNone/>
            </a:pPr>
            <a:r>
              <a:rPr lang="pt-BR" dirty="0" smtClean="0"/>
              <a:t>f(x) = </a:t>
            </a:r>
            <a:r>
              <a:rPr lang="es-ES" dirty="0" smtClean="0"/>
              <a:t>0,45x + 0,1</a:t>
            </a:r>
          </a:p>
          <a:p>
            <a:pPr marL="0" indent="0">
              <a:buNone/>
            </a:pPr>
            <a:r>
              <a:rPr lang="es-ES" dirty="0"/>
              <a:t>f’(x) = </a:t>
            </a:r>
            <a:r>
              <a:rPr lang="es-ES" dirty="0" smtClean="0"/>
              <a:t>0,45.(1x</a:t>
            </a:r>
            <a:r>
              <a:rPr lang="es-ES" baseline="30000" dirty="0" smtClean="0"/>
              <a:t>1-1</a:t>
            </a:r>
            <a:r>
              <a:rPr lang="es-ES" dirty="0" smtClean="0"/>
              <a:t>) + 0</a:t>
            </a:r>
            <a:endParaRPr lang="es-ES" dirty="0"/>
          </a:p>
          <a:p>
            <a:pPr marL="0" indent="0">
              <a:buNone/>
            </a:pPr>
            <a:r>
              <a:rPr lang="es-ES" dirty="0" smtClean="0"/>
              <a:t>f’(x) = 0,45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u="sng" dirty="0" err="1" smtClean="0"/>
              <a:t>Exemplo</a:t>
            </a:r>
            <a:r>
              <a:rPr lang="es-ES" u="sng" dirty="0" smtClean="0"/>
              <a:t> 2</a:t>
            </a:r>
          </a:p>
          <a:p>
            <a:pPr marL="0" indent="0">
              <a:buNone/>
            </a:pPr>
            <a:r>
              <a:rPr lang="pt-BR" dirty="0"/>
              <a:t>f(x) = x</a:t>
            </a:r>
            <a:r>
              <a:rPr lang="pt-BR" baseline="30000" dirty="0"/>
              <a:t>2</a:t>
            </a:r>
            <a:r>
              <a:rPr lang="pt-BR" dirty="0"/>
              <a:t> + 4x + </a:t>
            </a:r>
            <a:r>
              <a:rPr lang="pt-BR" dirty="0" smtClean="0"/>
              <a:t>4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f’(x) = </a:t>
            </a:r>
            <a:r>
              <a:rPr lang="es-ES" dirty="0" smtClean="0"/>
              <a:t>1.(2x</a:t>
            </a:r>
            <a:r>
              <a:rPr lang="es-ES" baseline="30000" dirty="0" smtClean="0"/>
              <a:t>2-1</a:t>
            </a:r>
            <a:r>
              <a:rPr lang="es-ES" dirty="0" smtClean="0"/>
              <a:t>) </a:t>
            </a:r>
            <a:r>
              <a:rPr lang="es-ES" dirty="0"/>
              <a:t>+ </a:t>
            </a:r>
            <a:r>
              <a:rPr lang="es-ES" dirty="0" smtClean="0"/>
              <a:t>4.(1x</a:t>
            </a:r>
            <a:r>
              <a:rPr lang="es-ES" baseline="30000" dirty="0" smtClean="0"/>
              <a:t>1-1</a:t>
            </a:r>
            <a:r>
              <a:rPr lang="es-ES" dirty="0" smtClean="0"/>
              <a:t>)+0</a:t>
            </a:r>
          </a:p>
          <a:p>
            <a:pPr marL="0" indent="0">
              <a:buNone/>
            </a:pPr>
            <a:r>
              <a:rPr lang="es-ES" dirty="0"/>
              <a:t>f’(x) = 2x + 4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9718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2859497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O ajuste do meu parâmetro consistem em ajustar os coeficientes de </a:t>
                </a:r>
                <a:r>
                  <a:rPr lang="pt-BR" dirty="0" err="1" smtClean="0"/>
                  <a:t>tetha</a:t>
                </a:r>
                <a:r>
                  <a:rPr lang="pt-BR" dirty="0" smtClean="0"/>
                  <a:t>: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/>
                      </m:sSup>
                    </m:oMath>
                  </m:oMathPara>
                </a14:m>
                <a:endParaRPr lang="pt-BR" dirty="0" smtClean="0"/>
              </a:p>
              <a:p>
                <a:endParaRPr lang="pt-BR" dirty="0"/>
              </a:p>
              <a:p>
                <a:r>
                  <a:rPr lang="pt-BR" dirty="0" smtClean="0"/>
                  <a:t>Para tanto, o objetivo é minimizar o erro (por exemplo o MSE)</a:t>
                </a:r>
              </a:p>
              <a:p>
                <a:endParaRPr lang="pt-BR" dirty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2859497"/>
              </a:xfrm>
              <a:blipFill>
                <a:blip r:embed="rId2"/>
                <a:stretch>
                  <a:fillRect l="-1043" t="-34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Aprendizagem da máquina: uma introdução ao erro quadrático médio e linhas  de regress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360" y="4470340"/>
            <a:ext cx="3375659" cy="9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11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36042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 smtClean="0"/>
                  <a:t>O ajuste do meu parâmetro consistem em ajustar os coeficientes de </a:t>
                </a:r>
                <a:r>
                  <a:rPr lang="pt-BR" dirty="0" err="1" smtClean="0"/>
                  <a:t>theta</a:t>
                </a:r>
                <a:r>
                  <a:rPr lang="pt-BR" dirty="0" smtClean="0"/>
                  <a:t>: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/>
                      </m:sSup>
                    </m:oMath>
                  </m:oMathPara>
                </a14:m>
                <a:endParaRPr lang="pt-BR" dirty="0" smtClean="0"/>
              </a:p>
              <a:p>
                <a:endParaRPr lang="pt-BR" dirty="0"/>
              </a:p>
              <a:p>
                <a:r>
                  <a:rPr lang="pt-BR" dirty="0" smtClean="0"/>
                  <a:t>Para tanto, o objetivo é minimizar o erro (por exemplo o MSE)</a:t>
                </a:r>
              </a:p>
              <a:p>
                <a:endParaRPr lang="pt-BR" dirty="0" smtClean="0"/>
              </a:p>
              <a:p>
                <a:endParaRPr lang="pt-BR" dirty="0"/>
              </a:p>
              <a:p>
                <a:r>
                  <a:rPr lang="pt-BR" dirty="0" smtClean="0"/>
                  <a:t>O erro é calculado em função de </a:t>
                </a:r>
                <a:r>
                  <a:rPr lang="pt-BR" dirty="0" err="1" smtClean="0"/>
                  <a:t>theta</a:t>
                </a:r>
                <a:r>
                  <a:rPr lang="pt-BR" dirty="0" smtClean="0"/>
                  <a:t>:</a:t>
                </a:r>
              </a:p>
              <a:p>
                <a:endParaRPr lang="pt-BR" dirty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3604214"/>
              </a:xfrm>
              <a:blipFill>
                <a:blip r:embed="rId2"/>
                <a:stretch>
                  <a:fillRect l="-1043" t="-3716" b="-30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Aprendizagem da máquina: uma introdução ao erro quadrático médio e linhas  de regress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141" y="4253524"/>
            <a:ext cx="3375659" cy="9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6962332" y="5564774"/>
                <a:ext cx="4497578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32" y="5564774"/>
                <a:ext cx="4497578" cy="1176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40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859497"/>
          </a:xfrm>
        </p:spPr>
        <p:txBody>
          <a:bodyPr>
            <a:normAutofit/>
          </a:bodyPr>
          <a:lstStyle/>
          <a:p>
            <a:r>
              <a:rPr lang="pt-BR" dirty="0" smtClean="0"/>
              <a:t>Para sabem então para o sentido de correção dos parâmetros em </a:t>
            </a:r>
            <a:r>
              <a:rPr lang="pt-BR" dirty="0" err="1" smtClean="0"/>
              <a:t>theta</a:t>
            </a:r>
            <a:r>
              <a:rPr lang="pt-BR" dirty="0" smtClean="0"/>
              <a:t>, se calcula a inclinação da curva de perda (calcula sua derivada)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838200" y="3978230"/>
                <a:ext cx="4497578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78230"/>
                <a:ext cx="4497578" cy="1176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6473709" y="3995071"/>
                <a:ext cx="5485283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/>
                          </m:sSup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709" y="3995071"/>
                <a:ext cx="5485283" cy="1176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6885396" y="5736123"/>
                <a:ext cx="4468404" cy="6115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 smtClean="0"/>
                  <a:t>)</a:t>
                </a:r>
                <a:endParaRPr lang="pt-BR" sz="2800" dirty="0"/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396" y="5736123"/>
                <a:ext cx="4468404" cy="611578"/>
              </a:xfrm>
              <a:prstGeom prst="rect">
                <a:avLst/>
              </a:prstGeom>
              <a:blipFill>
                <a:blip r:embed="rId4"/>
                <a:stretch>
                  <a:fillRect t="-2000" b="-21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36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Estimando </a:t>
            </a:r>
            <a:r>
              <a:rPr lang="pt-BR" dirty="0" smtClean="0">
                <a:sym typeface="Symbol" panose="05050102010706020507" pitchFamily="18" charset="2"/>
              </a:rPr>
              <a:t>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407"/>
          </a:xfrm>
        </p:spPr>
        <p:txBody>
          <a:bodyPr>
            <a:normAutofit/>
          </a:bodyPr>
          <a:lstStyle/>
          <a:p>
            <a:r>
              <a:rPr lang="pt-BR" dirty="0" smtClean="0"/>
              <a:t>Vetor gradiente da função de custo: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Etapa do gradiente descendente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>
                <a:sym typeface="Symbol" panose="05050102010706020507" pitchFamily="18" charset="2"/>
              </a:rPr>
              <a:t>O </a:t>
            </a:r>
            <a:r>
              <a:rPr lang="pt-BR" dirty="0" err="1" smtClean="0">
                <a:sym typeface="Symbol" panose="05050102010706020507" pitchFamily="18" charset="2"/>
              </a:rPr>
              <a:t>eta</a:t>
            </a:r>
            <a:r>
              <a:rPr lang="pt-BR" dirty="0" smtClean="0">
                <a:sym typeface="Symbol" panose="05050102010706020507" pitchFamily="18" charset="2"/>
              </a:rPr>
              <a:t> () é a “</a:t>
            </a:r>
            <a:r>
              <a:rPr lang="pt-BR" b="1" dirty="0" smtClean="0">
                <a:sym typeface="Symbol" panose="05050102010706020507" pitchFamily="18" charset="2"/>
              </a:rPr>
              <a:t>taxa de aprendizado</a:t>
            </a:r>
            <a:r>
              <a:rPr lang="pt-BR" dirty="0" smtClean="0">
                <a:sym typeface="Symbol" panose="05050102010706020507" pitchFamily="18" charset="2"/>
              </a:rPr>
              <a:t>”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2429610" y="4604613"/>
                <a:ext cx="62517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ó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𝑥𝑖𝑚𝑜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𝑎𝑡𝑢𝑎𝑙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610" y="4604613"/>
                <a:ext cx="625177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1969267" y="2412820"/>
                <a:ext cx="4183005" cy="611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 smtClean="0"/>
                  <a:t>)</a:t>
                </a:r>
                <a:endParaRPr lang="pt-BR" sz="2800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267" y="2412820"/>
                <a:ext cx="4183005" cy="611578"/>
              </a:xfrm>
              <a:prstGeom prst="rect">
                <a:avLst/>
              </a:prstGeom>
              <a:blipFill>
                <a:blip r:embed="rId3"/>
                <a:stretch>
                  <a:fillRect t="-2000" r="-4373" b="-21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80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gradiente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404594" y="1690688"/>
            <a:ext cx="972846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np.array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]) </a:t>
            </a:r>
            <a:r>
              <a:rPr lang="pt-BR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# chute inicial 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grad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= 2/n*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X_t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* (X *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tetha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- y)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gradientes = (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x_b.shape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]) * x_b.T.dot(x_b.dot(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) - y)</a:t>
            </a:r>
          </a:p>
          <a:p>
            <a:r>
              <a:rPr lang="pt-BR" dirty="0" err="1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'Gradientes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: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{gradientes}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taxa de aprendizado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0.01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i = 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0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 err="1">
                <a:solidFill>
                  <a:srgbClr val="9723B4"/>
                </a:solidFill>
                <a:latin typeface="Courier New" panose="020703090202050204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np.</a:t>
            </a:r>
            <a:r>
              <a:rPr lang="pt-BR" dirty="0" err="1">
                <a:solidFill>
                  <a:srgbClr val="6A5221"/>
                </a:solidFill>
                <a:latin typeface="Courier New" panose="02070309020205020404" pitchFamily="49" charset="0"/>
              </a:rPr>
              <a:t>abs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(gradientes).</a:t>
            </a:r>
            <a:r>
              <a:rPr lang="pt-BR" dirty="0">
                <a:solidFill>
                  <a:srgbClr val="6A5221"/>
                </a:solidFill>
                <a:latin typeface="Courier New" panose="02070309020205020404" pitchFamily="49" charset="0"/>
              </a:rPr>
              <a:t>sum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()/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&gt; 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0.001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pt-BR" dirty="0" err="1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'[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{i}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] 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Tetha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: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 (erro=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np.</a:t>
            </a:r>
            <a:r>
              <a:rPr lang="pt-BR" dirty="0" err="1">
                <a:solidFill>
                  <a:srgbClr val="6A5221"/>
                </a:solidFill>
                <a:latin typeface="Courier New" panose="02070309020205020404" pitchFamily="49" charset="0"/>
              </a:rPr>
              <a:t>abs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(gradientes).</a:t>
            </a:r>
            <a:r>
              <a:rPr lang="pt-BR" dirty="0">
                <a:solidFill>
                  <a:srgbClr val="6A5221"/>
                </a:solidFill>
                <a:latin typeface="Courier New" panose="02070309020205020404" pitchFamily="49" charset="0"/>
              </a:rPr>
              <a:t>sum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()/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)'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grad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= 2/n*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X_t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* (X *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tetha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- y)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gradientes = (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x_b.shape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]) * x_b.T.dot(x_b.dot(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) - y)</a:t>
            </a: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novo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tetha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-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eta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* gradientes</a:t>
            </a:r>
          </a:p>
          <a:p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  i = i +</a:t>
            </a:r>
            <a:r>
              <a:rPr lang="pt-BR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7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Processo de ajuste do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O ajuste do modelo (ou “treinamento” do agente de IA) consiste em ajustar os parâmetros do modelo, visando minimizar a função custo.</a:t>
            </a:r>
          </a:p>
          <a:p>
            <a:r>
              <a:rPr lang="pt-BR" dirty="0" smtClean="0"/>
              <a:t>Os métodos adotados em aprendizagem de máquina geralmente realizam esse ajuste de maneira iterativa ao longo de vários ciclos de aprendizagem, chamado de </a:t>
            </a:r>
            <a:r>
              <a:rPr lang="pt-BR" b="1" dirty="0" smtClean="0"/>
              <a:t>épocas de treinamento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772211" y="4410050"/>
            <a:ext cx="11353800" cy="1754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CONCEITOS-CHAVE: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Uma </a:t>
            </a:r>
            <a:r>
              <a:rPr lang="pt-BR" sz="2400" b="1" dirty="0"/>
              <a:t>época</a:t>
            </a:r>
            <a:r>
              <a:rPr lang="pt-BR" sz="2400" dirty="0"/>
              <a:t> (</a:t>
            </a:r>
            <a:r>
              <a:rPr lang="pt-BR" sz="2400" dirty="0" err="1"/>
              <a:t>epoch</a:t>
            </a:r>
            <a:r>
              <a:rPr lang="pt-BR" sz="2400" dirty="0"/>
              <a:t>) em aprendizado de máquina é um ciclo completo em que o algoritmo processa todo o conjunto de dados de treinamento</a:t>
            </a:r>
            <a:r>
              <a:rPr lang="pt-BR" sz="2400" dirty="0" smtClean="0"/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0077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Gradiente Descendente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AutoShape 2" descr="../_images/output_gd_79c039_51_1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99" y="2278204"/>
            <a:ext cx="6078711" cy="436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5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Gradiente Descendente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Mínimos locais</a:t>
            </a:r>
            <a:endParaRPr lang="pt-BR" dirty="0"/>
          </a:p>
        </p:txBody>
      </p:sp>
      <p:sp>
        <p:nvSpPr>
          <p:cNvPr id="4" name="AutoShape 2" descr="../_images/output_gd_79c039_51_1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2" descr="../_images/output_gd_79c039_63_1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011" y="2155856"/>
            <a:ext cx="6841684" cy="50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6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Simular com diferentes taxas de aprendizado e épocas:</a:t>
            </a:r>
          </a:p>
          <a:p>
            <a:r>
              <a:rPr lang="pt-BR" dirty="0">
                <a:hlinkClick r:id="rId2"/>
              </a:rPr>
              <a:t>https://developers.google.com/machine-learning/crash-course/linear-regression?hl=pt-br</a:t>
            </a:r>
            <a:r>
              <a:rPr lang="pt-BR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010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Hiperparâmetros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24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Hiperparâmetros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Os </a:t>
            </a:r>
            <a:r>
              <a:rPr lang="pt-BR" b="1" dirty="0" smtClean="0"/>
              <a:t>parâmetros do modelo </a:t>
            </a:r>
            <a:r>
              <a:rPr lang="pt-BR" dirty="0" smtClean="0"/>
              <a:t>são as variáveis que fazem parte do modelo (e.g. ‘a’ e ‘b’)</a:t>
            </a:r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developers.google.com/machine-learning/crash-course/linear-regression/hyperparameters?hl=pt-br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40236" y="3088320"/>
            <a:ext cx="11353800" cy="30469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b="1" dirty="0">
                <a:solidFill>
                  <a:srgbClr val="C00000"/>
                </a:solidFill>
              </a:rPr>
              <a:t>CONCEITOS-CHAVE:</a:t>
            </a:r>
          </a:p>
          <a:p>
            <a:r>
              <a:rPr lang="pt-BR" sz="2400" b="1" dirty="0" err="1" smtClean="0"/>
              <a:t>Hiperparâmetros</a:t>
            </a:r>
            <a:r>
              <a:rPr lang="pt-BR" sz="2400" dirty="0" smtClean="0"/>
              <a:t> </a:t>
            </a:r>
            <a:r>
              <a:rPr lang="pt-BR" sz="2400" dirty="0"/>
              <a:t>são variáveis que controlam diferentes aspectos do treinamento. </a:t>
            </a:r>
            <a:endParaRPr lang="pt-BR" sz="2400" dirty="0" smtClean="0"/>
          </a:p>
          <a:p>
            <a:endParaRPr lang="pt-BR" sz="2400" dirty="0" smtClean="0"/>
          </a:p>
          <a:p>
            <a:r>
              <a:rPr lang="pt-BR" sz="2400" dirty="0" smtClean="0"/>
              <a:t>Exemplo</a:t>
            </a:r>
            <a:r>
              <a:rPr lang="pt-BR" sz="2400" dirty="0"/>
              <a:t>:</a:t>
            </a:r>
          </a:p>
          <a:p>
            <a:pPr lvl="1"/>
            <a:r>
              <a:rPr lang="pt-BR" sz="2400" dirty="0"/>
              <a:t>Taxa de aprendizado</a:t>
            </a:r>
          </a:p>
          <a:p>
            <a:pPr lvl="1"/>
            <a:r>
              <a:rPr lang="pt-BR" sz="2400" dirty="0"/>
              <a:t>Tamanho do lote</a:t>
            </a:r>
          </a:p>
          <a:p>
            <a:pPr lvl="1"/>
            <a:r>
              <a:rPr lang="pt-BR" sz="2400" dirty="0"/>
              <a:t>Número de Épocas</a:t>
            </a:r>
          </a:p>
        </p:txBody>
      </p:sp>
    </p:spTree>
    <p:extLst>
      <p:ext uri="{BB962C8B-B14F-4D97-AF65-F5344CB8AC3E}">
        <p14:creationId xmlns:p14="http://schemas.microsoft.com/office/powerpoint/2010/main" val="217585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ura 20. Curva de perda que mostra uma inclinação acentuada antes de se achata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501" y="2579625"/>
            <a:ext cx="4527524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gura 21. Curva de perda que mostra uma inclinação de quase 45 grau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519" y="2579625"/>
            <a:ext cx="4434646" cy="333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Taxa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38216" y="6223950"/>
            <a:ext cx="2599944" cy="6082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dirty="0" smtClean="0"/>
              <a:t>Taxa pequena</a:t>
            </a:r>
            <a:endParaRPr lang="pt-BR" sz="2400" dirty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952691" y="6193503"/>
            <a:ext cx="2599944" cy="608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2400" dirty="0" smtClean="0"/>
              <a:t>Taxa com convergência</a:t>
            </a:r>
            <a:endParaRPr lang="pt-BR" sz="2400" dirty="0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9127703" y="6111206"/>
            <a:ext cx="2599944" cy="608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2400" dirty="0" smtClean="0"/>
              <a:t>Taxa muito grande</a:t>
            </a:r>
            <a:endParaRPr lang="pt-BR" sz="2400" dirty="0"/>
          </a:p>
        </p:txBody>
      </p:sp>
      <p:pic>
        <p:nvPicPr>
          <p:cNvPr id="2054" name="Picture 6" descr="Figura 22. Curva de perda que mostra uma linha irregular para cima e para baixo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0" y="2693861"/>
            <a:ext cx="4089221" cy="310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838200" y="1690688"/>
            <a:ext cx="10070592" cy="6082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 smtClean="0"/>
              <a:t>Determina a magnitude das mudanças a serem feitas nos pesos e no viés durante cada etapa do processo de descida do gradiente.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87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Influência da taxa de aprendizado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407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7650" name="Picture 2" descr="Regressão Linear com Gradiente Descendente | by Bruno Dorneles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41" y="1825624"/>
            <a:ext cx="10157303" cy="399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do lote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Hiperparâmetro</a:t>
            </a:r>
            <a:r>
              <a:rPr lang="pt-BR" dirty="0" smtClean="0"/>
              <a:t> que se refere ao número de exemplos que o modelo processa antes de atualizar os pesos e o viés.</a:t>
            </a:r>
          </a:p>
          <a:p>
            <a:r>
              <a:rPr lang="pt-BR" dirty="0" smtClean="0"/>
              <a:t>Um caso extremo seria o modelos calcular </a:t>
            </a:r>
            <a:r>
              <a:rPr lang="pt-BR" dirty="0"/>
              <a:t>a perda para </a:t>
            </a:r>
            <a:r>
              <a:rPr lang="pt-BR" i="1" dirty="0"/>
              <a:t>todos</a:t>
            </a:r>
            <a:r>
              <a:rPr lang="pt-BR" dirty="0"/>
              <a:t> os exemplos no conjunto de dados antes de atualizar os pesos e o bias. No entanto, quando um conjunto de dados contém centenas de milhares ou até milhões de exemplos, usar o lote completo não é prático.</a:t>
            </a:r>
            <a:endParaRPr lang="pt-BR" dirty="0" smtClean="0"/>
          </a:p>
          <a:p>
            <a:r>
              <a:rPr lang="pt-BR" dirty="0" smtClean="0"/>
              <a:t>Duas técnicas para obter o gradiente médio:</a:t>
            </a:r>
          </a:p>
          <a:p>
            <a:pPr lvl="1"/>
            <a:r>
              <a:rPr lang="pt-BR" b="1" dirty="0"/>
              <a:t>Gradiente descendente estocástico (GDE</a:t>
            </a:r>
            <a:r>
              <a:rPr lang="pt-BR" b="1" dirty="0" smtClean="0"/>
              <a:t>)</a:t>
            </a:r>
            <a:endParaRPr lang="pt-BR" dirty="0"/>
          </a:p>
          <a:p>
            <a:pPr lvl="1"/>
            <a:r>
              <a:rPr lang="pt-BR" b="1" dirty="0"/>
              <a:t>Gradiente descendente estocástico com </a:t>
            </a:r>
            <a:r>
              <a:rPr lang="pt-BR" b="1" dirty="0" err="1"/>
              <a:t>minilotes</a:t>
            </a:r>
            <a:r>
              <a:rPr lang="pt-BR" b="1" dirty="0"/>
              <a:t> (GDE com </a:t>
            </a:r>
            <a:r>
              <a:rPr lang="pt-BR" b="1" dirty="0" err="1"/>
              <a:t>minilotes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212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do lote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846064" cy="4351338"/>
          </a:xfrm>
        </p:spPr>
        <p:txBody>
          <a:bodyPr>
            <a:normAutofit lnSpcReduction="10000"/>
          </a:bodyPr>
          <a:lstStyle/>
          <a:p>
            <a:r>
              <a:rPr lang="pt-BR" b="1" dirty="0" smtClean="0"/>
              <a:t>Gradiente </a:t>
            </a:r>
            <a:r>
              <a:rPr lang="pt-BR" b="1" dirty="0"/>
              <a:t>descendente estocástico (GDE)</a:t>
            </a:r>
            <a:r>
              <a:rPr lang="pt-BR" dirty="0"/>
              <a:t>: usa apenas um exemplo (tamanho do lote de um) por iteração. Com iterações suficientes, o SGD funciona, mas é muito ruidoso. "Ruído" se refere a variações durante o treinamento que fazem com que a perda aumente em vez de diminuir durante uma iteração. O termo "estocástico" indica que o exemplo que compõe cada lote é escolhido aleatoriamente.</a:t>
            </a:r>
          </a:p>
        </p:txBody>
      </p:sp>
      <p:pic>
        <p:nvPicPr>
          <p:cNvPr id="3076" name="Picture 4" descr="Figura 24. Curva de perda acentuada que se achata, mas com muitas pequenas flutuaçõ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1825625"/>
            <a:ext cx="58293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96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Tamanho do lote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846064" cy="4351338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Gradiente descendente estocástico com </a:t>
            </a:r>
            <a:r>
              <a:rPr lang="pt-BR" b="1" dirty="0" err="1"/>
              <a:t>minilotes</a:t>
            </a:r>
            <a:r>
              <a:rPr lang="pt-BR" b="1" dirty="0"/>
              <a:t> (GDE com </a:t>
            </a:r>
            <a:r>
              <a:rPr lang="pt-BR" b="1" dirty="0" err="1"/>
              <a:t>minilotes</a:t>
            </a:r>
            <a:r>
              <a:rPr lang="pt-BR" b="1" dirty="0"/>
              <a:t>)</a:t>
            </a:r>
            <a:r>
              <a:rPr lang="pt-BR" dirty="0"/>
              <a:t>: o GDE com </a:t>
            </a:r>
            <a:r>
              <a:rPr lang="pt-BR" dirty="0" err="1"/>
              <a:t>minilotes</a:t>
            </a:r>
            <a:r>
              <a:rPr lang="pt-BR" dirty="0"/>
              <a:t> é um meio-termo entre o GDE com lote completo e o GDE. Para </a:t>
            </a:r>
            <a:r>
              <a:rPr lang="pt-BR" dirty="0" smtClean="0"/>
              <a:t>N pontos </a:t>
            </a:r>
            <a:r>
              <a:rPr lang="pt-BR" dirty="0"/>
              <a:t>de dados, o tamanho do lote pode ser qualquer número maior que 1 e menor que </a:t>
            </a:r>
            <a:r>
              <a:rPr lang="pt-BR" dirty="0" smtClean="0"/>
              <a:t>N. </a:t>
            </a:r>
            <a:r>
              <a:rPr lang="pt-BR" dirty="0"/>
              <a:t>O modelo escolhe aleatoriamente os exemplos incluídos em cada lote, calcula a média dos gradientes e atualiza os pesos e o bias uma vez por iteração.</a:t>
            </a:r>
          </a:p>
          <a:p>
            <a:r>
              <a:rPr lang="pt-BR" dirty="0"/>
              <a:t>Determinar o número de exemplos para cada lote depende do conjunto de dados e dos recursos de computação disponíveis. Em geral, tamanhos de lote pequenos se comportam como SGD, e tamanhos de lote maiores se comportam como descida de gradiente de lote completo.</a:t>
            </a:r>
          </a:p>
        </p:txBody>
      </p:sp>
      <p:pic>
        <p:nvPicPr>
          <p:cNvPr id="4098" name="Picture 2" descr="Figura 25. Curva de perda acentuada que começa a se achatar, com flutuações muito menores perto da convergência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799" y="1235075"/>
            <a:ext cx="5981700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1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Número de Épocas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</a:t>
            </a:r>
            <a:r>
              <a:rPr lang="pt-BR" b="1" dirty="0" smtClean="0"/>
              <a:t>época</a:t>
            </a:r>
            <a:r>
              <a:rPr lang="pt-BR" dirty="0" smtClean="0"/>
              <a:t> significa que o modelo processou uma vez cada modelo no conjunto de treinamento.</a:t>
            </a:r>
          </a:p>
          <a:p>
            <a:r>
              <a:rPr lang="pt-BR" dirty="0"/>
              <a:t>Por exemplo, considerando um conjunto de treinamento com 1.000 exemplos e um tamanho de </a:t>
            </a:r>
            <a:r>
              <a:rPr lang="pt-BR" dirty="0" err="1"/>
              <a:t>mini-lote</a:t>
            </a:r>
            <a:r>
              <a:rPr lang="pt-BR" dirty="0"/>
              <a:t> de 100 exemplos, o modelo vai levar </a:t>
            </a:r>
            <a:r>
              <a:rPr lang="pt-BR" dirty="0" smtClean="0"/>
              <a:t>10 </a:t>
            </a:r>
            <a:r>
              <a:rPr lang="pt-BR" b="1" dirty="0" smtClean="0"/>
              <a:t>iterações</a:t>
            </a:r>
            <a:r>
              <a:rPr lang="pt-BR" dirty="0" smtClean="0"/>
              <a:t> para </a:t>
            </a:r>
            <a:r>
              <a:rPr lang="pt-BR" dirty="0"/>
              <a:t>concluir uma época</a:t>
            </a:r>
            <a:r>
              <a:rPr lang="pt-BR" dirty="0" smtClean="0"/>
              <a:t>.</a:t>
            </a:r>
          </a:p>
          <a:p>
            <a:r>
              <a:rPr lang="pt-BR" dirty="0" smtClean="0"/>
              <a:t>O treinamento geralmente requer muitas épocas.</a:t>
            </a:r>
          </a:p>
          <a:p>
            <a:r>
              <a:rPr lang="pt-BR" dirty="0" smtClean="0"/>
              <a:t>Quanto maior o número de épocas, mais tempo necessário para o treinamento.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372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Lote completo x </a:t>
            </a:r>
            <a:r>
              <a:rPr lang="pt-BR" dirty="0" err="1" smtClean="0"/>
              <a:t>Minilote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Figura 26. Um lote completo é todo o conjunto de dados, um minilote é um subconjunto do conjunto de dados, e um período é uma passagem completa por dez minilot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07" y="1238250"/>
            <a:ext cx="9990667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08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Épocas x lote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1690688"/>
            <a:ext cx="11879333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Aperfeiçoar o </a:t>
            </a:r>
            <a:r>
              <a:rPr lang="pt-BR" dirty="0" smtClean="0"/>
              <a:t>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Qual a melhor combinação de </a:t>
            </a:r>
            <a:r>
              <a:rPr lang="pt-BR" dirty="0" err="1" smtClean="0"/>
              <a:t>hiperparâmetros</a:t>
            </a:r>
            <a:r>
              <a:rPr lang="pt-BR" dirty="0" smtClean="0"/>
              <a:t>?</a:t>
            </a:r>
          </a:p>
          <a:p>
            <a:r>
              <a:rPr lang="pt-BR" dirty="0" smtClean="0"/>
              <a:t>Grid </a:t>
            </a:r>
            <a:r>
              <a:rPr lang="pt-BR" dirty="0" err="1" smtClean="0"/>
              <a:t>search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5" y="2818758"/>
            <a:ext cx="8825009" cy="40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26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Classificador binário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50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Classificador binário</a:t>
            </a:r>
            <a:endParaRPr lang="pt-BR" dirty="0"/>
          </a:p>
        </p:txBody>
      </p:sp>
      <p:sp>
        <p:nvSpPr>
          <p:cNvPr id="4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825625"/>
            <a:ext cx="542119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b="1" dirty="0" smtClean="0"/>
              <a:t>Conjunto de dados MNIST</a:t>
            </a:r>
          </a:p>
          <a:p>
            <a:pPr marL="0" indent="0">
              <a:buNone/>
            </a:pPr>
            <a:r>
              <a:rPr lang="pt-BR" dirty="0"/>
              <a:t>O banco de dados MNIST (Instituto Nacional de Padrões e Tecnologia Modificado) é um grande banco de dados de dígitos manuscritos, comumente usado para treinar vários sistemas de processamento de imagens. (</a:t>
            </a:r>
            <a:r>
              <a:rPr lang="pt-BR" dirty="0">
                <a:hlinkClick r:id="rId2"/>
              </a:rPr>
              <a:t>https://pt.wikipedia.org/wiki/Banco_de_dados_MNIST</a:t>
            </a:r>
            <a:r>
              <a:rPr lang="pt-BR" dirty="0"/>
              <a:t>)</a:t>
            </a:r>
          </a:p>
        </p:txBody>
      </p:sp>
      <p:sp>
        <p:nvSpPr>
          <p:cNvPr id="6" name="AutoShape 6" descr="MNIST Dataset | Papers With Co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6" name="Picture 8" descr="MNIST Dataset | Papers With Co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25"/>
            <a:ext cx="565785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17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Imagem digital (</a:t>
            </a:r>
            <a:r>
              <a:rPr lang="pt-BR" dirty="0" err="1" smtClean="0"/>
              <a:t>raster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8" name="Picture 4" descr="https://upload.wikimedia.org/wikipedia/commons/thumb/e/e8/Bitmap_vs_vector.svg/330px-Bitmap_vs_vector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5" y="1825625"/>
            <a:ext cx="4525673" cy="338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upload.wikimedia.org/wikipedia/commons/thumb/3/3b/Rgb-raster-image.svg/330px-Rgb-raster-imag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101" y="1231736"/>
            <a:ext cx="4370566" cy="475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8032496" y="6311900"/>
            <a:ext cx="3627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</a:t>
            </a:r>
            <a:r>
              <a:rPr lang="pt-BR" dirty="0" smtClean="0">
                <a:hlinkClick r:id="rId4"/>
              </a:rPr>
              <a:t>pt.wikipedia.org/wiki/Raster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94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Imagens </a:t>
            </a:r>
            <a:r>
              <a:rPr lang="pt-BR" b="1" dirty="0" smtClean="0"/>
              <a:t>MNIST: 28 x 28 pixels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Cada pixel um valor de nível de cinza</a:t>
            </a:r>
          </a:p>
          <a:p>
            <a:pPr marL="0" indent="0">
              <a:buNone/>
            </a:pPr>
            <a:r>
              <a:rPr lang="pt-BR" dirty="0" smtClean="0"/>
              <a:t> (0=preto e 255=branco)</a:t>
            </a:r>
          </a:p>
          <a:p>
            <a:r>
              <a:rPr lang="pt-BR" dirty="0" smtClean="0"/>
              <a:t>Total de 784 pixels/valores</a:t>
            </a:r>
          </a:p>
          <a:p>
            <a:endParaRPr lang="pt-BR" dirty="0" smtClean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51" y="-24044"/>
            <a:ext cx="4345144" cy="442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Imagens </a:t>
            </a:r>
            <a:r>
              <a:rPr lang="pt-BR" b="1" dirty="0" smtClean="0"/>
              <a:t>MNIST: 28 x 28 pixels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Cada pixel um valor de nível de cinza</a:t>
            </a:r>
          </a:p>
          <a:p>
            <a:pPr marL="0" indent="0">
              <a:buNone/>
            </a:pPr>
            <a:r>
              <a:rPr lang="pt-BR" dirty="0" smtClean="0"/>
              <a:t> (0=preto e 255=branco)</a:t>
            </a:r>
          </a:p>
          <a:p>
            <a:r>
              <a:rPr lang="pt-BR" dirty="0" smtClean="0"/>
              <a:t>Total de 784 pixels/valores</a:t>
            </a:r>
          </a:p>
          <a:p>
            <a:endParaRPr lang="pt-BR" dirty="0" smtClean="0"/>
          </a:p>
          <a:p>
            <a:r>
              <a:rPr lang="pt-BR" dirty="0" smtClean="0"/>
              <a:t>Vetor de dados unidimensional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51" y="-24044"/>
            <a:ext cx="4345144" cy="442296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35" y="5325466"/>
            <a:ext cx="3824737" cy="74539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6" y="5325466"/>
            <a:ext cx="3824737" cy="745396"/>
          </a:xfrm>
          <a:prstGeom prst="rect">
            <a:avLst/>
          </a:prstGeom>
        </p:spPr>
      </p:pic>
      <p:sp>
        <p:nvSpPr>
          <p:cNvPr id="10" name="Chave Esquerda 9"/>
          <p:cNvSpPr/>
          <p:nvPr/>
        </p:nvSpPr>
        <p:spPr>
          <a:xfrm rot="5400000">
            <a:off x="1884833" y="3085791"/>
            <a:ext cx="384740" cy="382473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have Esquerda 13"/>
          <p:cNvSpPr/>
          <p:nvPr/>
        </p:nvSpPr>
        <p:spPr>
          <a:xfrm rot="5400000">
            <a:off x="5709571" y="3064409"/>
            <a:ext cx="384740" cy="382473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1611370" y="425244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Linha 0</a:t>
            </a:r>
            <a:endParaRPr lang="pt-BR" sz="2000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5393091" y="4215123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Linha 1</a:t>
            </a:r>
            <a:endParaRPr lang="pt-BR" sz="2000" dirty="0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216" y="5315652"/>
            <a:ext cx="3824737" cy="745396"/>
          </a:xfrm>
          <a:prstGeom prst="rect">
            <a:avLst/>
          </a:prstGeom>
        </p:spPr>
      </p:pic>
      <p:sp>
        <p:nvSpPr>
          <p:cNvPr id="18" name="Chave Esquerda 17"/>
          <p:cNvSpPr/>
          <p:nvPr/>
        </p:nvSpPr>
        <p:spPr>
          <a:xfrm rot="5400000">
            <a:off x="10022231" y="3054595"/>
            <a:ext cx="384740" cy="382473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9683846" y="4295677"/>
            <a:ext cx="1061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Linha 27</a:t>
            </a:r>
            <a:endParaRPr lang="pt-BR" sz="2000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7742095" y="5637228"/>
            <a:ext cx="560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. . .</a:t>
            </a:r>
            <a:endParaRPr lang="pt-BR" sz="2000" dirty="0"/>
          </a:p>
        </p:txBody>
      </p:sp>
      <p:sp>
        <p:nvSpPr>
          <p:cNvPr id="21" name="Chave Esquerda 20"/>
          <p:cNvSpPr/>
          <p:nvPr/>
        </p:nvSpPr>
        <p:spPr>
          <a:xfrm rot="16200000">
            <a:off x="5953534" y="438481"/>
            <a:ext cx="384740" cy="1196213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6145904" y="6462081"/>
            <a:ext cx="3308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Vetor com 784 valores (pixels)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3102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código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Uso da biblioteca </a:t>
            </a:r>
            <a:r>
              <a:rPr lang="pt-BR" dirty="0" err="1" smtClean="0"/>
              <a:t>Scikit-learn</a:t>
            </a:r>
            <a:endParaRPr lang="pt-BR" dirty="0" smtClean="0"/>
          </a:p>
          <a:p>
            <a:r>
              <a:rPr lang="pt-BR" dirty="0" err="1" smtClean="0"/>
              <a:t>SGDClassifier</a:t>
            </a:r>
            <a:r>
              <a:rPr lang="pt-BR" dirty="0" smtClean="0"/>
              <a:t>: classificador </a:t>
            </a:r>
            <a:r>
              <a:rPr lang="pt-BR" dirty="0"/>
              <a:t>linear eficiente que utiliza o aprendizado por Descida de Gradiente Estocástico (SGD) para treinar </a:t>
            </a:r>
            <a:r>
              <a:rPr lang="pt-BR" dirty="0" smtClean="0"/>
              <a:t>modelos.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622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Matriz de Confusão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Contabilizar o número de vezes que as instâncias da classe "A" são classificadas como classe "B".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615964" y="3283069"/>
          <a:ext cx="5230308" cy="179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120">
                  <a:extLst>
                    <a:ext uri="{9D8B030D-6E8A-4147-A177-3AD203B41FA5}">
                      <a16:colId xmlns:a16="http://schemas.microsoft.com/office/drawing/2014/main" val="2465659547"/>
                    </a:ext>
                  </a:extLst>
                </a:gridCol>
                <a:gridCol w="1377035">
                  <a:extLst>
                    <a:ext uri="{9D8B030D-6E8A-4147-A177-3AD203B41FA5}">
                      <a16:colId xmlns:a16="http://schemas.microsoft.com/office/drawing/2014/main" val="3407052121"/>
                    </a:ext>
                  </a:extLst>
                </a:gridCol>
                <a:gridCol w="2205153">
                  <a:extLst>
                    <a:ext uri="{9D8B030D-6E8A-4147-A177-3AD203B41FA5}">
                      <a16:colId xmlns:a16="http://schemas.microsoft.com/office/drawing/2014/main" val="2913085581"/>
                    </a:ext>
                  </a:extLst>
                </a:gridCol>
              </a:tblGrid>
              <a:tr h="319595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</a:t>
                      </a:r>
                      <a:r>
                        <a:rPr lang="pt-BR" sz="2400" baseline="0" dirty="0" smtClean="0"/>
                        <a:t>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718545"/>
                  </a:ext>
                </a:extLst>
              </a:tr>
              <a:tr h="825783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52316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2263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285238"/>
                  </a:ext>
                </a:extLst>
              </a:tr>
              <a:tr h="51120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601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4820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100975"/>
                  </a:ext>
                </a:extLst>
              </a:tr>
            </a:tbl>
          </a:graphicData>
        </a:graphic>
      </p:graphicFrame>
      <p:sp>
        <p:nvSpPr>
          <p:cNvPr id="7" name="Chave Esquerda 6"/>
          <p:cNvSpPr/>
          <p:nvPr/>
        </p:nvSpPr>
        <p:spPr>
          <a:xfrm>
            <a:off x="2950589" y="3629320"/>
            <a:ext cx="433633" cy="144793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714709" y="4091676"/>
            <a:ext cx="2004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/>
              <a:t>Classes reais</a:t>
            </a:r>
            <a:endParaRPr lang="pt-BR" sz="2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693633" y="2289366"/>
            <a:ext cx="2741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/>
              <a:t>Classes preditivas</a:t>
            </a:r>
            <a:endParaRPr lang="pt-BR" sz="2800" dirty="0"/>
          </a:p>
        </p:txBody>
      </p:sp>
      <p:sp>
        <p:nvSpPr>
          <p:cNvPr id="10" name="Chave Esquerda 9"/>
          <p:cNvSpPr/>
          <p:nvPr/>
        </p:nvSpPr>
        <p:spPr>
          <a:xfrm rot="5400000">
            <a:off x="6858601" y="1295401"/>
            <a:ext cx="501103" cy="347423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57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Matriz de Confusão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Contabilizar o número de vezes que as instâncias da classe "A" são classificadas como classe "B".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615964" y="3283069"/>
          <a:ext cx="5230308" cy="179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120">
                  <a:extLst>
                    <a:ext uri="{9D8B030D-6E8A-4147-A177-3AD203B41FA5}">
                      <a16:colId xmlns:a16="http://schemas.microsoft.com/office/drawing/2014/main" val="2465659547"/>
                    </a:ext>
                  </a:extLst>
                </a:gridCol>
                <a:gridCol w="1377035">
                  <a:extLst>
                    <a:ext uri="{9D8B030D-6E8A-4147-A177-3AD203B41FA5}">
                      <a16:colId xmlns:a16="http://schemas.microsoft.com/office/drawing/2014/main" val="3407052121"/>
                    </a:ext>
                  </a:extLst>
                </a:gridCol>
                <a:gridCol w="2205153">
                  <a:extLst>
                    <a:ext uri="{9D8B030D-6E8A-4147-A177-3AD203B41FA5}">
                      <a16:colId xmlns:a16="http://schemas.microsoft.com/office/drawing/2014/main" val="2913085581"/>
                    </a:ext>
                  </a:extLst>
                </a:gridCol>
              </a:tblGrid>
              <a:tr h="319595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</a:t>
                      </a:r>
                      <a:r>
                        <a:rPr lang="pt-BR" sz="2400" baseline="0" dirty="0" smtClean="0"/>
                        <a:t>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718545"/>
                  </a:ext>
                </a:extLst>
              </a:tr>
              <a:tr h="825783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52316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2263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285238"/>
                  </a:ext>
                </a:extLst>
              </a:tr>
              <a:tr h="51120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601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4820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100975"/>
                  </a:ext>
                </a:extLst>
              </a:tr>
            </a:tbl>
          </a:graphicData>
        </a:graphic>
      </p:graphicFrame>
      <p:sp>
        <p:nvSpPr>
          <p:cNvPr id="5" name="Texto Explicativo Retangular com Cantos Arredondados 4"/>
          <p:cNvSpPr/>
          <p:nvPr/>
        </p:nvSpPr>
        <p:spPr>
          <a:xfrm>
            <a:off x="9200559" y="2527318"/>
            <a:ext cx="2030691" cy="876598"/>
          </a:xfrm>
          <a:prstGeom prst="wedgeRoundRectCallout">
            <a:avLst>
              <a:gd name="adj1" fmla="val -84430"/>
              <a:gd name="adj2" fmla="val 142079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Falsos positivos</a:t>
            </a:r>
            <a:endParaRPr lang="pt-BR" sz="2400" dirty="0"/>
          </a:p>
        </p:txBody>
      </p:sp>
      <p:sp>
        <p:nvSpPr>
          <p:cNvPr id="6" name="Texto Explicativo Retangular com Cantos Arredondados 5"/>
          <p:cNvSpPr/>
          <p:nvPr/>
        </p:nvSpPr>
        <p:spPr>
          <a:xfrm>
            <a:off x="3254995" y="5658098"/>
            <a:ext cx="2030691" cy="876598"/>
          </a:xfrm>
          <a:prstGeom prst="wedgeRoundRectCallout">
            <a:avLst>
              <a:gd name="adj1" fmla="val 83152"/>
              <a:gd name="adj2" fmla="val -123541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Falsos negativos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7301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Matriz de Confusão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Contabilizar o número de vezes que as instâncias da classe "A" são classificadas como classe "B".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615964" y="3283069"/>
          <a:ext cx="5230308" cy="179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120">
                  <a:extLst>
                    <a:ext uri="{9D8B030D-6E8A-4147-A177-3AD203B41FA5}">
                      <a16:colId xmlns:a16="http://schemas.microsoft.com/office/drawing/2014/main" val="2465659547"/>
                    </a:ext>
                  </a:extLst>
                </a:gridCol>
                <a:gridCol w="1377035">
                  <a:extLst>
                    <a:ext uri="{9D8B030D-6E8A-4147-A177-3AD203B41FA5}">
                      <a16:colId xmlns:a16="http://schemas.microsoft.com/office/drawing/2014/main" val="3407052121"/>
                    </a:ext>
                  </a:extLst>
                </a:gridCol>
                <a:gridCol w="2205153">
                  <a:extLst>
                    <a:ext uri="{9D8B030D-6E8A-4147-A177-3AD203B41FA5}">
                      <a16:colId xmlns:a16="http://schemas.microsoft.com/office/drawing/2014/main" val="2913085581"/>
                    </a:ext>
                  </a:extLst>
                </a:gridCol>
              </a:tblGrid>
              <a:tr h="319595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</a:t>
                      </a:r>
                      <a:r>
                        <a:rPr lang="pt-BR" sz="2400" baseline="0" dirty="0" smtClean="0"/>
                        <a:t>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718545"/>
                  </a:ext>
                </a:extLst>
              </a:tr>
              <a:tr h="825783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Não 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52316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2263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285238"/>
                  </a:ext>
                </a:extLst>
              </a:tr>
              <a:tr h="51120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“5”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601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4820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100975"/>
                  </a:ext>
                </a:extLst>
              </a:tr>
            </a:tbl>
          </a:graphicData>
        </a:graphic>
      </p:graphicFrame>
      <p:sp>
        <p:nvSpPr>
          <p:cNvPr id="5" name="Texto Explicativo Retangular com Cantos Arredondados 4"/>
          <p:cNvSpPr/>
          <p:nvPr/>
        </p:nvSpPr>
        <p:spPr>
          <a:xfrm>
            <a:off x="9561527" y="4638953"/>
            <a:ext cx="2030691" cy="876598"/>
          </a:xfrm>
          <a:prstGeom prst="wedgeRoundRectCallout">
            <a:avLst>
              <a:gd name="adj1" fmla="val -109034"/>
              <a:gd name="adj2" fmla="val -33209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Verdadeiros positivo</a:t>
            </a:r>
            <a:endParaRPr lang="pt-BR" sz="2400" dirty="0"/>
          </a:p>
        </p:txBody>
      </p:sp>
      <p:sp>
        <p:nvSpPr>
          <p:cNvPr id="7" name="Texto Explicativo Retangular com Cantos Arredondados 6"/>
          <p:cNvSpPr/>
          <p:nvPr/>
        </p:nvSpPr>
        <p:spPr>
          <a:xfrm>
            <a:off x="2600618" y="2709833"/>
            <a:ext cx="2030691" cy="876598"/>
          </a:xfrm>
          <a:prstGeom prst="wedgeRoundRectCallout">
            <a:avLst>
              <a:gd name="adj1" fmla="val 82223"/>
              <a:gd name="adj2" fmla="val 8293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Verdadeiros negativos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1686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Precisão x </a:t>
            </a:r>
            <a:r>
              <a:rPr lang="pt-BR" dirty="0" err="1" smtClean="0"/>
              <a:t>Revocação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Precisão: acurácia das predições positivas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err="1" smtClean="0"/>
              <a:t>Revocação</a:t>
            </a:r>
            <a:r>
              <a:rPr lang="pt-BR" dirty="0" smtClean="0"/>
              <a:t> (sensibilidade): proporção de instâncias positivas que são detectadas corretamente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721120" y="2587186"/>
                <a:ext cx="3980579" cy="813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𝑝𝑟𝑒𝑐𝑖𝑠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20" y="2587186"/>
                <a:ext cx="3980579" cy="813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3571862" y="5363150"/>
                <a:ext cx="3980579" cy="813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𝑟𝑒𝑣𝑜𝑐𝑎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62" y="5363150"/>
                <a:ext cx="3980579" cy="813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79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</a:t>
            </a:r>
            <a:r>
              <a:rPr lang="pt-BR" baseline="-25000" dirty="0" smtClean="0"/>
              <a:t>1</a:t>
            </a:r>
            <a:r>
              <a:rPr lang="pt-BR" dirty="0" smtClean="0"/>
              <a:t> score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Essa pontuação é a média harmônica da precisão e </a:t>
            </a:r>
            <a:r>
              <a:rPr lang="pt-BR" dirty="0" err="1" smtClean="0"/>
              <a:t>revocação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721120" y="2587186"/>
                <a:ext cx="4781857" cy="1229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𝑝𝑟𝑒𝑐𝑖𝑠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den>
                          </m:f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𝑟𝑒𝑣𝑜𝑐𝑎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çã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20" y="2587186"/>
                <a:ext cx="4781857" cy="12295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4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Trade-off precisão x </a:t>
            </a:r>
            <a:r>
              <a:rPr lang="pt-BR" dirty="0" err="1" smtClean="0"/>
              <a:t>revocação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pic>
        <p:nvPicPr>
          <p:cNvPr id="4098" name="Picture 2" descr="Precision vs Recall: Understanding the Trade-off in Classification Models |  by Rohit | Dev Geni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029825" cy="319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40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Trade-off precisão x </a:t>
            </a:r>
            <a:r>
              <a:rPr lang="pt-BR" dirty="0" err="1" smtClean="0"/>
              <a:t>revocação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pic>
        <p:nvPicPr>
          <p:cNvPr id="3074" name="Picture 2" descr="The Precision-Recall Trade-Off: Finding the Balancing Point for Your  5-Detector (Part 6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46" y="1612850"/>
            <a:ext cx="9389882" cy="498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58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Trade-off precisão x </a:t>
            </a:r>
            <a:r>
              <a:rPr lang="pt-BR" dirty="0" err="1" smtClean="0"/>
              <a:t>revocação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pic>
        <p:nvPicPr>
          <p:cNvPr id="5122" name="Picture 2" descr="Precision/Recall Tradeoff. Precision/Recall Tradeoff | by Amit Upadhyay |  Analytics Vidhya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482" y="1915130"/>
            <a:ext cx="5943600" cy="382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90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Trade-off precisão x </a:t>
            </a:r>
            <a:r>
              <a:rPr lang="pt-BR" dirty="0" err="1" smtClean="0"/>
              <a:t>revocação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Quando um aumento o outro diminui</a:t>
            </a:r>
          </a:p>
          <a:p>
            <a:r>
              <a:rPr lang="pt-BR" dirty="0" smtClean="0"/>
              <a:t>Se quero classificar vídeos seguros para crianças: rejeitar muitos vídeos bons (baixa </a:t>
            </a:r>
            <a:r>
              <a:rPr lang="pt-BR" dirty="0" err="1" smtClean="0"/>
              <a:t>revocação</a:t>
            </a:r>
            <a:r>
              <a:rPr lang="pt-BR" dirty="0" smtClean="0"/>
              <a:t>) e manter apenas os seguro (alta precisão)</a:t>
            </a:r>
          </a:p>
          <a:p>
            <a:r>
              <a:rPr lang="pt-BR" dirty="0" smtClean="0"/>
              <a:t>Se quero detectar ladrões em lojas em imagens de vigilância: 30% de precisão, desde que tenha 99% de </a:t>
            </a:r>
            <a:r>
              <a:rPr lang="pt-BR" dirty="0" err="1" smtClean="0"/>
              <a:t>revocação</a:t>
            </a:r>
            <a:r>
              <a:rPr lang="pt-BR" dirty="0" smtClean="0"/>
              <a:t>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4770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Logística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22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logística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6" y="2655178"/>
            <a:ext cx="11944107" cy="38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1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logística </a:t>
            </a:r>
            <a:r>
              <a:rPr lang="pt-BR" dirty="0"/>
              <a:t>– Exemplo </a:t>
            </a:r>
            <a:r>
              <a:rPr lang="pt-BR" dirty="0" err="1"/>
              <a:t>iris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73" y="2405416"/>
            <a:ext cx="11088491" cy="405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0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Fronteira de decisão – </a:t>
            </a:r>
            <a:r>
              <a:rPr lang="pt-BR" dirty="0"/>
              <a:t>Exemplo </a:t>
            </a:r>
            <a:r>
              <a:rPr lang="pt-BR" dirty="0" err="1"/>
              <a:t>iris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45" y="1904214"/>
            <a:ext cx="11585026" cy="448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4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Polinomial multimodal (</a:t>
            </a:r>
            <a:r>
              <a:rPr lang="pt-BR" dirty="0" err="1" smtClean="0"/>
              <a:t>softmax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03" y="1690688"/>
            <a:ext cx="11160994" cy="497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3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Regressão Polinomial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46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Polinômio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toda expressão algébrica constituída de um monômio ou uma soma de monômios de variável complexa.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06" y="3355462"/>
            <a:ext cx="8596142" cy="116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7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Polinômio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7052035" cy="4273517"/>
          </a:xfrm>
        </p:spPr>
        <p:txBody>
          <a:bodyPr>
            <a:noAutofit/>
          </a:bodyPr>
          <a:lstStyle/>
          <a:p>
            <a:r>
              <a:rPr lang="pt-BR" sz="3600" dirty="0" smtClean="0"/>
              <a:t>Equação da reta</a:t>
            </a:r>
          </a:p>
          <a:p>
            <a:pPr lvl="1"/>
            <a:r>
              <a:rPr lang="pt-BR" sz="3200" dirty="0" smtClean="0"/>
              <a:t>Y = </a:t>
            </a:r>
            <a:r>
              <a:rPr lang="pt-BR" sz="3200" dirty="0" err="1" smtClean="0"/>
              <a:t>ax</a:t>
            </a:r>
            <a:r>
              <a:rPr lang="pt-BR" sz="3200" dirty="0" smtClean="0"/>
              <a:t> + b = a</a:t>
            </a:r>
            <a:r>
              <a:rPr lang="pt-BR" sz="3200" baseline="-25000" dirty="0" smtClean="0"/>
              <a:t>1</a:t>
            </a:r>
            <a:r>
              <a:rPr lang="pt-BR" sz="3200" dirty="0" smtClean="0"/>
              <a:t>x</a:t>
            </a:r>
            <a:r>
              <a:rPr lang="pt-BR" sz="3200" baseline="30000" dirty="0" smtClean="0"/>
              <a:t>1</a:t>
            </a:r>
            <a:r>
              <a:rPr lang="pt-BR" sz="3200" dirty="0" smtClean="0"/>
              <a:t> + a</a:t>
            </a:r>
            <a:r>
              <a:rPr lang="pt-BR" sz="3200" baseline="-25000" dirty="0" smtClean="0"/>
              <a:t>0</a:t>
            </a:r>
            <a:r>
              <a:rPr lang="pt-BR" sz="3200" dirty="0" smtClean="0"/>
              <a:t>x</a:t>
            </a:r>
            <a:r>
              <a:rPr lang="pt-BR" sz="3200" baseline="30000" dirty="0" smtClean="0"/>
              <a:t>0</a:t>
            </a:r>
            <a:endParaRPr lang="pt-BR" sz="3200" baseline="30000" dirty="0"/>
          </a:p>
          <a:p>
            <a:r>
              <a:rPr lang="pt-BR" sz="3600" dirty="0" smtClean="0"/>
              <a:t>Equação de segundo grau</a:t>
            </a:r>
          </a:p>
          <a:p>
            <a:pPr marL="685800" lvl="2">
              <a:spcBef>
                <a:spcPts val="1000"/>
              </a:spcBef>
            </a:pPr>
            <a:r>
              <a:rPr lang="pt-BR" sz="2800" dirty="0"/>
              <a:t>Y = </a:t>
            </a:r>
            <a:r>
              <a:rPr lang="pt-BR" sz="2800" dirty="0" smtClean="0"/>
              <a:t>ax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 + </a:t>
            </a:r>
            <a:r>
              <a:rPr lang="pt-BR" sz="2800" dirty="0" err="1" smtClean="0"/>
              <a:t>bx</a:t>
            </a:r>
            <a:r>
              <a:rPr lang="pt-BR" sz="2800" dirty="0" smtClean="0"/>
              <a:t> + c = a</a:t>
            </a:r>
            <a:r>
              <a:rPr lang="pt-BR" sz="2800" baseline="-25000" dirty="0" smtClean="0"/>
              <a:t>2</a:t>
            </a:r>
            <a:r>
              <a:rPr lang="pt-BR" sz="2800" dirty="0" smtClean="0"/>
              <a:t>x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 + </a:t>
            </a:r>
            <a:r>
              <a:rPr lang="pt-BR" sz="2800" dirty="0"/>
              <a:t>a</a:t>
            </a:r>
            <a:r>
              <a:rPr lang="pt-BR" sz="2800" baseline="-25000" dirty="0"/>
              <a:t>1</a:t>
            </a:r>
            <a:r>
              <a:rPr lang="pt-BR" sz="2800" dirty="0"/>
              <a:t>x</a:t>
            </a:r>
            <a:r>
              <a:rPr lang="pt-BR" sz="2800" baseline="30000" dirty="0"/>
              <a:t>1</a:t>
            </a:r>
            <a:r>
              <a:rPr lang="pt-BR" sz="2800" dirty="0"/>
              <a:t> + </a:t>
            </a:r>
            <a:r>
              <a:rPr lang="pt-BR" sz="2800" dirty="0" smtClean="0"/>
              <a:t>a</a:t>
            </a:r>
            <a:r>
              <a:rPr lang="pt-BR" sz="2800" baseline="-25000" dirty="0" smtClean="0"/>
              <a:t>0</a:t>
            </a:r>
            <a:r>
              <a:rPr lang="pt-BR" sz="2800" dirty="0" smtClean="0"/>
              <a:t>x</a:t>
            </a:r>
            <a:r>
              <a:rPr lang="pt-BR" sz="2800" baseline="30000" dirty="0" smtClean="0"/>
              <a:t>0</a:t>
            </a:r>
            <a:endParaRPr lang="pt-BR" sz="2800" baseline="30000" dirty="0"/>
          </a:p>
        </p:txBody>
      </p:sp>
      <p:pic>
        <p:nvPicPr>
          <p:cNvPr id="30724" name="Picture 4" descr="Gráfico da função de 2º grau - Brasil Esco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4242143"/>
            <a:ext cx="6904348" cy="254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48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de treinamento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371048"/>
            <a:ext cx="7925906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6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de código (scripts)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6833"/>
          </a:xfrm>
        </p:spPr>
        <p:txBody>
          <a:bodyPr>
            <a:normAutofit/>
          </a:bodyPr>
          <a:lstStyle/>
          <a:p>
            <a:r>
              <a:rPr lang="pt-BR" dirty="0" smtClean="0"/>
              <a:t>Função </a:t>
            </a:r>
            <a:r>
              <a:rPr lang="pt-BR" b="1" i="1" dirty="0" err="1" smtClean="0"/>
              <a:t>PolynomialFeatures</a:t>
            </a:r>
            <a:r>
              <a:rPr lang="pt-BR" b="1" i="1" dirty="0" smtClean="0"/>
              <a:t> (</a:t>
            </a:r>
            <a:r>
              <a:rPr lang="pt-BR" b="1" i="1" dirty="0" err="1" smtClean="0"/>
              <a:t>degree</a:t>
            </a:r>
            <a:r>
              <a:rPr lang="pt-BR" b="1" i="1" dirty="0" smtClean="0"/>
              <a:t>=2)</a:t>
            </a:r>
          </a:p>
          <a:p>
            <a:pPr lvl="1"/>
            <a:r>
              <a:rPr lang="pt-BR" dirty="0" smtClean="0"/>
              <a:t>Ferramenta de pré-processamento de dados usada para gerar novas características (</a:t>
            </a:r>
            <a:r>
              <a:rPr lang="pt-BR" dirty="0" err="1" smtClean="0"/>
              <a:t>features</a:t>
            </a:r>
            <a:r>
              <a:rPr lang="pt-BR" dirty="0" smtClean="0"/>
              <a:t>) polinomiais a partir das existentes.</a:t>
            </a:r>
          </a:p>
          <a:p>
            <a:pPr lvl="1"/>
            <a:r>
              <a:rPr lang="pt-BR" dirty="0" smtClean="0"/>
              <a:t>Transforma o conjunto de dados original, elevando as características ao quadrado e criando integrações entre elas, permitindo que modelos lineares capturem relações não lineares.</a:t>
            </a:r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2"/>
            <a:r>
              <a:rPr lang="pt-BR" b="1" dirty="0" smtClean="0"/>
              <a:t>Características originais</a:t>
            </a:r>
            <a:r>
              <a:rPr lang="pt-BR" dirty="0" smtClean="0"/>
              <a:t>: </a:t>
            </a:r>
            <a:r>
              <a:rPr lang="pt-BR" i="1" dirty="0" smtClean="0"/>
              <a:t>a, b</a:t>
            </a:r>
          </a:p>
          <a:p>
            <a:pPr lvl="2"/>
            <a:r>
              <a:rPr lang="pt-BR" b="1" dirty="0" smtClean="0"/>
              <a:t>Termos de segundo grau: </a:t>
            </a:r>
            <a:r>
              <a:rPr lang="pt-BR" i="1" dirty="0" smtClean="0"/>
              <a:t>a</a:t>
            </a:r>
            <a:r>
              <a:rPr lang="pt-BR" i="1" baseline="30000" dirty="0" smtClean="0"/>
              <a:t>2</a:t>
            </a:r>
            <a:r>
              <a:rPr lang="pt-BR" i="1" dirty="0" smtClean="0"/>
              <a:t>, b</a:t>
            </a:r>
            <a:r>
              <a:rPr lang="pt-BR" i="1" baseline="30000" dirty="0" smtClean="0"/>
              <a:t>2</a:t>
            </a:r>
            <a:r>
              <a:rPr lang="pt-BR" i="1" dirty="0" smtClean="0"/>
              <a:t> (eleva cada </a:t>
            </a:r>
            <a:r>
              <a:rPr lang="pt-BR" i="1" dirty="0" err="1" smtClean="0"/>
              <a:t>feature</a:t>
            </a:r>
            <a:r>
              <a:rPr lang="pt-BR" i="1" dirty="0" smtClean="0"/>
              <a:t> ao quadrado)</a:t>
            </a:r>
          </a:p>
          <a:p>
            <a:pPr lvl="2"/>
            <a:r>
              <a:rPr lang="pt-BR" b="1" dirty="0" smtClean="0"/>
              <a:t>Interação entre característica: </a:t>
            </a:r>
            <a:r>
              <a:rPr lang="pt-BR" i="1" dirty="0" smtClean="0"/>
              <a:t>a x b (multiplica as </a:t>
            </a:r>
            <a:r>
              <a:rPr lang="pt-BR" i="1" dirty="0" err="1" smtClean="0"/>
              <a:t>features</a:t>
            </a:r>
            <a:r>
              <a:rPr lang="pt-BR" i="1" dirty="0" smtClean="0"/>
              <a:t> entre si)</a:t>
            </a:r>
            <a:endParaRPr lang="pt-BR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36" y="5921815"/>
            <a:ext cx="4045193" cy="91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3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treinamento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4" y="137653"/>
            <a:ext cx="9107171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0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Lineares Regularizados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2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Complexidade do modelo e capacidade de generalização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7052035" cy="4273517"/>
          </a:xfrm>
        </p:spPr>
        <p:txBody>
          <a:bodyPr>
            <a:noAutofit/>
          </a:bodyPr>
          <a:lstStyle/>
          <a:p>
            <a:endParaRPr lang="pt-BR" sz="2800" baseline="30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19" y="2111605"/>
            <a:ext cx="11221961" cy="42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6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complexo para distinguir árvores doentes de árvores saudáveis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41" y="1539446"/>
            <a:ext cx="7969619" cy="4923696"/>
          </a:xfrm>
        </p:spPr>
      </p:pic>
      <p:sp>
        <p:nvSpPr>
          <p:cNvPr id="4" name="Retângulo 3"/>
          <p:cNvSpPr/>
          <p:nvPr/>
        </p:nvSpPr>
        <p:spPr>
          <a:xfrm>
            <a:off x="6535917" y="63119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developers.google.com/machine-learning/crash-course/overfitting/overfitting?hl=pt-br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08362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Neste exemplo, o caso piora quando novos exemplos são classificados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6535917" y="63119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developers.google.com/machine-learning/crash-course/overfitting/overfitting?hl=pt-br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5" y="1853406"/>
            <a:ext cx="6953250" cy="4295775"/>
          </a:xfrm>
        </p:spPr>
      </p:pic>
    </p:spTree>
    <p:extLst>
      <p:ext uri="{BB962C8B-B14F-4D97-AF65-F5344CB8AC3E}">
        <p14:creationId xmlns:p14="http://schemas.microsoft.com/office/powerpoint/2010/main" val="36501238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 avaliação da qualidade de generalização pode ser realizada com a separação do conjunto de dados em subconjuntos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686" y="2045616"/>
            <a:ext cx="8784642" cy="1067643"/>
          </a:xfrm>
        </p:spPr>
      </p:pic>
    </p:spTree>
    <p:extLst>
      <p:ext uri="{BB962C8B-B14F-4D97-AF65-F5344CB8AC3E}">
        <p14:creationId xmlns:p14="http://schemas.microsoft.com/office/powerpoint/2010/main" val="20434452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 avaliação da qualidade de generalização pode ser realizada com a separação do conjunto de dados em subconjuntos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686" y="2045616"/>
            <a:ext cx="8784642" cy="1067643"/>
          </a:xfr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85" y="3313900"/>
            <a:ext cx="7598790" cy="35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285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Regularização baseado em parada antecipada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Early</a:t>
            </a:r>
            <a:r>
              <a:rPr lang="pt-BR" dirty="0" smtClean="0"/>
              <a:t> </a:t>
            </a:r>
            <a:r>
              <a:rPr lang="pt-BR" dirty="0" err="1" smtClean="0"/>
              <a:t>Stopping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025" y="2623314"/>
            <a:ext cx="6707547" cy="446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5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Regularização baseada em complexidade do modelo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623" y="3043688"/>
            <a:ext cx="3091405" cy="3133275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685" y="3043687"/>
            <a:ext cx="3098383" cy="3133275"/>
          </a:xfrm>
          <a:prstGeom prst="rect">
            <a:avLst/>
          </a:prstGeom>
        </p:spPr>
      </p:pic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Prefira o modelo mais simples, pois geralmente a generalização será melhor (princípio de Navalha de </a:t>
            </a:r>
            <a:r>
              <a:rPr lang="pt-BR" dirty="0" err="1" smtClean="0"/>
              <a:t>Ockham</a:t>
            </a:r>
            <a:r>
              <a:rPr lang="pt-BR" dirty="0" smtClean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9483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Regularização baseada em complexidade do modelo</a:t>
            </a:r>
            <a:endParaRPr lang="pt-BR" dirty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838200" y="1467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i="1" dirty="0" smtClean="0"/>
              <a:t>Minimizar(perda + complexidade)</a:t>
            </a:r>
          </a:p>
          <a:p>
            <a:pPr marL="0" indent="0">
              <a:buNone/>
            </a:pPr>
            <a:r>
              <a:rPr lang="pt-BR" dirty="0" smtClean="0"/>
              <a:t>- Geralmente são objetivos conflitantes.</a:t>
            </a:r>
          </a:p>
          <a:p>
            <a:pPr marL="0" indent="0">
              <a:buNone/>
            </a:pPr>
            <a:r>
              <a:rPr lang="pt-BR" dirty="0" smtClean="0"/>
              <a:t>- Medida da complexidade L2:</a:t>
            </a:r>
          </a:p>
          <a:p>
            <a:pPr marL="0" indent="0">
              <a:buNone/>
            </a:pPr>
            <a:r>
              <a:rPr lang="pt-BR" dirty="0"/>
              <a:t>	-</a:t>
            </a:r>
            <a:r>
              <a:rPr lang="pt-BR" dirty="0" smtClean="0"/>
              <a:t> considera a soma dos pesos elevados ao quadrado.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smtClean="0"/>
              <a:t>- utiliza esse valor para penalizar a correção dos passos ao longo do treinamento, por meio de uma taxa de regularização.</a:t>
            </a:r>
          </a:p>
          <a:p>
            <a:pPr marL="0" indent="0">
              <a:buNone/>
            </a:pPr>
            <a:r>
              <a:rPr lang="pt-BR" dirty="0" smtClean="0"/>
              <a:t>- O desafio é equilibrar a taxa de aprendizado com a de regularização.</a:t>
            </a:r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555396" y="4879417"/>
            <a:ext cx="11353800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b="1" dirty="0">
                <a:solidFill>
                  <a:srgbClr val="C00000"/>
                </a:solidFill>
              </a:rPr>
              <a:t>CONCEITOS-CHAVE:</a:t>
            </a:r>
          </a:p>
          <a:p>
            <a:r>
              <a:rPr lang="pt-BR" sz="2400" b="1" dirty="0" smtClean="0"/>
              <a:t>Taxa de regularização</a:t>
            </a:r>
            <a:r>
              <a:rPr lang="pt-BR" sz="2400" dirty="0" smtClean="0"/>
              <a:t> </a:t>
            </a:r>
            <a:r>
              <a:rPr lang="pt-BR" sz="2400" dirty="0" smtClean="0"/>
              <a:t>especifica a importância relativa da regularização durante o treinamento. Aumentar a taxa reduz o </a:t>
            </a:r>
            <a:r>
              <a:rPr lang="pt-BR" sz="2400" dirty="0" err="1" smtClean="0"/>
              <a:t>overfitting</a:t>
            </a:r>
            <a:r>
              <a:rPr lang="pt-BR" sz="2400" dirty="0" smtClean="0"/>
              <a:t>, mas pode diminuir o poder preditivo do modelo. Reduzir ou </a:t>
            </a:r>
            <a:r>
              <a:rPr lang="pt-BR" sz="2400" dirty="0" err="1" smtClean="0"/>
              <a:t>omitr</a:t>
            </a:r>
            <a:r>
              <a:rPr lang="pt-BR" sz="2400" dirty="0" smtClean="0"/>
              <a:t> a taxa aumenta o </a:t>
            </a:r>
            <a:r>
              <a:rPr lang="pt-BR" sz="2400" dirty="0" err="1" smtClean="0"/>
              <a:t>overfitting</a:t>
            </a:r>
            <a:r>
              <a:rPr lang="pt-BR" sz="2400" dirty="0" smtClean="0"/>
              <a:t>. </a:t>
            </a:r>
            <a:endParaRPr lang="pt-BR" sz="2400" dirty="0" smtClean="0"/>
          </a:p>
        </p:txBody>
      </p:sp>
    </p:spTree>
    <p:extLst>
      <p:ext uri="{BB962C8B-B14F-4D97-AF65-F5344CB8AC3E}">
        <p14:creationId xmlns:p14="http://schemas.microsoft.com/office/powerpoint/2010/main" val="11404042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de </a:t>
            </a:r>
            <a:r>
              <a:rPr lang="pt-BR" dirty="0" err="1"/>
              <a:t>Ridge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058427" cy="5032375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Buscam reduzir o </a:t>
            </a:r>
            <a:r>
              <a:rPr lang="pt-BR" dirty="0" err="1" smtClean="0"/>
              <a:t>sobreajuste</a:t>
            </a:r>
            <a:r>
              <a:rPr lang="pt-BR" dirty="0" smtClean="0"/>
              <a:t> “regularizando” o modelo (i.e. restringindo-o)</a:t>
            </a:r>
          </a:p>
          <a:p>
            <a:r>
              <a:rPr lang="pt-BR" dirty="0" smtClean="0"/>
              <a:t>MSE</a:t>
            </a:r>
          </a:p>
          <a:p>
            <a:endParaRPr lang="pt-BR" dirty="0" smtClean="0"/>
          </a:p>
          <a:p>
            <a:r>
              <a:rPr lang="pt-BR" dirty="0" smtClean="0"/>
              <a:t>Gradiente da função de otimização (função custo)</a:t>
            </a:r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Termo de regularização</a:t>
            </a:r>
          </a:p>
          <a:p>
            <a:endParaRPr lang="pt-BR" dirty="0"/>
          </a:p>
          <a:p>
            <a:pPr marL="0" indent="0">
              <a:buNone/>
            </a:pPr>
            <a:endParaRPr lang="pt-BR" sz="2000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pt-BR" sz="2000" dirty="0" smtClean="0">
                <a:sym typeface="Symbol" panose="05050102010706020507" pitchFamily="18" charset="2"/>
              </a:rPr>
              <a:t> = 0 </a:t>
            </a:r>
            <a:r>
              <a:rPr lang="pt-BR" sz="2000" dirty="0" smtClean="0">
                <a:sym typeface="Wingdings" panose="05000000000000000000" pitchFamily="2" charset="2"/>
              </a:rPr>
              <a:t> regressão linear padrão; </a:t>
            </a:r>
            <a:r>
              <a:rPr lang="pt-BR" sz="2000" dirty="0">
                <a:sym typeface="Symbol" panose="05050102010706020507" pitchFamily="18" charset="2"/>
              </a:rPr>
              <a:t> </a:t>
            </a:r>
            <a:r>
              <a:rPr lang="pt-BR" sz="2000" dirty="0" smtClean="0">
                <a:sym typeface="Symbol" panose="05050102010706020507" pitchFamily="18" charset="2"/>
              </a:rPr>
              <a:t>muito grande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 smtClean="0">
                <a:sym typeface="Wingdings" panose="05000000000000000000" pitchFamily="2" charset="2"/>
              </a:rPr>
              <a:t>todos os pesos acabarão muito próximos de zero.</a:t>
            </a:r>
            <a:endParaRPr lang="pt-BR" sz="2000" dirty="0" smtClean="0"/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676277" y="4322622"/>
                <a:ext cx="4183005" cy="611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 smtClean="0"/>
                  <a:t>)</a:t>
                </a:r>
                <a:endParaRPr lang="pt-BR" sz="28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277" y="4322622"/>
                <a:ext cx="4183005" cy="611578"/>
              </a:xfrm>
              <a:prstGeom prst="rect">
                <a:avLst/>
              </a:prstGeom>
              <a:blipFill>
                <a:blip r:embed="rId2"/>
                <a:stretch>
                  <a:fillRect t="-2000" r="-4373" b="-2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4767779" y="5069136"/>
                <a:ext cx="4599464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sub/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779" y="5069136"/>
                <a:ext cx="4599464" cy="1176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Aprendizagem da máquina: uma introdução ao erro quadrático médio e linhas  de regressã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277" y="2645479"/>
            <a:ext cx="3511451" cy="96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977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Lineares Regularizados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Regressão de </a:t>
            </a:r>
            <a:r>
              <a:rPr lang="pt-BR" dirty="0" err="1" smtClean="0"/>
              <a:t>Ridge</a:t>
            </a:r>
            <a:endParaRPr lang="pt-BR" dirty="0" smtClean="0"/>
          </a:p>
          <a:p>
            <a:r>
              <a:rPr lang="pt-BR" dirty="0" smtClean="0"/>
              <a:t>Regressão de lasso</a:t>
            </a:r>
          </a:p>
          <a:p>
            <a:r>
              <a:rPr lang="pt-BR" dirty="0" err="1" smtClean="0"/>
              <a:t>Elastic</a:t>
            </a:r>
            <a:r>
              <a:rPr lang="pt-BR" dirty="0" smtClean="0"/>
              <a:t> net</a:t>
            </a:r>
          </a:p>
          <a:p>
            <a:r>
              <a:rPr lang="pt-BR" dirty="0" err="1" smtClean="0"/>
              <a:t>Early</a:t>
            </a:r>
            <a:r>
              <a:rPr lang="pt-BR" dirty="0" smtClean="0"/>
              <a:t> </a:t>
            </a:r>
            <a:r>
              <a:rPr lang="pt-BR" dirty="0" err="1" smtClean="0"/>
              <a:t>stopping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6048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Curva de aprendizado (com base no tamanho do conjunto de dados)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14" y="1644779"/>
            <a:ext cx="8167379" cy="521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85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Leitura do tutorial “Como interpretar curvas de perda”</a:t>
            </a:r>
          </a:p>
          <a:p>
            <a:pPr lvl="1"/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developers.google.com/machine-learning/crash-course/overfitting/interpreting-loss-curves?hl=pt-br</a:t>
            </a:r>
            <a:r>
              <a:rPr lang="pt-BR" dirty="0" smtClean="0"/>
              <a:t> </a:t>
            </a:r>
            <a:endParaRPr lang="pt-BR" dirty="0" smtClean="0"/>
          </a:p>
          <a:p>
            <a:r>
              <a:rPr lang="pt-BR" dirty="0" smtClean="0"/>
              <a:t>Conjunto </a:t>
            </a:r>
            <a:r>
              <a:rPr lang="pt-BR" dirty="0" smtClean="0"/>
              <a:t>de dados “</a:t>
            </a:r>
            <a:r>
              <a:rPr lang="pt-BR" dirty="0" err="1" smtClean="0"/>
              <a:t>Lenses</a:t>
            </a:r>
            <a:r>
              <a:rPr lang="pt-BR" dirty="0" smtClean="0"/>
              <a:t>”</a:t>
            </a:r>
          </a:p>
          <a:p>
            <a:pPr lvl="1"/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archive.ics.uci.edu/dataset/58/lenses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464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3" ma:contentTypeDescription="Criar um novo documento." ma:contentTypeScope="" ma:versionID="b53376f63c01403a8d4a9ab3f52aabc1">
  <xsd:schema xmlns:xsd="http://www.w3.org/2001/XMLSchema" xmlns:xs="http://www.w3.org/2001/XMLSchema" xmlns:p="http://schemas.microsoft.com/office/2006/metadata/properties" xmlns:ns2="21bea34f-6356-4af9-948b-dbeabad382ee" targetNamespace="http://schemas.microsoft.com/office/2006/metadata/properties" ma:root="true" ma:fieldsID="373b35961286563bc8d121b1db525053" ns2:_="">
    <xsd:import namespace="21bea34f-6356-4af9-948b-dbeabad38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ea34f-6356-4af9-948b-dbeabad38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99BC2-424D-4E0A-A25E-623A1CD17EB6}"/>
</file>

<file path=customXml/itemProps2.xml><?xml version="1.0" encoding="utf-8"?>
<ds:datastoreItem xmlns:ds="http://schemas.openxmlformats.org/officeDocument/2006/customXml" ds:itemID="{B6265E3F-E252-45A7-B447-9E9E2F577675}"/>
</file>

<file path=customXml/itemProps3.xml><?xml version="1.0" encoding="utf-8"?>
<ds:datastoreItem xmlns:ds="http://schemas.openxmlformats.org/officeDocument/2006/customXml" ds:itemID="{E95B3182-7E43-49D7-B13A-62D48E627B97}"/>
</file>

<file path=docProps/app.xml><?xml version="1.0" encoding="utf-8"?>
<Properties xmlns="http://schemas.openxmlformats.org/officeDocument/2006/extended-properties" xmlns:vt="http://schemas.openxmlformats.org/officeDocument/2006/docPropsVTypes">
  <TotalTime>16614</TotalTime>
  <Words>2791</Words>
  <Application>Microsoft Office PowerPoint</Application>
  <PresentationFormat>Widescreen</PresentationFormat>
  <Paragraphs>623</Paragraphs>
  <Slides>112</Slides>
  <Notes>0</Notes>
  <HiddenSlides>3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112</vt:i4>
      </vt:variant>
    </vt:vector>
  </HeadingPairs>
  <TitlesOfParts>
    <vt:vector size="120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Tema do Office</vt:lpstr>
      <vt:lpstr>APRENDIZAGEM DE MÁQUINA</vt:lpstr>
      <vt:lpstr>“Treinamento” de um modelo</vt:lpstr>
      <vt:lpstr>Tarefas de Aprendizado</vt:lpstr>
      <vt:lpstr>MODELOS SIMPLES</vt:lpstr>
      <vt:lpstr>Conteúdo</vt:lpstr>
      <vt:lpstr>Regressão Linear</vt:lpstr>
      <vt:lpstr>Indicadores de qualidade de vida da OCDE</vt:lpstr>
      <vt:lpstr>PIB das nações (FMI)</vt:lpstr>
      <vt:lpstr>PIB x Expectativa de vida</vt:lpstr>
      <vt:lpstr>Apresentação do PowerPoint</vt:lpstr>
      <vt:lpstr>PIB x Expectativa de vida</vt:lpstr>
      <vt:lpstr>“Treinamento” de um modelo</vt:lpstr>
      <vt:lpstr>Equação linear</vt:lpstr>
      <vt:lpstr>Função de custo (ou função de perda)</vt:lpstr>
      <vt:lpstr>Modelos com vários atributos</vt:lpstr>
      <vt:lpstr>Regressão Linear = equação da reta</vt:lpstr>
      <vt:lpstr>Regressão Linear = equação da reta</vt:lpstr>
      <vt:lpstr>Técnicas para encontrar os parâmetros da equação da reta</vt:lpstr>
      <vt:lpstr>Regressão Linear = equação da reta</vt:lpstr>
      <vt:lpstr>Regressão Linear = equação da reta</vt:lpstr>
      <vt:lpstr>Regressão Linear = equação da reta</vt:lpstr>
      <vt:lpstr>Regressão Linear = equação da reta</vt:lpstr>
      <vt:lpstr>Avaliação da qualidade do meu modelo</vt:lpstr>
      <vt:lpstr>Regressão Linear = Medidas de desempenho</vt:lpstr>
      <vt:lpstr>Regressão Linear = Medidas de desempenho</vt:lpstr>
      <vt:lpstr>Regressão Linear = Medidas de desempenho</vt:lpstr>
      <vt:lpstr>Regressão Linear = Medidas de desempenho</vt:lpstr>
      <vt:lpstr>Regressão Linear = Medidas de desempenho</vt:lpstr>
      <vt:lpstr>Apresentação do PowerPoint</vt:lpstr>
      <vt:lpstr>Apresentação do PowerPoint</vt:lpstr>
      <vt:lpstr>Técnicas para encontrar os parâmetros da equação da reta</vt:lpstr>
      <vt:lpstr>Notação vetorial para regressão linear</vt:lpstr>
      <vt:lpstr>Estimando  por solução de forma fechada</vt:lpstr>
      <vt:lpstr>Estimando  por solução de forma fechada</vt:lpstr>
      <vt:lpstr>Apresentação do PowerPoint</vt:lpstr>
      <vt:lpstr>Técnicas para encontrar os parâmetros da equação da reta</vt:lpstr>
      <vt:lpstr>Como fazer uma regressão à mão</vt:lpstr>
      <vt:lpstr>Pacote do sklearn para regressão linear</vt:lpstr>
      <vt:lpstr>Complexidade computacional</vt:lpstr>
      <vt:lpstr>Técnicas para encontrar os parâmetros da equação da reta</vt:lpstr>
      <vt:lpstr>Gradiente Descendente</vt:lpstr>
      <vt:lpstr>Apresentação do PowerPoint</vt:lpstr>
      <vt:lpstr>Gradiente Descendente</vt:lpstr>
      <vt:lpstr>Ajuste dos parâmetros</vt:lpstr>
      <vt:lpstr>Conceito de Função Derivada</vt:lpstr>
      <vt:lpstr>Conceito de Função Derivada</vt:lpstr>
      <vt:lpstr>Conceito de Função Derivada</vt:lpstr>
      <vt:lpstr>Conceito de Função Derivada</vt:lpstr>
      <vt:lpstr>Conceito de Função Derivada</vt:lpstr>
      <vt:lpstr>Conceito de Função Derivada</vt:lpstr>
      <vt:lpstr>Conceito de Função Derivada</vt:lpstr>
      <vt:lpstr>Cálculo de Derivada</vt:lpstr>
      <vt:lpstr>Cálculo de Derivada</vt:lpstr>
      <vt:lpstr>Estimando </vt:lpstr>
      <vt:lpstr>Estimando </vt:lpstr>
      <vt:lpstr>Estimando </vt:lpstr>
      <vt:lpstr>Estimando </vt:lpstr>
      <vt:lpstr>Método gradiente</vt:lpstr>
      <vt:lpstr>Processo de ajuste do modelo</vt:lpstr>
      <vt:lpstr>Gradiente Descendente</vt:lpstr>
      <vt:lpstr>Gradiente Descendente</vt:lpstr>
      <vt:lpstr>Apresentação do PowerPoint</vt:lpstr>
      <vt:lpstr>Hiperparâmetros</vt:lpstr>
      <vt:lpstr>Hiperparâmetros</vt:lpstr>
      <vt:lpstr>Taxa de aprendizado</vt:lpstr>
      <vt:lpstr>Influência da taxa de aprendizado</vt:lpstr>
      <vt:lpstr>Tamanho do lote</vt:lpstr>
      <vt:lpstr>Tamanho do lote</vt:lpstr>
      <vt:lpstr>Tamanho do lote</vt:lpstr>
      <vt:lpstr>Número de Épocas</vt:lpstr>
      <vt:lpstr>Lote completo x Minilote</vt:lpstr>
      <vt:lpstr>Épocas x lote</vt:lpstr>
      <vt:lpstr>Aperfeiçoar o modelo</vt:lpstr>
      <vt:lpstr>Classificador binário</vt:lpstr>
      <vt:lpstr>Classificador binário</vt:lpstr>
      <vt:lpstr>Imagem digital (raster)</vt:lpstr>
      <vt:lpstr>Imagens MNIST: 28 x 28 pixels</vt:lpstr>
      <vt:lpstr>Imagens MNIST: 28 x 28 pixels</vt:lpstr>
      <vt:lpstr>Exemplo código</vt:lpstr>
      <vt:lpstr>Matriz de Confusão</vt:lpstr>
      <vt:lpstr>Matriz de Confusão</vt:lpstr>
      <vt:lpstr>Matriz de Confusão</vt:lpstr>
      <vt:lpstr>Precisão x Revocação</vt:lpstr>
      <vt:lpstr>F1 score</vt:lpstr>
      <vt:lpstr>Trade-off precisão x revocação</vt:lpstr>
      <vt:lpstr>Trade-off precisão x revocação</vt:lpstr>
      <vt:lpstr>Trade-off precisão x revocação</vt:lpstr>
      <vt:lpstr>Trade-off precisão x revocação</vt:lpstr>
      <vt:lpstr>Regressão Logística</vt:lpstr>
      <vt:lpstr>Função logística</vt:lpstr>
      <vt:lpstr>Função logística – Exemplo iris</vt:lpstr>
      <vt:lpstr>Fronteira de decisão – Exemplo iris</vt:lpstr>
      <vt:lpstr>Regressão Polinomial multimodal (softmax)</vt:lpstr>
      <vt:lpstr>Regressão Polinomial</vt:lpstr>
      <vt:lpstr>Polinômio</vt:lpstr>
      <vt:lpstr>Polinômio</vt:lpstr>
      <vt:lpstr>Exemplo de treinamento</vt:lpstr>
      <vt:lpstr>Exemplo de código (scripts)</vt:lpstr>
      <vt:lpstr>Exemplo treinamento</vt:lpstr>
      <vt:lpstr>Modelos Lineares Regularizados</vt:lpstr>
      <vt:lpstr>Complexidade do modelo e capacidade de generalização</vt:lpstr>
      <vt:lpstr>Modelo complexo para distinguir árvores doentes de árvores saudáveis</vt:lpstr>
      <vt:lpstr>Neste exemplo, o caso piora quando novos exemplos são classificados</vt:lpstr>
      <vt:lpstr>A avaliação da qualidade de generalização pode ser realizada com a separação do conjunto de dados em subconjuntos</vt:lpstr>
      <vt:lpstr>A avaliação da qualidade de generalização pode ser realizada com a separação do conjunto de dados em subconjuntos</vt:lpstr>
      <vt:lpstr>Regularização baseado em parada antecipada</vt:lpstr>
      <vt:lpstr>Regularização baseada em complexidade do modelo</vt:lpstr>
      <vt:lpstr>Regularização baseada em complexidade do modelo</vt:lpstr>
      <vt:lpstr>Regressão de Ridge</vt:lpstr>
      <vt:lpstr>Modelos Lineares Regularizados</vt:lpstr>
      <vt:lpstr>Curva de aprendizado (com base no tamanho do conjunto de dados)</vt:lpstr>
      <vt:lpstr>Exercício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114</cp:revision>
  <dcterms:created xsi:type="dcterms:W3CDTF">2025-05-19T21:00:10Z</dcterms:created>
  <dcterms:modified xsi:type="dcterms:W3CDTF">2026-08-11T22:03:11Z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